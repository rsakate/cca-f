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3"/>
    <p:restoredTop sz="94650"/>
  </p:normalViewPr>
  <p:slideViewPr>
    <p:cSldViewPr snapToGrid="0" snapToObjects="1">
      <p:cViewPr varScale="1">
        <p:scale>
          <a:sx n="157" d="100"/>
          <a:sy n="157" d="100"/>
        </p:scale>
        <p:origin x="2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CCA-F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498DB"/>
                </a:solidFill>
                <a:latin typeface="Calibri"/>
              </a:defRPr>
            </a:pPr>
            <a:r>
              <a:t>Agentic Architecture &amp;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657600"/>
            <a:ext cx="3931920" cy="36576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Claude Certified Architect --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Quick Reference Study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146304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S1: Agentic</a:t>
            </a:r>
            <a:br/>
            <a:r>
              <a:t>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5486400"/>
            <a:ext cx="1463040" cy="8229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S2: Multi-Agent</a:t>
            </a:r>
            <a:br/>
            <a:r>
              <a:t>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5486400"/>
            <a:ext cx="146304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S3: Subagent</a:t>
            </a:r>
            <a:br/>
            <a:r>
              <a:t>Invocation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5486400"/>
            <a:ext cx="146304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S4: Workflow</a:t>
            </a:r>
            <a:br/>
            <a:r>
              <a:t>Enforcement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5486400"/>
            <a:ext cx="1463040" cy="8229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S5: Hooks &amp;</a:t>
            </a:r>
            <a:br/>
            <a:r>
              <a:t>Interception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5486400"/>
            <a:ext cx="1463040" cy="8229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S6: Task</a:t>
            </a:r>
            <a:br/>
            <a:r>
              <a:t>Decomposition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5486400"/>
            <a:ext cx="146304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S7: Session</a:t>
            </a:r>
            <a:br/>
            <a:r>
              <a:t>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Module 1 -- Learning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828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Self-Paced</a:t>
            </a:r>
            <a:br/>
            <a:r>
              <a:t>Learning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0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17520" y="1371600"/>
            <a:ext cx="182880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Labs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6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03520" y="1371600"/>
            <a:ext cx="182880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Instructor</a:t>
            </a:r>
            <a:br/>
            <a:r>
              <a:t>Led Session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2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0" y="1371600"/>
            <a:ext cx="182880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Assessment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18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75520" y="1371600"/>
            <a:ext cx="182880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Completion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Self-Paced Courses (in order):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Claude Code 101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How Claude Code works, hooks, subagents, workflows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Introduction to Subagents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What are subagents, designing &amp; using them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Introduction to Agent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800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What are skills, skills vs other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7 Key Sections: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108960"/>
            <a:ext cx="54864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Agentic Loop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45-60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611880"/>
            <a:ext cx="54864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611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Multi-Agent Orchestration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611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60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4114800"/>
            <a:ext cx="54864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Subagent Invocation &amp;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4617720"/>
            <a:ext cx="54864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Multi-Step Workflows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4617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5120640"/>
            <a:ext cx="54864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Hooks &amp; Interception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120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5623560"/>
            <a:ext cx="548640" cy="3657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Task Decomposition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623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6126480"/>
            <a:ext cx="54864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Session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126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30-45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E74C3C"/>
                </a:solidFill>
              </a:defRPr>
            </a:pPr>
            <a:r>
              <a:t>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S1: Agentic Loop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How Claude runs in a loop and decides when to stop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The Agentic Loop --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8288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 Prompt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1508760"/>
            <a:ext cx="5486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01168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Claude API Call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12080" y="1508760"/>
            <a:ext cx="5486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852160" y="1371600"/>
            <a:ext cx="22860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Response +</a:t>
            </a:r>
            <a:br/>
            <a:r>
              <a:t>stop_reason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097280"/>
            <a:ext cx="2560320" cy="5943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tool_use -&gt; Execute</a:t>
            </a:r>
            <a:br/>
            <a:r>
              <a:t>tool, append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LOOP BACK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229600" y="1234440"/>
            <a:ext cx="822960" cy="22860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0" y="2011680"/>
            <a:ext cx="256032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end_turn -&gt; STOP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229600" y="2103120"/>
            <a:ext cx="822960" cy="22860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2743200"/>
            <a:ext cx="10946674" cy="3380014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Real-Life Analogy: A Chef in a Kitchen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08960"/>
            <a:ext cx="9488533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r>
              <a:rPr dirty="0"/>
              <a:t>Imagine a chef (Claude) who receives an order (user prompt):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r>
              <a:rPr dirty="0"/>
              <a:t>1. Chef reads order: 'Make a pizza'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r>
              <a:rPr dirty="0"/>
              <a:t>2. Chef needs ingredients -&gt; goes to pantry (</a:t>
            </a:r>
            <a:r>
              <a:rPr dirty="0" err="1"/>
              <a:t>tool_use</a:t>
            </a:r>
            <a:r>
              <a:rPr dirty="0"/>
              <a:t>: </a:t>
            </a:r>
            <a:r>
              <a:rPr dirty="0" err="1"/>
              <a:t>read_file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5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 Chef gets flour, sauce, cheese -&gt; brings them back (tool result appended)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r>
              <a:rPr dirty="0"/>
              <a:t>3. Chef needs to preheat oven -&gt; turns it on (</a:t>
            </a:r>
            <a:r>
              <a:rPr dirty="0" err="1"/>
              <a:t>tool_use</a:t>
            </a:r>
            <a:r>
              <a:rPr dirty="0"/>
              <a:t>: </a:t>
            </a:r>
            <a:r>
              <a:rPr dirty="0" err="1"/>
              <a:t>run_command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5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 Oven confirms ready (tool result appended)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r>
              <a:rPr dirty="0"/>
              <a:t>4. Chef assembles and bakes pizza</a:t>
            </a:r>
          </a:p>
          <a:p>
            <a:pPr>
              <a:spcAft>
                <a:spcPts val="600"/>
              </a:spcAft>
              <a:defRPr sz="1500" b="0">
                <a:solidFill>
                  <a:srgbClr val="2ECC71"/>
                </a:solidFill>
                <a:latin typeface="Calibri"/>
              </a:defRPr>
            </a:pPr>
            <a:r>
              <a:rPr dirty="0"/>
              <a:t>5. Chef says 'Pizza is ready!' (</a:t>
            </a:r>
            <a:r>
              <a:rPr dirty="0" err="1"/>
              <a:t>end_turn</a:t>
            </a:r>
            <a:r>
              <a:rPr dirty="0"/>
              <a:t> -&gt; STOP)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rPr dirty="0"/>
              <a:t>The chef keeps going back for tools/ingredients until the dish is done.</a:t>
            </a:r>
          </a:p>
          <a:p>
            <a:pPr>
              <a:spcAft>
                <a:spcPts val="60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rPr dirty="0"/>
              <a:t>Each trip to the pantry = one loop iteration. Saying 'done' = </a:t>
            </a:r>
            <a:r>
              <a:rPr dirty="0" err="1"/>
              <a:t>end_turn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stop_reason Values -- Must Know!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01168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tool_use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Claude wants to call a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Execute tool, append result to messages, call API again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508760"/>
            <a:ext cx="182880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CONTINUE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201168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end_turn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Claude considers task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Stop the loop, return final response to 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788920"/>
            <a:ext cx="18288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201168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max_tokens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Response hit token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Handle gracefully -- may need continuation 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4069080"/>
            <a:ext cx="182880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HANDLE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79"/>
            <a:ext cx="2011680" cy="8229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stop_sequence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212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Custom stop string matched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5778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rPr dirty="0"/>
              <a:t>Stop the loop (custom control flow)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5349239"/>
            <a:ext cx="18288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283" y="6230974"/>
            <a:ext cx="8187146" cy="365763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7656" y="626525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rPr dirty="0"/>
              <a:t>KEY RULE: Always append tool results back into the conversation before the next API call!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3498DB"/>
                </a:solidFill>
              </a:defRPr>
            </a:pPr>
            <a:r>
              <a:t>S2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S2: Multi-Agent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Coordinator-Subagent (Hub-and-Spoke) Pattern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Hub-and-Spoke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2286000"/>
            <a:ext cx="2011680" cy="20116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500" b="1">
                <a:solidFill>
                  <a:srgbClr val="FFFFFF"/>
                </a:solidFill>
              </a:defRPr>
            </a:pPr>
            <a:r>
              <a:t>COORDINATOR</a:t>
            </a:r>
            <a:br/>
            <a:r>
              <a:t>(Orchestrator)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371600"/>
            <a:ext cx="1463040" cy="1463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</a:defRPr>
            </a:pPr>
            <a:r>
              <a:t>Subagent A</a:t>
            </a:r>
            <a:br/>
            <a:r>
              <a:t>'Summarize'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4114800"/>
            <a:ext cx="1463040" cy="14630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</a:defRPr>
            </a:pPr>
            <a:r>
              <a:t>Subagent B</a:t>
            </a:r>
            <a:br/>
            <a:r>
              <a:t>'Translate'</a:t>
            </a:r>
          </a:p>
        </p:txBody>
      </p:sp>
      <p:sp>
        <p:nvSpPr>
          <p:cNvPr id="8" name="Oval 7"/>
          <p:cNvSpPr/>
          <p:nvPr/>
        </p:nvSpPr>
        <p:spPr>
          <a:xfrm>
            <a:off x="8686800" y="1371600"/>
            <a:ext cx="1463040" cy="14630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Subagent C</a:t>
            </a:r>
            <a:br>
              <a:rPr dirty="0"/>
            </a:br>
            <a:r>
              <a:rPr dirty="0"/>
              <a:t>'Validate'</a:t>
            </a:r>
          </a:p>
        </p:txBody>
      </p:sp>
      <p:sp>
        <p:nvSpPr>
          <p:cNvPr id="9" name="Oval 8"/>
          <p:cNvSpPr/>
          <p:nvPr/>
        </p:nvSpPr>
        <p:spPr>
          <a:xfrm>
            <a:off x="8686800" y="4114800"/>
            <a:ext cx="1463040" cy="146304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</a:defRPr>
            </a:pPr>
            <a:r>
              <a:t>Subagent D</a:t>
            </a:r>
            <a:br/>
            <a:r>
              <a:t>'Format'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2834640" y="2359479"/>
            <a:ext cx="2926080" cy="932361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</p:cNvCxnSpPr>
          <p:nvPr/>
        </p:nvCxnSpPr>
        <p:spPr>
          <a:xfrm flipV="1">
            <a:off x="2834640" y="3291840"/>
            <a:ext cx="2926080" cy="1296489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</p:cNvCxnSpPr>
          <p:nvPr/>
        </p:nvCxnSpPr>
        <p:spPr>
          <a:xfrm flipH="1">
            <a:off x="5760720" y="2286000"/>
            <a:ext cx="2926080" cy="100584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</p:cNvCxnSpPr>
          <p:nvPr/>
        </p:nvCxnSpPr>
        <p:spPr>
          <a:xfrm flipH="1" flipV="1">
            <a:off x="5760720" y="3291840"/>
            <a:ext cx="2999559" cy="1231174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5943600"/>
            <a:ext cx="10972800" cy="73152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CRITICAL: Subagents do NOT share memory. Each has isolated context. Coordinator MUST pass all context explicitly.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Real-Life Example: Hospital Emergency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0954839" cy="4689566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98DB"/>
                </a:solidFill>
                <a:latin typeface="Calibri"/>
              </a:defRPr>
            </a:pPr>
            <a:r>
              <a:t>Think of the ER Triage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C3E50"/>
                </a:solidFill>
                <a:latin typeface="Calibri"/>
              </a:defRPr>
            </a:pPr>
            <a:r>
              <a:t>Patient arrives (= User Request)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500" b="1">
                <a:solidFill>
                  <a:srgbClr val="3498DB"/>
                </a:solidFill>
                <a:latin typeface="Calibri"/>
              </a:defRPr>
            </a:pPr>
            <a:r>
              <a:t>Triage Nurse (= Coordinator)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r>
              <a:t>  Assesses patient, decides which specialists to involve</a:t>
            </a:r>
          </a:p>
          <a:p>
            <a:pPr>
              <a:spcAft>
                <a:spcPts val="600"/>
              </a:spcAft>
              <a:defRPr sz="1500" b="0">
                <a:solidFill>
                  <a:srgbClr val="7F8C8D"/>
                </a:solidFill>
                <a:latin typeface="Calibri"/>
              </a:defRPr>
            </a:pPr>
            <a:r>
              <a:t>  Passes relevant info: 'chest pain, age 55, BP 140/90'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500" b="1">
                <a:solidFill>
                  <a:srgbClr val="2ECC71"/>
                </a:solidFill>
                <a:latin typeface="Calibri"/>
              </a:defRPr>
            </a:pPr>
            <a:r>
              <a:t>Cardiologist (= Subagent A) -- gets only cardiac-relevant info</a:t>
            </a:r>
          </a:p>
          <a:p>
            <a:pPr>
              <a:spcAft>
                <a:spcPts val="600"/>
              </a:spcAft>
              <a:defRPr sz="1500" b="0">
                <a:solidFill>
                  <a:srgbClr val="7F8C8D"/>
                </a:solidFill>
                <a:latin typeface="Calibri"/>
              </a:defRPr>
            </a:pPr>
            <a:r>
              <a:t>  Does NOT know about the patient's broken toe from last visit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500" b="1">
                <a:solidFill>
                  <a:srgbClr val="E67E22"/>
                </a:solidFill>
                <a:latin typeface="Calibri"/>
              </a:defRPr>
            </a:pPr>
            <a:r>
              <a:t>Radiologist (= Subagent B) -- gets only imaging request</a:t>
            </a:r>
          </a:p>
          <a:p>
            <a:pPr>
              <a:spcAft>
                <a:spcPts val="600"/>
              </a:spcAft>
              <a:defRPr sz="1500" b="0">
                <a:solidFill>
                  <a:srgbClr val="7F8C8D"/>
                </a:solidFill>
                <a:latin typeface="Calibri"/>
              </a:defRPr>
            </a:pPr>
            <a:r>
              <a:t>  Does NOT see cardiologist's notes (no shared memory!)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500" b="1">
                <a:solidFill>
                  <a:srgbClr val="3498DB"/>
                </a:solidFill>
                <a:latin typeface="Calibri"/>
              </a:defRPr>
            </a:pPr>
            <a:r>
              <a:t>Triage Nurse collects all specialist results -&gt; creates unified report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Key insight: Each specialist only knows what the triage nurse told them.</a:t>
            </a:r>
          </a:p>
          <a:p>
            <a:pPr>
              <a:spcAft>
                <a:spcPts val="60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If nurse forgets to mention drug allergy -&gt; specialist won't know!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Why No Shared Memory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228600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WRONG -- Assumes shared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Coordinator: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"Now validate the summary"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Subagent thinks: What summary??</a:t>
            </a:r>
          </a:p>
          <a:p>
            <a:pPr>
              <a:spcAft>
                <a:spcPts val="560"/>
              </a:spcAft>
              <a:defRPr sz="1400" b="0">
                <a:solidFill>
                  <a:srgbClr val="E74C3C"/>
                </a:solidFill>
                <a:latin typeface="Calibri"/>
              </a:defRPr>
            </a:pPr>
            <a:r>
              <a:t>I have NO context about any summary!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22860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RIGHT -- Passes everything explicitly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Coordinator: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"Validate this summary: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[full text of the summary here]"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Subagent: Got it! I can work with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Three Rules for Context Passing: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Be Explicit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480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Calibri"/>
              </a:defRPr>
            </a:pPr>
            <a:r>
              <a:t>Include ALL information the subagent needs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21208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Pass Data, Not 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Calibri"/>
              </a:defRPr>
            </a:pPr>
            <a:r>
              <a:t>Send actual data, not 'check the results from step 2'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94360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Scope the 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Calibri"/>
              </a:defRPr>
            </a:pPr>
            <a:r>
              <a:t>Clear, bounded instructions with specific deliverables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C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2ECC71"/>
                </a:solidFill>
              </a:defRPr>
            </a:pPr>
            <a:r>
              <a:t>S3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S3: Subagent Invocation</a:t>
            </a:r>
            <a:br/>
            <a:r>
              <a:t>&amp; Context Passing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Spawning subagents, passing context, running in parallel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Spawning Subagents with the Agent/Task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6400800" cy="32004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943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ECC71"/>
                </a:solidFill>
                <a:latin typeface="Courier New"/>
              </a:defRPr>
            </a:pPr>
            <a:r>
              <a:t>Agent({</a:t>
            </a:r>
          </a:p>
          <a:p>
            <a:pPr>
              <a:spcAft>
                <a:spcPts val="600"/>
              </a:spcAft>
              <a:defRPr sz="1500" b="0">
                <a:solidFill>
                  <a:srgbClr val="F0C674"/>
                </a:solidFill>
                <a:latin typeface="Courier New"/>
              </a:defRPr>
            </a:pPr>
            <a:r>
              <a:t>  description: "Analyze auth module",</a:t>
            </a:r>
          </a:p>
          <a:p>
            <a:pPr>
              <a:spcAft>
                <a:spcPts val="600"/>
              </a:spcAft>
              <a:defRPr sz="1500" b="0">
                <a:solidFill>
                  <a:srgbClr val="F0C674"/>
                </a:solidFill>
                <a:latin typeface="Courier New"/>
              </a:defRPr>
            </a:pPr>
            <a:r>
              <a:t>  subagent_type: "Explore",</a:t>
            </a:r>
          </a:p>
          <a:p>
            <a:pPr>
              <a:spcAft>
                <a:spcPts val="600"/>
              </a:spcAft>
              <a:defRPr sz="1500" b="0">
                <a:solidFill>
                  <a:srgbClr val="F0C674"/>
                </a:solidFill>
                <a:latin typeface="Courier New"/>
              </a:defRPr>
            </a:pPr>
            <a:r>
              <a:t>  prompt: """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    Analyze /src/auth/ for vulnerabilities.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    Focus on: SQL injection, XSS, CSRF.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    The project uses Flask + SQLAlchemy.</a:t>
            </a:r>
          </a:p>
          <a:p>
            <a:pPr>
              <a:spcAft>
                <a:spcPts val="600"/>
              </a:spcAft>
              <a:defRPr sz="1500" b="0">
                <a:solidFill>
                  <a:srgbClr val="FFFFFF"/>
                </a:solidFill>
                <a:latin typeface="Courier New"/>
              </a:defRPr>
            </a:pPr>
            <a:r>
              <a:t>    Report findings as bulleted list.</a:t>
            </a:r>
          </a:p>
          <a:p>
            <a:pPr>
              <a:spcAft>
                <a:spcPts val="600"/>
              </a:spcAft>
              <a:defRPr sz="1500" b="0">
                <a:solidFill>
                  <a:srgbClr val="F0C674"/>
                </a:solidFill>
                <a:latin typeface="Courier New"/>
              </a:defRPr>
            </a:pPr>
            <a:r>
              <a:t>  """</a:t>
            </a:r>
          </a:p>
          <a:p>
            <a:pPr>
              <a:spcAft>
                <a:spcPts val="600"/>
              </a:spcAft>
              <a:defRPr sz="1500" b="0">
                <a:solidFill>
                  <a:srgbClr val="2ECC71"/>
                </a:solidFill>
                <a:latin typeface="Courier New"/>
              </a:defRPr>
            </a:pPr>
            <a:r>
              <a:t>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What you provide: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920240"/>
            <a:ext cx="182880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Short label for the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743200"/>
            <a:ext cx="182880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subagent_type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Specialization (Explore, code-reviewer, etc.)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566160"/>
            <a:ext cx="182880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977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FULL context -- everything the subagent needs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Parallel vs. Sequential Execution: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03520"/>
            <a:ext cx="5303520" cy="118872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PARALLEL -- Independent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Multiple Agent calls in ONE message.</a:t>
            </a:r>
            <a:br/>
            <a:r>
              <a:t>Both run simultaneously. No dependency.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5303520"/>
            <a:ext cx="5303520" cy="11887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5349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7E22"/>
                </a:solidFill>
                <a:latin typeface="Calibri"/>
              </a:defRPr>
            </a:pPr>
            <a:r>
              <a:t>SEQUENTIAL -- Dependent 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669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Wait for Agent A result, then pass it</a:t>
            </a:r>
            <a:br/>
            <a:r>
              <a:t>to Agent B in the prompt.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7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E67E22"/>
                </a:solidFill>
              </a:defRPr>
            </a:pPr>
            <a:r>
              <a:t>S4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S4: Multi-Step Workflows</a:t>
            </a:r>
            <a:br/>
            <a:r>
              <a:t>&amp; Enforcement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Why prompts fail and how programmatic gating saves the day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Prompt-Only vs. Programmatic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320040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Prompt-Only (UNRELIABLE)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System: "IMPORTANT: You MUST call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get_customer BEFORE process_refund."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Why it fails: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  Context pressure dilutes instructions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  Model instruction-following isn't 100%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  Ambiguous user requests override rules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  Long conversations = early rules forgotten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32004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Programmatic Gating (RELIABLE)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84632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3498DB"/>
                </a:solidFill>
                <a:latin typeface="Calibri"/>
              </a:defRPr>
            </a:pPr>
            <a:r>
              <a:rPr dirty="0"/>
              <a:t>def </a:t>
            </a:r>
            <a:r>
              <a:rPr dirty="0" err="1"/>
              <a:t>process_refund</a:t>
            </a:r>
            <a:r>
              <a:rPr dirty="0"/>
              <a:t>(amount):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  if not </a:t>
            </a:r>
            <a:r>
              <a:rPr dirty="0" err="1"/>
              <a:t>customer_loaded</a:t>
            </a:r>
            <a:r>
              <a:rPr dirty="0"/>
              <a:t>:</a:t>
            </a:r>
          </a:p>
          <a:p>
            <a:pPr>
              <a:spcAft>
                <a:spcPts val="560"/>
              </a:spcAft>
              <a:defRPr sz="1400" b="0">
                <a:solidFill>
                  <a:srgbClr val="E74C3C"/>
                </a:solidFill>
                <a:latin typeface="Calibri"/>
              </a:defRPr>
            </a:pPr>
            <a:r>
              <a:rPr dirty="0"/>
              <a:t>    return ERROR("Must call</a:t>
            </a:r>
            <a:r>
              <a:rPr lang="en-US" dirty="0"/>
              <a:t> </a:t>
            </a:r>
            <a:r>
              <a:rPr dirty="0" err="1"/>
              <a:t>get_customer</a:t>
            </a:r>
            <a:r>
              <a:rPr dirty="0"/>
              <a:t> first")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rPr dirty="0"/>
              <a:t>  # proceed with refund</a:t>
            </a:r>
          </a:p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dirty="0"/>
              <a:t>Why it works: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  Code enforcement is deterministic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  Cannot be overridden by model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  Same behavior every single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11064240" cy="201168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Calibri"/>
              </a:defRPr>
            </a:pPr>
            <a:r>
              <a:t>Real-Life Analogy: Airport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Prompt-only = A sign saying 'Please show boarding pass before entering gate'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  -&gt; People MIGHT ignore it. No enforcement. Someone slips through.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Programmatic = A locked turnstile that only opens when you scan a valid boarding pass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  -&gt; IMPOSSIBLE to skip. The gate physically won't open without the scan.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For critical workflows (refunds, data deletion, access grants) -- always use the turnstile!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The Explore -&gt; Plan -&gt; Code -&gt; Commit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286000" cy="9144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Read codebase</a:t>
            </a:r>
            <a:br/>
            <a:r>
              <a:t>Find files</a:t>
            </a:r>
            <a:br/>
            <a:r>
              <a:t>Understand patterns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7520" y="1554480"/>
            <a:ext cx="54864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11880" y="1371600"/>
            <a:ext cx="2286000" cy="9144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Design approach</a:t>
            </a:r>
            <a:br/>
            <a:r>
              <a:t>Identify changes</a:t>
            </a:r>
            <a:br/>
            <a:r>
              <a:t>Outline steps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97880" y="1554480"/>
            <a:ext cx="54864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1371600"/>
            <a:ext cx="228600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Write/edit files</a:t>
            </a:r>
            <a:br/>
            <a:r>
              <a:t>Run tests</a:t>
            </a:r>
            <a:br/>
            <a:r>
              <a:t>Fix issues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78240" y="1554480"/>
            <a:ext cx="54864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372600" y="1371600"/>
            <a:ext cx="228600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Validate changes</a:t>
            </a:r>
            <a:br/>
            <a:r>
              <a:t>Create commit</a:t>
            </a:r>
            <a:br/>
            <a:r>
              <a:t>Optional: push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1064240" cy="27432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Example: "Add rate limiting to login endpoint"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3498DB"/>
                </a:solidFill>
                <a:latin typeface="Calibri"/>
              </a:defRPr>
            </a:pPr>
            <a:r>
              <a:t>EXPLORE: Read auth module... found login.py, no existing rate limiting</a:t>
            </a:r>
          </a:p>
          <a:p>
            <a:pPr>
              <a:spcAft>
                <a:spcPts val="600"/>
              </a:spcAft>
              <a:defRPr sz="1500" b="0">
                <a:solidFill>
                  <a:srgbClr val="2ECC71"/>
                </a:solidFill>
                <a:latin typeface="Calibri"/>
              </a:defRPr>
            </a:pPr>
            <a:r>
              <a:t>PLAN: Create RateLimiter class, integrate into login, add config, write tests</a:t>
            </a:r>
          </a:p>
          <a:p>
            <a:pPr>
              <a:spcAft>
                <a:spcPts val="600"/>
              </a:spcAft>
              <a:defRPr sz="1500" b="0">
                <a:solidFill>
                  <a:srgbClr val="E67E22"/>
                </a:solidFill>
                <a:latin typeface="Calibri"/>
              </a:defRPr>
            </a:pPr>
            <a:r>
              <a:t>CODE: Implement RateLimiter... update login.py... write tests... all 15 pass!</a:t>
            </a:r>
          </a:p>
          <a:p>
            <a:pPr>
              <a:spcAft>
                <a:spcPts val="600"/>
              </a:spcAft>
              <a:defRPr sz="1500" b="0">
                <a:solidFill>
                  <a:srgbClr val="9B59B6"/>
                </a:solidFill>
                <a:latin typeface="Calibri"/>
              </a:defRPr>
            </a:pPr>
            <a:r>
              <a:t>COMMIT: 'Add rate limiting (5 attempts/15 min) using Redis' -- ready for review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t>Each phase builds on the previous. Never skip phases.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9B59B6"/>
                </a:solidFill>
              </a:defRPr>
            </a:pPr>
            <a:r>
              <a:t>S5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S5: Hooks &amp; Interception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Intercept and transform tool I/O before Claude sees 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How Hooks Work -- Interception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Tool Execution Timeline: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10312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PreToolUse</a:t>
            </a:r>
            <a:br/>
            <a:r>
              <a:t>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Validate</a:t>
            </a:r>
            <a:br/>
            <a:r>
              <a:t>or Block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17520" y="2103120"/>
            <a:ext cx="5486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0" y="1828800"/>
            <a:ext cx="2103120" cy="9144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Tool</a:t>
            </a:r>
            <a:br/>
            <a:r>
              <a:t>Executes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Read, Write,</a:t>
            </a:r>
            <a:br/>
            <a:r>
              <a:t>Bash, etc.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60720" y="2103120"/>
            <a:ext cx="5486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10312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PostToolUse</a:t>
            </a:r>
            <a:br/>
            <a:r>
              <a:t>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Transform</a:t>
            </a:r>
            <a:br/>
            <a:r>
              <a:t>or Redact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503920" y="2103120"/>
            <a:ext cx="5486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0" y="1828800"/>
            <a:ext cx="2103120" cy="9144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Claude</a:t>
            </a:r>
            <a:br/>
            <a:r>
              <a:t>Sees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Processed</a:t>
            </a:r>
            <a:br/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Real-World Examples: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13716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PreToolUse: Block writes to /config/production/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Like a security guard checking badges before entry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137160" cy="5486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PostToolUse: Redact API keys from file reads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57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Like a mail room blacking out classified info before delivery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760720"/>
            <a:ext cx="13716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760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PostToolUse: Convert Unix timestamps to 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Like a translator converting raw data to human-readable format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When to Use a Hook vs. a Prompt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Decision Framework: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45720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Is it a security/compliance requirement?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743200" y="2468880"/>
            <a:ext cx="1828800" cy="54864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0" y="2651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017520"/>
            <a:ext cx="27432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 a HOOK</a:t>
            </a:r>
            <a:br/>
            <a:r>
              <a:t>(hard enforcement)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0" y="2468880"/>
            <a:ext cx="1371600" cy="54864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0" y="2651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017520"/>
            <a:ext cx="365760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Is it critical that it NEVER fails?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772400" y="3657600"/>
            <a:ext cx="914400" cy="45720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0" y="37490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5603" y="4160520"/>
            <a:ext cx="27432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Use a HOOK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400" y="3657600"/>
            <a:ext cx="457200" cy="4572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87000" y="37261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F8C8D"/>
                </a:solidFill>
                <a:latin typeface="Calibri"/>
              </a:defRPr>
            </a:pPr>
            <a:r>
              <a:rPr dirty="0"/>
              <a:t>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60520"/>
            <a:ext cx="2743200" cy="64008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rule is fine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11064240" cy="15544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ourier New"/>
              </a:defRPr>
            </a:pPr>
            <a:r>
              <a:t>// .claude/settings.json</a:t>
            </a:r>
          </a:p>
          <a:p>
            <a:pPr>
              <a:spcAft>
                <a:spcPts val="560"/>
              </a:spcAft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t>{ "hooks": {</a:t>
            </a:r>
          </a:p>
          <a:p>
            <a:pPr>
              <a:spcAft>
                <a:spcPts val="560"/>
              </a:spcAft>
              <a:defRPr sz="1400" b="0">
                <a:solidFill>
                  <a:srgbClr val="F0C674"/>
                </a:solidFill>
                <a:latin typeface="Courier New"/>
              </a:defRPr>
            </a:pPr>
            <a:r>
              <a:t>    "PostToolUse": [{ "matcher": "Read", "command": "./redact.sh" }],</a:t>
            </a:r>
          </a:p>
          <a:p>
            <a:pPr>
              <a:spcAft>
                <a:spcPts val="560"/>
              </a:spcAft>
              <a:defRPr sz="1400" b="0">
                <a:solidFill>
                  <a:srgbClr val="F0C674"/>
                </a:solidFill>
                <a:latin typeface="Courier New"/>
              </a:defRPr>
            </a:pPr>
            <a:r>
              <a:t>    "PreToolUse": [{ "matcher": "Write", "command": "./check_path.sh" }]</a:t>
            </a:r>
          </a:p>
          <a:p>
            <a:pPr>
              <a:spcAft>
                <a:spcPts val="560"/>
              </a:spcAft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t>} }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ourier New"/>
              </a:defRPr>
            </a:pPr>
            <a:r>
              <a:t>// PreToolUse: exit 0 = allow | exit non-zero = BLOCK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1ABC9C"/>
                </a:solidFill>
              </a:defRPr>
            </a:pPr>
            <a:r>
              <a:t>S6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S6: Task Decomposition</a:t>
            </a:r>
            <a:br/>
            <a:r>
              <a:t>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Fixed vs. Adaptive vs. Multi-Pass decomposition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Three Decomposition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38328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Known steps,</a:t>
            </a:r>
            <a:br/>
            <a:r>
              <a:t>predictable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3383280" cy="22860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Invoice processing:</a:t>
            </a:r>
            <a:br/>
            <a:r>
              <a:t>1. Fetch</a:t>
            </a:r>
            <a:br/>
            <a:r>
              <a:t>2. Validate</a:t>
            </a:r>
            <a:br/>
            <a:r>
              <a:t>3. Calculate</a:t>
            </a:r>
            <a:br/>
            <a:r>
              <a:t>4. Report</a:t>
            </a:r>
            <a:br/>
            <a:r>
              <a:t>5. Send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3383280" cy="10972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98DB"/>
                </a:solidFill>
                <a:latin typeface="Calibri"/>
              </a:defRPr>
            </a:pPr>
            <a:r>
              <a:t>Assembly Line</a:t>
            </a:r>
            <a:br/>
            <a:r>
              <a:t>Same steps</a:t>
            </a:r>
            <a:br/>
            <a:r>
              <a:t>every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38328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ADAPTIVE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Unknown scope,</a:t>
            </a:r>
            <a:br/>
            <a:r>
              <a:t>exploratory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468880"/>
            <a:ext cx="3383280" cy="22860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25603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Bug fixing:</a:t>
            </a:r>
            <a:br/>
            <a:r>
              <a:t>1. Explore (find 3 files)</a:t>
            </a:r>
            <a:br/>
            <a:r>
              <a:t>2. Analyze (race condition!)</a:t>
            </a:r>
            <a:br/>
            <a:r>
              <a:t>3. Plan (adds concurrency fix)</a:t>
            </a:r>
            <a:br/>
            <a:r>
              <a:t>4. Implement</a:t>
            </a:r>
            <a:br/>
            <a:r>
              <a:t>5. Validate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5029200"/>
            <a:ext cx="3383280" cy="10972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50749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Calibri"/>
              </a:defRPr>
            </a:pPr>
            <a:r>
              <a:t>Detective Work</a:t>
            </a:r>
            <a:br/>
            <a:r>
              <a:t>Clues determine</a:t>
            </a:r>
            <a:br/>
            <a:r>
              <a:t>next 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88720"/>
            <a:ext cx="338328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MULTI-PASS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Complex analysis,</a:t>
            </a:r>
            <a:br/>
            <a:r>
              <a:t>cross-cutting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468880"/>
            <a:ext cx="3383280" cy="22860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5603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Pass 1: Analyze each module</a:t>
            </a:r>
            <a:br/>
            <a:r>
              <a:t>Pass 2: Cross-module issues</a:t>
            </a:r>
            <a:br/>
            <a:r>
              <a:t>Pass 3: Synthesize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029200"/>
            <a:ext cx="3383280" cy="10972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50749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Calibri"/>
              </a:defRPr>
            </a:pPr>
            <a:r>
              <a:t>Peer Review</a:t>
            </a:r>
            <a:br/>
            <a:r>
              <a:t>First individual,</a:t>
            </a:r>
            <a:br/>
            <a:r>
              <a:t>then group discussion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Multi-Pass Approach -- Avoiding Attention Overload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Problem: Analyzing 20 modules at once = shallow results, missed cross-cutting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38328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Pass 1:</a:t>
            </a:r>
            <a:br/>
            <a:r>
              <a:t>LOCAL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40480" y="1920240"/>
            <a:ext cx="3657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3383280" cy="27432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Analyze each module independently</a:t>
            </a:r>
            <a:br/>
            <a:br/>
            <a:r>
              <a:t>auth.py: Uses bcrypt</a:t>
            </a:r>
            <a:br/>
            <a:r>
              <a:t>api.py: Validates JWT</a:t>
            </a:r>
            <a:br/>
            <a:r>
              <a:t>db.py: Prepared statements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38328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Pass 2:</a:t>
            </a:r>
            <a:br/>
            <a:r>
              <a:t>CROSS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680960" y="1920240"/>
            <a:ext cx="3657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97680" y="2651760"/>
            <a:ext cx="3383280" cy="27432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27432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Compare findings across modules</a:t>
            </a:r>
            <a:br/>
            <a:br/>
            <a:r>
              <a:t>auth + api: Different JWT secrets!</a:t>
            </a:r>
            <a:br/>
            <a:r>
              <a:t>db + auth: Duplicate DB connections</a:t>
            </a:r>
            <a:br/>
            <a:r>
              <a:t>All three: Same validation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38328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Pass 3:</a:t>
            </a:r>
            <a:br/>
            <a:r>
              <a:t>SYNTHESIS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651760"/>
            <a:ext cx="3383280" cy="27432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Prioritized recommendations</a:t>
            </a:r>
            <a:br/>
            <a:br/>
            <a:r>
              <a:t>1. Fix JWT secret mismatch</a:t>
            </a:r>
            <a:br/>
            <a:r>
              <a:t>2. Share DB connection pool</a:t>
            </a:r>
            <a:br/>
            <a:r>
              <a:t>3. Extract common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669280"/>
            <a:ext cx="11064240" cy="9144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Why it works: Each pass focuses attention on ONE type of analysis. Local issues are caught in Pass 1, relationships in Pass 2, actions in Pass 3. Each pass can be delegated to a subagent!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9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F39C12"/>
                </a:solidFill>
              </a:defRPr>
            </a:pPr>
            <a:r>
              <a:t>S7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S7: Session Management</a:t>
            </a:r>
            <a:br/>
            <a:r>
              <a:t>&amp; State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Resume, fork, and structured summaries for token efficiency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Session Resume &amp; Fork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256032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--resume: Continue Where You Left 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claude --resume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Loads previous conversation history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Picks up exactly where you stopped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All prior context available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60"/>
              </a:spcAft>
              <a:defRPr sz="1400" b="1">
                <a:solidFill>
                  <a:srgbClr val="7F8C8D"/>
                </a:solidFill>
                <a:latin typeface="Calibri"/>
              </a:defRPr>
            </a:pPr>
            <a:r>
              <a:t>Like reopening a saved Word document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25603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Fork: Branch to Explore Alternatives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E67E22"/>
                </a:solidFill>
                <a:latin typeface="Calibri"/>
              </a:defRPr>
            </a:pPr>
            <a:r>
              <a:t>Session: 'Refactor auth module'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Fork A: Try JWT approach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Fork B: Try session approach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Compare results, pick winner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60"/>
              </a:spcAft>
              <a:defRPr sz="1400" b="1">
                <a:solidFill>
                  <a:srgbClr val="7F8C8D"/>
                </a:solidFill>
                <a:latin typeface="Calibri"/>
              </a:defRPr>
            </a:pPr>
            <a:r>
              <a:t>Like Git branches for conversations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Fork Workflow Diagram: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72000"/>
            <a:ext cx="228600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Main Session</a:t>
            </a:r>
            <a:br/>
            <a:r>
              <a:t>(analyzed code)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0400" y="4663440"/>
            <a:ext cx="1371600" cy="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0" y="5029200"/>
            <a:ext cx="1371600" cy="54864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0" y="4389120"/>
            <a:ext cx="22860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Fork A</a:t>
            </a:r>
            <a:br/>
            <a:r>
              <a:t>JWT approach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303520"/>
            <a:ext cx="228600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Fork B</a:t>
            </a:r>
            <a:br/>
            <a:r>
              <a:t>Session approach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0" y="4663440"/>
            <a:ext cx="1371600" cy="36576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858000" y="5029200"/>
            <a:ext cx="1371600" cy="54864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0" y="4663440"/>
            <a:ext cx="22860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Pick Winner</a:t>
            </a:r>
            <a:br/>
            <a:r>
              <a:t>Continue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Structured Summaries vs. Raw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274320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Raw History (EXPENSIVE)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Turn 1: Read 10 files     (~50K tokens)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Turn 2: Analysis          (~100K tokens)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Turn 3: More files        (~80K tokens)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...</a:t>
            </a:r>
          </a:p>
          <a:p>
            <a:pPr>
              <a:spcAft>
                <a:spcPts val="560"/>
              </a:spcAft>
              <a:defRPr sz="1400" b="0">
                <a:solidFill>
                  <a:srgbClr val="E74C3C"/>
                </a:solidFill>
                <a:latin typeface="Calibri"/>
              </a:defRPr>
            </a:pPr>
            <a:r>
              <a:t>Turn 20: Still carrying   (~500K+ tokens)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Slow, expensive, may hit context 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27432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Structured Summary (EFFICIENT)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Task: Refactor auth module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Files: login.py, middleware.py, model.py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Done: Fixed JWT bug in middleware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t>Remaining: Add email validation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/>
          </a:p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Total: ~500 tokens (1000x savings!)</a:t>
            </a:r>
          </a:p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Fast, cheap, fits in any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Token Cost Comparison: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54880"/>
            <a:ext cx="9144000" cy="548640"/>
          </a:xfrm>
          <a:prstGeom prst="roundRect">
            <a:avLst/>
          </a:prstGeom>
          <a:solidFill>
            <a:srgbClr val="FAEBE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800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Raw History:  ~500,000 tokens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457200" cy="54864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Structured Summary:  ~500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That's a 1000x reduction!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1 -- Exam Cheat Sheet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4008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Agentic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508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tool_use = LOOP, end_turn = STOP. Always append tool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640080" cy="5029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Coordinator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Hub-and-spoke. Subagents DON'T share memory. Pass context explicitly.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64008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Subagent Invocation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63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Agent/Task tool. Parallel = multiple calls in one message.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20439"/>
            <a:ext cx="64008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204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4047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Prompt-only = unreliable. Programmatic gating = reliable. Use BOTH.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97680"/>
            <a:ext cx="64008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617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PreToolUse = validate/block. PostToolUse = transform/redact. Config in settings.json.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74920"/>
            <a:ext cx="640080" cy="50292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Decomposition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94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Fixed = predictable. Adaptive = exploratory. Multi-pass = deep analysis.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52159"/>
            <a:ext cx="64008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8521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617219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--resume = continue. Fork = branch. Summaries = 1000x token savings.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Good luck with your CCA-F certification!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2158</Words>
  <Application>Microsoft Macintosh PowerPoint</Application>
  <PresentationFormat>Widescreen</PresentationFormat>
  <Paragraphs>358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Sakate</cp:lastModifiedBy>
  <cp:revision>6</cp:revision>
  <dcterms:created xsi:type="dcterms:W3CDTF">2013-01-27T09:14:16Z</dcterms:created>
  <dcterms:modified xsi:type="dcterms:W3CDTF">2026-06-27T21:46:52Z</dcterms:modified>
  <cp:category/>
</cp:coreProperties>
</file>