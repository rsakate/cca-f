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4"/>
    <p:restoredTop sz="94650"/>
  </p:normalViewPr>
  <p:slideViewPr>
    <p:cSldViewPr snapToGrid="0" snapToObjects="1">
      <p:cViewPr varScale="1">
        <p:scale>
          <a:sx n="156" d="100"/>
          <a:sy n="156" d="100"/>
        </p:scale>
        <p:origin x="168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CCA-F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498DB"/>
                </a:solidFill>
                <a:latin typeface="Calibri"/>
              </a:defRPr>
            </a:pPr>
            <a:r>
              <a:t>Context Management &amp; Reliability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3657600"/>
            <a:ext cx="3931920" cy="36576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F8C8D"/>
                </a:solidFill>
                <a:latin typeface="Calibri"/>
              </a:defRPr>
            </a:pPr>
            <a:r>
              <a:t>Claude Certified Architect --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Quick Reference Study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486400"/>
            <a:ext cx="178308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S1: Context</a:t>
            </a:r>
            <a:br/>
            <a:r>
              <a:t>Preservation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5486400"/>
            <a:ext cx="1783080" cy="8229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S2: Escalation &amp;</a:t>
            </a:r>
            <a:br/>
            <a:r>
              <a:t>Ambiguity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486400"/>
            <a:ext cx="178308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S3: Error</a:t>
            </a:r>
            <a:br/>
            <a:r>
              <a:t>Propagation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5486400"/>
            <a:ext cx="178308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S4: Large Codebase</a:t>
            </a:r>
            <a:br/>
            <a:r>
              <a:t>Exploration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5486400"/>
            <a:ext cx="1783080" cy="8229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S5: Human Review</a:t>
            </a:r>
            <a:br/>
            <a:r>
              <a:t>&amp; Confidence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5486400"/>
            <a:ext cx="1783080" cy="8229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S6: Provenance &amp;</a:t>
            </a:r>
            <a:br/>
            <a:r>
              <a:t>Uncertainty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Module 5 -- Learning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828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Self-Paced</a:t>
            </a:r>
            <a:br/>
            <a:r>
              <a:t>Learning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60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17520" y="1371600"/>
            <a:ext cx="182880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Labs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6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03520" y="1371600"/>
            <a:ext cx="182880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Instructor</a:t>
            </a:r>
            <a:br/>
            <a:r>
              <a:t>Led Session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32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0" y="1371600"/>
            <a:ext cx="182880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Assessment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18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75520" y="1371600"/>
            <a:ext cx="182880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Completion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Builds on Courses from Modules 1-2: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108960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Introduction to Agent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Configuration, multi-file skills, persistent config blocks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49039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49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Introduction to Subagents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233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Using &amp; designing effective subagents, coordination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389120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Claude Code in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Adding context, controlling context, scratchpads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6 Key Sections: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108960"/>
            <a:ext cx="54864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Context Preservation &amp;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3657600"/>
            <a:ext cx="54864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Escalation &amp; Ambiguity Resolution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4206240"/>
            <a:ext cx="54864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Error Propagation in Multi-Agent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4754879"/>
            <a:ext cx="54864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754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Large Codebase Exploration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47548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60 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5303520"/>
            <a:ext cx="54864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Human Review &amp; Confidence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30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5852160"/>
            <a:ext cx="548640" cy="3657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Provenance &amp; Uncertainty Handling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852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30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E74C3C"/>
                </a:solidFill>
              </a:defRPr>
            </a:pPr>
            <a:r>
              <a:t>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S1: Context Preservation</a:t>
            </a:r>
            <a:br/>
            <a:r>
              <a:t>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Keep critical details alive across long sessions and trim what you don't need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The Problem: Context Decay in Long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3716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Long conversations lose critical details -- numbers, dates, IDs drift out of context.</a:t>
            </a:r>
          </a:p>
          <a:p>
            <a:pPr>
              <a:spcAft>
                <a:spcPts val="64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Claude's context window is finite. As conversations grow, early details get compressed or dropped.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Without a strategy, you'll repeat yourself or -- worse -- Claude will hallucinate forgotten details.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What Goes Wrong Without Context Preservation: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338328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Turn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3383280" cy="10972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You: 'Customer order #ORD-8842</a:t>
            </a:r>
            <a:br/>
            <a:r>
              <a:t>was charged $147.50 on 2024-03-15'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291840"/>
            <a:ext cx="338328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Turn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840480"/>
            <a:ext cx="3383280" cy="10972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39319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Claude: 'The order... (which order</a:t>
            </a:r>
            <a:br/>
            <a:r>
              <a:t>was it again?)'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291840"/>
            <a:ext cx="338328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Turn 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840480"/>
            <a:ext cx="3383280" cy="109728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39319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Claude: 'The order #ORD-8841</a:t>
            </a:r>
            <a:br/>
            <a:r>
              <a:t>for $147.00...'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12080"/>
            <a:ext cx="11064240" cy="146304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Real-Life Analogy: The Telephone Game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In the telephone game, a message passes through 20 people and comes out garbled.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Long Claude sessions work the same way -- details degrade with each turn.</a:t>
            </a:r>
          </a:p>
          <a:p>
            <a:pPr>
              <a:spcAft>
                <a:spcPts val="56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Solution: Write the message on a card and pass THAT instead. That's a case-facts block!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The Solution: Case Facts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Pin critical details in a persistent block at the START or END of context so they survive compression.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32004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t># Case Facts (persist across turns)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>
              <a:spcAft>
                <a:spcPts val="520"/>
              </a:spcAft>
              <a:defRPr sz="1300" b="0">
                <a:solidFill>
                  <a:srgbClr val="F0C674"/>
                </a:solidFill>
                <a:latin typeface="Courier New"/>
              </a:defRPr>
            </a:pPr>
            <a:r>
              <a:t>## Critical Details: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t>- Order ID: ORD-8842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t>- Customer: Jane Smith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t>- Amount: $147.50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t>- Date: 2024-03-15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t>- Issue: Double charge on card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t>- Card ending: ****4523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>
              <a:spcAft>
                <a:spcPts val="520"/>
              </a:spcAft>
              <a:defRPr sz="1300" b="0">
                <a:solidFill>
                  <a:srgbClr val="F0C674"/>
                </a:solidFill>
                <a:latin typeface="Courier New"/>
              </a:defRPr>
            </a:pPr>
            <a:r>
              <a:t>## Decisions Made: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t>- Refund approved by mgr on 03-16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t>- Customer prefers email 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Case Facts Best Practices: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286000"/>
            <a:ext cx="228600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Pin at Start or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Context window boundaries resist</a:t>
            </a:r>
            <a:br/>
            <a:r>
              <a:t>compression. Middle content is</a:t>
            </a:r>
            <a:br/>
            <a:r>
              <a:t>most vulnerable to being dropped.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566160"/>
            <a:ext cx="228600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Numbers &amp; IDs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023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Don't put narrative text in case</a:t>
            </a:r>
            <a:br/>
            <a:r>
              <a:t>facts. Only pin data that would be</a:t>
            </a:r>
            <a:br/>
            <a:r>
              <a:t>costly to hallucinate: IDs, dates, $.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846320"/>
            <a:ext cx="228600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Update, Don't Append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303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Replace stale facts rather than</a:t>
            </a:r>
            <a:br/>
            <a:r>
              <a:t>appending. Keep the block lean</a:t>
            </a:r>
            <a:br/>
            <a:r>
              <a:t>so it doesn't waste tokens.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126480"/>
            <a:ext cx="11064240" cy="54864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6144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EXAM TIP: Case facts block = persistent, pinned data that survives long conversations. Place at START or END of context.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Trimming Tool Outputs to Protect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18872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Tool outputs (API responses, DB queries) can be HUGE. Loading raw output wastes context window.</a:t>
            </a:r>
          </a:p>
          <a:p>
            <a:pPr>
              <a:spcAft>
                <a:spcPts val="64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Always summarize tool results to just the relevant fields BEFORE feeding them into the conversation.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5334000" cy="2862986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BAD: Dump 500-Row Query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846320" cy="2141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dirty="0"/>
              <a:t>SELECT * FROM orders</a:t>
            </a:r>
          </a:p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dirty="0"/>
              <a:t>  WHERE </a:t>
            </a:r>
            <a:r>
              <a:rPr dirty="0" err="1"/>
              <a:t>customer_id</a:t>
            </a:r>
            <a:r>
              <a:rPr dirty="0"/>
              <a:t> = 42;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Returns 500 rows x 30 columns</a:t>
            </a:r>
          </a:p>
          <a:p>
            <a:pPr>
              <a:spcAft>
                <a:spcPts val="520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rPr dirty="0"/>
              <a:t>= ~15,000 tokens consumed!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Most columns are irrelevant</a:t>
            </a:r>
          </a:p>
          <a:p>
            <a:pPr>
              <a:spcAft>
                <a:spcPts val="520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rPr dirty="0"/>
              <a:t>Pushes case facts out of window</a:t>
            </a:r>
          </a:p>
          <a:p>
            <a:pPr>
              <a:spcAft>
                <a:spcPts val="520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rPr dirty="0"/>
              <a:t>Like photocopying the ENTIRE</a:t>
            </a:r>
          </a:p>
          <a:p>
            <a:pPr>
              <a:spcAft>
                <a:spcPts val="52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rPr dirty="0"/>
              <a:t>filing cabinet to find one invoice!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560319"/>
            <a:ext cx="5334000" cy="2862987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651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GOOD: Extract Only 5 Relevant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404" y="3033848"/>
            <a:ext cx="4846320" cy="2405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dirty="0"/>
              <a:t>SELECT </a:t>
            </a:r>
            <a:r>
              <a:rPr dirty="0" err="1"/>
              <a:t>order_id</a:t>
            </a:r>
            <a:r>
              <a:rPr dirty="0"/>
              <a:t>, amount,</a:t>
            </a:r>
          </a:p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dirty="0"/>
              <a:t>  status, date, </a:t>
            </a:r>
            <a:r>
              <a:rPr dirty="0" err="1"/>
              <a:t>customer_name</a:t>
            </a:r>
            <a:endParaRPr dirty="0"/>
          </a:p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dirty="0"/>
              <a:t>  FROM orders WHERE id = 8842;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Returns 1 row x 5 columns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rPr dirty="0"/>
              <a:t>= ~50 tokens consumed!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Only what you actually need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rPr dirty="0"/>
              <a:t>Context window stays healthy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rPr dirty="0"/>
              <a:t>Like pulling just the ONE invoice</a:t>
            </a:r>
          </a:p>
          <a:p>
            <a:pPr>
              <a:spcAft>
                <a:spcPts val="52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rPr dirty="0"/>
              <a:t>you need from the cabinet!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77840"/>
            <a:ext cx="11064240" cy="109728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rPr dirty="0"/>
              <a:t>The 80/20 Rule of Context: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80% of tool output is noise. Trim to the 20% that matters BEFORE it enters the conversation.</a:t>
            </a:r>
          </a:p>
          <a:p>
            <a:pPr>
              <a:spcAft>
                <a:spcPts val="56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t>Compare quality before vs after optimization -- trimmed responses are more accurate AND cheaper.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3498DB"/>
                </a:solidFill>
              </a:defRPr>
            </a:pPr>
            <a:r>
              <a:t>S2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S2: Escalation &amp; Ambiguity</a:t>
            </a:r>
            <a:br/>
            <a:r>
              <a:t>Resolution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When to stop and ask vs when to proceed -- and how to hand off cleanly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When Must You Escalate?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18872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Escalation = stopping to ask a human instead of guessing. The golden rule: ALWAYS escalate when asked.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Never guess when the cost of being wrong is high. A wrong guess wastes MORE time than a quick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Three Mandatory Escalation Triggers: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33832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USER 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The user explicitly asks</a:t>
            </a:r>
            <a:br/>
            <a:r>
              <a:t>for clarification or help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3383280" cy="13716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Always comply. No exceptions.</a:t>
            </a:r>
            <a:br/>
            <a:r>
              <a:t>Even if you think you know</a:t>
            </a:r>
            <a:br/>
            <a:r>
              <a:t>the answer, the user asked</a:t>
            </a:r>
            <a:br/>
            <a:r>
              <a:t>for a reason.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669280"/>
            <a:ext cx="3383280" cy="6400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568756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Like a patient asking for</a:t>
            </a:r>
            <a:br/>
            <a:r>
              <a:t>a second opinion -- the</a:t>
            </a:r>
            <a:br/>
            <a:r>
              <a:t>doctor must honor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017520"/>
            <a:ext cx="3383280" cy="5486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POLICY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No rule or precedent</a:t>
            </a:r>
            <a:br/>
            <a:r>
              <a:t>covers the situation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114800"/>
            <a:ext cx="3383280" cy="13716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42062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Don't invent policy. Escalate</a:t>
            </a:r>
            <a:br/>
            <a:r>
              <a:t>when the CLAUDE.md or rules</a:t>
            </a:r>
            <a:br/>
            <a:r>
              <a:t>don't cover the case.</a:t>
            </a:r>
            <a:br/>
            <a:r>
              <a:t>Flag the gap explicitly.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5669280"/>
            <a:ext cx="3383280" cy="6400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568756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98DB"/>
                </a:solidFill>
                <a:latin typeface="Calibri"/>
              </a:defRPr>
            </a:pPr>
            <a:r>
              <a:t>Like a cashier who can't</a:t>
            </a:r>
            <a:br/>
            <a:r>
              <a:t>find the price -- call</a:t>
            </a:r>
            <a:br/>
            <a:r>
              <a:t>the manager, don't guess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017520"/>
            <a:ext cx="338328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AMBIGUITY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Two+ valid readings</a:t>
            </a:r>
            <a:br/>
            <a:r>
              <a:t>of the requirement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114800"/>
            <a:ext cx="3383280" cy="13716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42062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When two interpretations are</a:t>
            </a:r>
            <a:br/>
            <a:r>
              <a:t>both plausible, ask. Don't</a:t>
            </a:r>
            <a:br/>
            <a:r>
              <a:t>pick one and hope. Include</a:t>
            </a:r>
            <a:br/>
            <a:r>
              <a:t>both options in your question.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5669280"/>
            <a:ext cx="3383280" cy="6400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568756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Calibri"/>
              </a:defRPr>
            </a:pPr>
            <a:r>
              <a:t>Like a builder asking</a:t>
            </a:r>
            <a:br/>
            <a:r>
              <a:t>'do you want a door</a:t>
            </a:r>
            <a:br/>
            <a:r>
              <a:t>here or a window?'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6400800"/>
            <a:ext cx="11064240" cy="365760"/>
          </a:xfrm>
          <a:prstGeom prst="roundRect">
            <a:avLst/>
          </a:prstGeom>
          <a:solidFill>
            <a:srgbClr val="FAEBEB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EXAM TIP: Three triggers -- user asks, policy gap, ambiguity. ALWAYS escalate on these. Never guess.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The Structured Handoff -- How to Escalate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Don't just say 'I don't know.' Provide a structured handoff with full context for whoever picks it 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228600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BAD: Vague Escalation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84632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"I'm not sure about this.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 Can someone help?"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Missing: what was tried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Missing: what the options are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Missing: what context is needed</a:t>
            </a:r>
          </a:p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rPr dirty="0"/>
              <a:t>Wastes the reviewer's time!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303520" cy="22860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GOOD: Structured Handoff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84632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rPr dirty="0"/>
              <a:t>WHAT: Ambiguous return policy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TRIED: Checked docs S3, S7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OPTIONS: A) Full refund B) Credit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IMPACT: $147.50, 1 customer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NEED: Policy decision by </a:t>
            </a:r>
            <a:r>
              <a:rPr dirty="0" err="1"/>
              <a:t>mgr</a:t>
            </a:r>
            <a:endParaRPr dirty="0"/>
          </a:p>
          <a:p>
            <a:pPr>
              <a:spcAft>
                <a:spcPts val="56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rPr dirty="0"/>
              <a:t>Reviewer can decide immediately!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1064240" cy="237744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5 Components of a Structured Handoff: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89204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892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892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The specific question or blocker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212079"/>
            <a:ext cx="256032" cy="256032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2120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TRIED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212079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What you already investigated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532120"/>
            <a:ext cx="256032" cy="25603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532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OPTIONS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5321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The possible paths forward with trade-offs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852159"/>
            <a:ext cx="256032" cy="25603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85215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852159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Scope, cost, affected users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6172200"/>
            <a:ext cx="256032" cy="256032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6172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NEED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61722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The specific decision or action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CC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2ECC71"/>
                </a:solidFill>
              </a:defRPr>
            </a:pPr>
            <a:r>
              <a:t>S3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S3: Error Propagation in</a:t>
            </a:r>
            <a:br/>
            <a:r>
              <a:t>Multi-Agent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Structured errors, retry-local, and surfacing failures to the coordinator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Structured Error 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18872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In multi-agent systems, errors MUST be structured -- not free-text. The coordinator needs machine-readable errors.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Key principle: subagents retry locally. Only send UNRESOLVED errors up to the coordinator.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Structured Error Format: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39" y="3108960"/>
            <a:ext cx="5305153" cy="2944368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463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# Structured Error Object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{</a:t>
            </a:r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rPr sz="1000" dirty="0"/>
              <a:t>  "</a:t>
            </a:r>
            <a:r>
              <a:rPr sz="1000" dirty="0" err="1"/>
              <a:t>error_type</a:t>
            </a:r>
            <a:r>
              <a:rPr sz="1000" dirty="0"/>
              <a:t>": "TIMEOUT",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"source": "data-fetcher-agent",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"message": "API /users timed out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           after 30s (3 retries)",</a:t>
            </a:r>
          </a:p>
          <a:p>
            <a:pPr>
              <a:spcAft>
                <a:spcPts val="480"/>
              </a:spcAft>
              <a:defRPr sz="1200" b="0">
                <a:solidFill>
                  <a:srgbClr val="E67E22"/>
                </a:solidFill>
                <a:latin typeface="Courier New"/>
              </a:defRPr>
            </a:pPr>
            <a:r>
              <a:rPr sz="1000" dirty="0"/>
              <a:t>  "</a:t>
            </a:r>
            <a:r>
              <a:rPr sz="1000" dirty="0" err="1"/>
              <a:t>retries_attempted</a:t>
            </a:r>
            <a:r>
              <a:rPr sz="1000" dirty="0"/>
              <a:t>": 3,</a:t>
            </a:r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ourier New"/>
              </a:defRPr>
            </a:pPr>
            <a:r>
              <a:rPr sz="1000" dirty="0"/>
              <a:t>  "</a:t>
            </a:r>
            <a:r>
              <a:rPr sz="1000" dirty="0" err="1"/>
              <a:t>partial_results</a:t>
            </a:r>
            <a:r>
              <a:rPr sz="1000" dirty="0"/>
              <a:t>": null,</a:t>
            </a:r>
          </a:p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  "alternatives": [</a:t>
            </a:r>
          </a:p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    "use cached data (2h old)",</a:t>
            </a:r>
          </a:p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    "skip user enrichment"</a:t>
            </a:r>
          </a:p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  ]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Critical Fields in Every Error: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566160"/>
            <a:ext cx="210312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error_type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023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TIMEOUT, NOT_FOUND, AUTH_FAIL,</a:t>
            </a:r>
            <a:br/>
            <a:r>
              <a:t>VALIDATION, RATE_LIMIT -- a fixed</a:t>
            </a:r>
            <a:br/>
            <a:r>
              <a:t>enum the coordinator can switch 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663440"/>
            <a:ext cx="210312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partial_results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120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Did the subagent get SOME data?</a:t>
            </a:r>
            <a:br/>
            <a:r>
              <a:t>Partial results may still be useful.</a:t>
            </a:r>
            <a:br/>
            <a:r>
              <a:t>null = total failure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5760720"/>
            <a:ext cx="210312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alternatives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6217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What CAN the coordinator do next?</a:t>
            </a:r>
            <a:br/>
            <a:r>
              <a:t>Always suggest fallback options.</a:t>
            </a:r>
            <a:br/>
            <a:r>
              <a:t>Don't just report failure.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6126480"/>
            <a:ext cx="5639889" cy="54864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6144768"/>
            <a:ext cx="478536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KEY: Never silently drop errors! A subagent failure MUST surface to the coordinator with type + alternatives.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Retry-Local: Subagents Handle Their Own Retries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Subagents should retry transient failures locally. Only escalate UNRESOLVED errors to the coordinator.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2860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Subagent</a:t>
            </a:r>
            <a:br/>
            <a:r>
              <a:t>Makes API Call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43200" y="201168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91840" y="1828800"/>
            <a:ext cx="201168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Error</a:t>
            </a:r>
            <a:br/>
            <a:r>
              <a:t>Occurs!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303520" y="201168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52160" y="1828800"/>
            <a:ext cx="228600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Retry Locally</a:t>
            </a:r>
            <a:br/>
            <a:r>
              <a:t>(up to 3x)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38160" y="2212521"/>
            <a:ext cx="1463040" cy="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0" y="1810512"/>
            <a:ext cx="228600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Resolved!</a:t>
            </a:r>
            <a:br>
              <a:rPr dirty="0"/>
            </a:br>
            <a:r>
              <a:rPr dirty="0"/>
              <a:t>Return result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560320"/>
            <a:ext cx="0" cy="640080"/>
          </a:xfrm>
          <a:prstGeom prst="line">
            <a:avLst/>
          </a:prstGeom>
          <a:ln w="2540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852160" y="3200400"/>
            <a:ext cx="228600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Still failing</a:t>
            </a:r>
            <a:br/>
            <a:r>
              <a:t>after 3 retries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138160" y="3429000"/>
            <a:ext cx="54864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0" y="3200400"/>
            <a:ext cx="320040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Escalate structured</a:t>
            </a:r>
            <a:br/>
            <a:r>
              <a:t>error to coordinator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5303520" cy="228600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TIMEOUT (Retry-Worthy)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The service didn't respond in time.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The data probably EXISTS -- we just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couldn't reach it. Retry makes sense.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t>Like calling a phone that rings</a:t>
            </a:r>
          </a:p>
          <a:p>
            <a:pPr>
              <a:spcAft>
                <a:spcPts val="52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t>but no one picks up. Try again!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389120"/>
            <a:ext cx="5303520" cy="22860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NOT_FOUND (Valid Result)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463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The service responded: data does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not exist. Retrying won't help!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This is a valid answer, not an error.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t>Like calling a phone that says</a:t>
            </a:r>
          </a:p>
          <a:p>
            <a:pPr>
              <a:spcAft>
                <a:spcPts val="52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t>'number disconnected.' Stop calling!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7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E67E22"/>
                </a:solidFill>
              </a:defRPr>
            </a:pPr>
            <a:r>
              <a:t>S4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S4: Context Management in</a:t>
            </a:r>
            <a:br/>
            <a:r>
              <a:t>Large Codebase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Scratchpads, subagents, /compact, and crash recovery for long sessions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Why Long Sessions Degrade -- and How to Fix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18872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Long Claude Code sessions exploring large codebases hit a wall: context fills up, quality drops.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Four tools prevent this: scratchpad files, subagents, /compact, and state export for crash recovery.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560320"/>
            <a:ext cx="256032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SCRATCHPAD</a:t>
            </a:r>
            <a:br/>
            <a:r>
              <a:t>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Write findings to a file</a:t>
            </a:r>
            <a:br/>
            <a:r>
              <a:t>as you explore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749039"/>
            <a:ext cx="2560320" cy="13716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3840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Create SCRATCHPAD.md to</a:t>
            </a:r>
            <a:br/>
            <a:r>
              <a:t>record discovered paths,</a:t>
            </a:r>
            <a:br/>
            <a:r>
              <a:t>patterns, and decisions.</a:t>
            </a:r>
            <a:br/>
            <a:r>
              <a:t>Referenceable across turns.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5303520"/>
            <a:ext cx="256032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5321808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  <a:latin typeface="Calibri"/>
              </a:defRPr>
            </a:pPr>
            <a:r>
              <a:t>Like a field researcher's</a:t>
            </a:r>
            <a:br/>
            <a:r>
              <a:t>NOTEBOOK -- write it</a:t>
            </a:r>
            <a:br/>
            <a:r>
              <a:t>down so you don't forget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560320"/>
            <a:ext cx="256032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SUBAGENTS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Delegate isolated</a:t>
            </a:r>
            <a:br/>
            <a:r>
              <a:t>tasks to forks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749039"/>
            <a:ext cx="2560320" cy="13716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3840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Spawn subagents for</a:t>
            </a:r>
            <a:br/>
            <a:r>
              <a:t>independent explorations.</a:t>
            </a:r>
            <a:br/>
            <a:r>
              <a:t>They report back summaries.</a:t>
            </a:r>
            <a:br/>
            <a:r>
              <a:t>Your context stays clean.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5303520"/>
            <a:ext cx="256032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37560" y="5321808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Calibri"/>
              </a:defRPr>
            </a:pPr>
            <a:r>
              <a:t>Like sending SCOUTS</a:t>
            </a:r>
            <a:br/>
            <a:r>
              <a:t>to explore different</a:t>
            </a:r>
            <a:br/>
            <a:r>
              <a:t>areas of the 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560320"/>
            <a:ext cx="256032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/COMPACT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Trim conversation</a:t>
            </a:r>
            <a:br/>
            <a:r>
              <a:t>history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749039"/>
            <a:ext cx="2560320" cy="13716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3840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Compacts the conversation</a:t>
            </a:r>
            <a:br/>
            <a:r>
              <a:t>by summarizing old turns.</a:t>
            </a:r>
            <a:br/>
            <a:r>
              <a:t>Use BEFORE context overflow.</a:t>
            </a:r>
            <a:br/>
            <a:r>
              <a:t>Preserve key findings.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5303520"/>
            <a:ext cx="256032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5321808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7E22"/>
                </a:solidFill>
                <a:latin typeface="Calibri"/>
              </a:defRPr>
            </a:pPr>
            <a:r>
              <a:t>Like archiving old emails</a:t>
            </a:r>
            <a:br/>
            <a:r>
              <a:t>into a summary folder</a:t>
            </a:r>
            <a:br/>
            <a:r>
              <a:t>to free inbox space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2560320"/>
            <a:ext cx="256032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STATE</a:t>
            </a:r>
            <a:br/>
            <a:r>
              <a:t>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Save progress for</a:t>
            </a:r>
            <a:br/>
            <a:r>
              <a:t>crash recovery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3749039"/>
            <a:ext cx="2560320" cy="13716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20" y="3840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Export current state to a</a:t>
            </a:r>
            <a:br/>
            <a:r>
              <a:t>file before risky operations.</a:t>
            </a:r>
            <a:br/>
            <a:r>
              <a:t>If Claude crashes, resume</a:t>
            </a:r>
            <a:br/>
            <a:r>
              <a:t>from the exported state.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5303520"/>
            <a:ext cx="256032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89720" y="5321808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59B6"/>
                </a:solidFill>
                <a:latin typeface="Calibri"/>
              </a:defRPr>
            </a:pPr>
            <a:r>
              <a:t>Like a VIDEO GAME</a:t>
            </a:r>
            <a:br/>
            <a:r>
              <a:t>save point -- resume</a:t>
            </a:r>
            <a:br/>
            <a:r>
              <a:t>after a crash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6309360"/>
            <a:ext cx="11064240" cy="457200"/>
          </a:xfrm>
          <a:prstGeom prst="roundRect">
            <a:avLst/>
          </a:prstGeom>
          <a:solidFill>
            <a:srgbClr val="FAEBEB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6309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EXAM TIP: Scratchpads = external notes. Subagents = isolated workers. /compact = trim history. State export = crash save.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Scratchpad Files -- Your External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A scratchpad file is a Markdown file you create during exploration to track what you've found.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# SCRATCHPAD.md -- Monorepo Mapping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t>## Discovered Entry Points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- src/api/server.ts (Express app)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- src/workers/queue.ts (Bull queue)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- src/cron/scheduler.ts (cron jobs)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t>## Key Dependencies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- src/db/prisma.ts -&gt; PostgreSQL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- src/cache/redis.ts -&gt; Redis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- src/auth/clerk.ts -&gt; Clerk SDK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t>## Patterns Found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- All routes use middleware chain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- Error handling via ErrorBoundary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- Config via env vars (no .env)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t>## Open Questions</a:t>
            </a:r>
          </a:p>
          <a:p>
            <a:pPr>
              <a:spcAft>
                <a:spcPts val="480"/>
              </a:spcAft>
              <a:defRPr sz="1200" b="0">
                <a:solidFill>
                  <a:srgbClr val="E67E22"/>
                </a:solidFill>
                <a:latin typeface="Courier New"/>
              </a:defRPr>
            </a:pPr>
            <a:r>
              <a:t>- Where is auth middleware applied?</a:t>
            </a:r>
          </a:p>
          <a:p>
            <a:pPr>
              <a:spcAft>
                <a:spcPts val="480"/>
              </a:spcAft>
              <a:defRPr sz="1200" b="0">
                <a:solidFill>
                  <a:srgbClr val="E67E22"/>
                </a:solidFill>
                <a:latin typeface="Courier New"/>
              </a:defRPr>
            </a:pPr>
            <a:r>
              <a:t>- How do workers connect to DB?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Why Scratchpads Work: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286000"/>
            <a:ext cx="210312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External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86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Scratchpad lives on DISK, not in</a:t>
            </a:r>
            <a:br/>
            <a:r>
              <a:t>the context window. It survives</a:t>
            </a:r>
            <a:br/>
            <a:r>
              <a:t>compaction and crashes.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291840"/>
            <a:ext cx="210312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Structured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2918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Organize by category (paths,</a:t>
            </a:r>
            <a:br/>
            <a:r>
              <a:t>deps, patterns). Much better</a:t>
            </a:r>
            <a:br/>
            <a:r>
              <a:t>than random conversation turns.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297680"/>
            <a:ext cx="210312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Shareable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2976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Other subagents can READ the</a:t>
            </a:r>
            <a:br/>
            <a:r>
              <a:t>scratchpad. Coordinate work</a:t>
            </a:r>
            <a:br/>
            <a:r>
              <a:t>without duplicating exploration.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5303520"/>
            <a:ext cx="210312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Resumable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3035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If you crash or /compact, just</a:t>
            </a:r>
            <a:br/>
            <a:r>
              <a:t>re-read SCRATCHPAD.md to get</a:t>
            </a:r>
            <a:br/>
            <a:r>
              <a:t>back to where you were.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6035040"/>
            <a:ext cx="11064240" cy="64008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t>Scratchpad = a detective's case board. Pin clues to the board so you can see the big picture even after hours of work.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/compact and Crash Recovery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36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Use /compact proactively BEFORE context overflow -- and export state for crash recovery.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/compact -- When and How: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03520" cy="36576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846320" cy="3511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1">
                <a:solidFill>
                  <a:srgbClr val="3498DB"/>
                </a:solidFill>
                <a:latin typeface="Calibri"/>
              </a:defRPr>
            </a:pPr>
            <a:r>
              <a:rPr dirty="0"/>
              <a:t>WHEN to use /compact: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- Context is getting long (50+ turns)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- Before a complex new task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- When you notice quality dropping</a:t>
            </a:r>
          </a:p>
          <a:p>
            <a:pPr>
              <a:spcAft>
                <a:spcPts val="480"/>
              </a:spcAft>
              <a:defRPr sz="1200" b="0">
                <a:solidFill>
                  <a:srgbClr val="E74C3C"/>
                </a:solidFill>
                <a:latin typeface="Calibri"/>
              </a:defRPr>
            </a:pPr>
            <a:r>
              <a:rPr dirty="0"/>
              <a:t>- BEFORE you hit the limit, not after!</a:t>
            </a:r>
          </a:p>
          <a:p>
            <a:pPr>
              <a:spcAft>
                <a:spcPts val="480"/>
              </a:spcAft>
              <a:defRPr sz="1200" b="1">
                <a:solidFill>
                  <a:srgbClr val="3498DB"/>
                </a:solidFill>
                <a:latin typeface="Calibri"/>
              </a:defRPr>
            </a:pPr>
            <a:r>
              <a:rPr dirty="0"/>
              <a:t>WHAT /compact does: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- Summarizes old conversation turns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- Preserves key decisions &amp; findings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- Frees up context window space</a:t>
            </a:r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alibri"/>
              </a:defRPr>
            </a:pPr>
            <a:r>
              <a:rPr dirty="0"/>
              <a:t>- Like clearing your desk to start</a:t>
            </a:r>
          </a:p>
          <a:p>
            <a:pPr>
              <a:spcAft>
                <a:spcPts val="480"/>
              </a:spcAft>
              <a:defRPr sz="12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a new task with a clean workspace</a:t>
            </a:r>
          </a:p>
          <a:p>
            <a:pPr>
              <a:spcAft>
                <a:spcPts val="480"/>
              </a:spcAft>
              <a:defRPr sz="1200" b="1">
                <a:solidFill>
                  <a:srgbClr val="E67E22"/>
                </a:solidFill>
                <a:latin typeface="Calibri"/>
              </a:defRPr>
            </a:pPr>
            <a:r>
              <a:rPr dirty="0"/>
              <a:t>BEFORE compacting:</a:t>
            </a:r>
          </a:p>
          <a:p>
            <a:pPr>
              <a:spcAft>
                <a:spcPts val="480"/>
              </a:spcAft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- Save findings to </a:t>
            </a:r>
            <a:r>
              <a:rPr dirty="0" err="1"/>
              <a:t>SCRATCHPAD.md</a:t>
            </a:r>
            <a:endParaRPr dirty="0"/>
          </a:p>
          <a:p>
            <a:pPr>
              <a:spcAft>
                <a:spcPts val="480"/>
              </a:spcAft>
              <a:defRPr sz="1200" b="0">
                <a:solidFill>
                  <a:srgbClr val="E74C3C"/>
                </a:solidFill>
                <a:latin typeface="Calibri"/>
              </a:defRPr>
            </a:pPr>
            <a:r>
              <a:rPr dirty="0"/>
              <a:t>- Any data only in context is at risk!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Crash Recovery Pattern: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286000"/>
            <a:ext cx="5303520" cy="365760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83680" y="2468880"/>
            <a:ext cx="320040" cy="32004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4688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Before risky operations, export</a:t>
            </a:r>
            <a:br/>
            <a:r>
              <a:t>state to a file: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0" y="2973435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973435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Save </a:t>
            </a:r>
            <a:r>
              <a:rPr dirty="0" err="1"/>
              <a:t>SCRATCHPAD.md</a:t>
            </a:r>
            <a:r>
              <a:rPr dirty="0"/>
              <a:t> with all</a:t>
            </a:r>
            <a:br>
              <a:rPr dirty="0"/>
            </a:br>
            <a:r>
              <a:rPr dirty="0"/>
              <a:t>findings and progress 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3526976"/>
            <a:ext cx="320040" cy="3200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526976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If crash occurs, start new session</a:t>
            </a:r>
            <a:br>
              <a:rPr dirty="0"/>
            </a:br>
            <a:r>
              <a:rPr dirty="0"/>
              <a:t>and read </a:t>
            </a:r>
            <a:r>
              <a:rPr dirty="0" err="1"/>
              <a:t>SCRATCHPAD.md</a:t>
            </a:r>
            <a:r>
              <a:rPr dirty="0"/>
              <a:t> first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4096840"/>
            <a:ext cx="320040" cy="32004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09684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dirty="0"/>
              <a:t>Resume from last known state</a:t>
            </a:r>
            <a:br>
              <a:rPr dirty="0"/>
            </a:br>
            <a:r>
              <a:rPr dirty="0"/>
              <a:t>instead of starting 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623603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520"/>
              </a:spcAft>
              <a:defRPr sz="1300" b="1">
                <a:solidFill>
                  <a:srgbClr val="E67E22"/>
                </a:solidFill>
                <a:latin typeface="Calibri"/>
              </a:defRPr>
            </a:pPr>
            <a:r>
              <a:rPr dirty="0"/>
              <a:t>Think of it like autosave in a game.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You don't wait until the final boss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to save -- you save at checkpoints!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126480"/>
            <a:ext cx="11064240" cy="548640"/>
          </a:xfrm>
          <a:prstGeom prst="roundRect">
            <a:avLst/>
          </a:prstGeom>
          <a:solidFill>
            <a:srgbClr val="FAEBEB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6144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EXAM TIP: Use /compact PROACTIVELY. Always save to scratchpad BEFORE compacting. State export = crash insurance.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9B59B6"/>
                </a:solidFill>
              </a:defRPr>
            </a:pPr>
            <a:r>
              <a:t>S5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S5: Human Review &amp;</a:t>
            </a:r>
            <a:br/>
            <a:r>
              <a:t>Confidence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Evaluate per field, use confidence scores, and route low-confidence to humans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Don't Trust Aggregate Accuracy -- Evaluate Per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18872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Aggregate accuracy hides dangerous per-field failures. '95% accurate' might mean critical fields are wrong.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Always evaluate accuracy PER FIELD and PER DOCUMENT TYPE -- not as a single average number.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5303520" cy="228600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BAD: Aggregate Accuracy (Misleading)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846320" cy="177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sz="1000" dirty="0"/>
              <a:t>"Our extraction is 95% accurate!"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sz="1000" dirty="0"/>
              <a:t>But breakdown shows: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rPr sz="1000" dirty="0"/>
              <a:t>- Name: 99% accurate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rPr sz="1000" dirty="0"/>
              <a:t>- Address: 97% accurate</a:t>
            </a:r>
          </a:p>
          <a:p>
            <a:pPr>
              <a:spcAft>
                <a:spcPts val="520"/>
              </a:spcAft>
              <a:defRPr sz="1300" b="0">
                <a:solidFill>
                  <a:srgbClr val="E67E22"/>
                </a:solidFill>
                <a:latin typeface="Calibri"/>
              </a:defRPr>
            </a:pPr>
            <a:r>
              <a:rPr sz="1000" dirty="0"/>
              <a:t>- Phone: 95% accurate</a:t>
            </a:r>
          </a:p>
          <a:p>
            <a:pPr>
              <a:spcAft>
                <a:spcPts val="520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rPr sz="1000" dirty="0"/>
              <a:t>- Policy Number: 72% accurate!</a:t>
            </a:r>
          </a:p>
          <a:p>
            <a:pPr>
              <a:spcAft>
                <a:spcPts val="520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rPr sz="1000" dirty="0"/>
              <a:t>- Dollar Amount: 68% accurate!</a:t>
            </a:r>
          </a:p>
          <a:p>
            <a:pPr>
              <a:spcAft>
                <a:spcPts val="52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rPr sz="1000" dirty="0"/>
              <a:t>The 2 CRITICAL fields are failing!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560320"/>
            <a:ext cx="5303520" cy="22860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651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GOOD: Per-Field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4846320" cy="177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sz="1000" dirty="0"/>
              <a:t>Evaluate EACH field independently: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rPr sz="1000" dirty="0"/>
              <a:t>HIGH confidence fields: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sz="1000" dirty="0"/>
              <a:t>  Name, Address -&gt; auto-approve</a:t>
            </a:r>
          </a:p>
          <a:p>
            <a:pPr>
              <a:spcAft>
                <a:spcPts val="520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rPr sz="1000" dirty="0"/>
              <a:t>LOW confidence fields: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sz="1000" dirty="0"/>
              <a:t>  Policy #, $ Amount -&gt; route to</a:t>
            </a:r>
          </a:p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sz="1000" dirty="0"/>
              <a:t>  human review before processing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 sz="1000" dirty="0"/>
          </a:p>
          <a:p>
            <a:pPr>
              <a:spcAft>
                <a:spcPts val="52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rPr sz="1000" dirty="0"/>
              <a:t>Each field gets its OWN score!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20640"/>
            <a:ext cx="11064240" cy="155448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Real-Life Analogy: Restaurant Health Inspection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A restaurant gets an 'A' overall rating. But the kitchen hygiene is a 'D'.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Would you eat there? The aggregate hides the critical failure.</a:t>
            </a:r>
          </a:p>
          <a:p>
            <a:pPr>
              <a:spcAft>
                <a:spcPts val="52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t>Same with AI extraction -- check EACH field, especially the ones that matter most (money, IDs, dates).</a:t>
            </a:r>
          </a:p>
          <a:p>
            <a:pPr>
              <a:spcAft>
                <a:spcPts val="520"/>
              </a:spcAft>
              <a:defRPr sz="1300" b="0">
                <a:solidFill>
                  <a:srgbClr val="9B59B6"/>
                </a:solidFill>
                <a:latin typeface="Calibri"/>
              </a:defRPr>
            </a:pPr>
            <a:r>
              <a:t>Stratified sampling: test by document type too. Invoices may be 98% accurate but contracts only 70%.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Confidence Scores &amp; Routing to Human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Attach a confidence score to every output. Route low-confidence items to human review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28600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Extracts</a:t>
            </a:r>
            <a:br/>
            <a:r>
              <a:t>Data + Score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43200" y="201168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91840" y="1828800"/>
            <a:ext cx="228600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Check</a:t>
            </a:r>
            <a:br/>
            <a:r>
              <a:t>Confidence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77840" y="1828800"/>
            <a:ext cx="1280160" cy="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60720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&gt; 0.9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554480"/>
            <a:ext cx="22860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Auto-Approve</a:t>
            </a:r>
            <a:br/>
            <a:r>
              <a:t>(no human needed)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77840" y="2148840"/>
            <a:ext cx="1280160" cy="45720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6072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Calibri"/>
              </a:defRPr>
            </a:pPr>
            <a:r>
              <a:t>0.7-0.9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377440"/>
            <a:ext cx="228600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Spot-Check</a:t>
            </a:r>
            <a:br/>
            <a:r>
              <a:t>(sample review)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77840" y="2468880"/>
            <a:ext cx="1280160" cy="960120"/>
          </a:xfrm>
          <a:prstGeom prst="line">
            <a:avLst/>
          </a:prstGeom>
          <a:ln w="2540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6072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&lt; 0.7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3200400"/>
            <a:ext cx="22860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Human Review</a:t>
            </a:r>
            <a:br/>
            <a:r>
              <a:t>(mandatory)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11064240" cy="256032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  <a:latin typeface="Calibri"/>
              </a:defRPr>
            </a:pPr>
            <a:r>
              <a:t>Stratified Sampling: Don't Just Sample Randomly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Random sampling misses rare-but-critical errors. Use stratified sampling instead: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20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t>By Confidence Level: Sample more heavily from low-confidence outputs (where errors hide)</a:t>
            </a:r>
          </a:p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alibri"/>
              </a:defRPr>
            </a:pPr>
            <a:r>
              <a:t>By Document Type: Sample each type separately (invoices, contracts, receipts have different error rates)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t>By Field: Focus human review on high-value fields (dollar amounts, policy numbers, dates)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20"/>
              </a:spcAft>
              <a:defRPr sz="1300" b="1">
                <a:solidFill>
                  <a:srgbClr val="E67E22"/>
                </a:solidFill>
                <a:latin typeface="Calibri"/>
              </a:defRPr>
            </a:pPr>
            <a:r>
              <a:t>Analogy: A quality inspector doesn't test random products. They focus on the ones most likely to be defective.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1ABC9C"/>
                </a:solidFill>
              </a:defRPr>
            </a:pPr>
            <a:r>
              <a:t>S6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S6: Information Provenance</a:t>
            </a:r>
            <a:br/>
            <a:r>
              <a:t>&amp; Uncertainty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Map every claim to its source -- and handle conflicting information honestly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Map Every Claim to Its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18872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Every claim AI makes should be traceable to a source: URL, document name, evidence excerpt.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Without provenance, you can't verify. Without verification, you can't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5303520" cy="182880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BAD: Claims Without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846320" cy="1336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sz="1000" dirty="0"/>
              <a:t>"The API rate limit is 1000 req/min."</a:t>
            </a:r>
          </a:p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sz="1000" dirty="0"/>
              <a:t>"The deadline is March 15th."</a:t>
            </a:r>
          </a:p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sz="1000" dirty="0"/>
              <a:t>"This function is deprecated."</a:t>
            </a:r>
          </a:p>
          <a:p>
            <a:pPr>
              <a:spcAft>
                <a:spcPts val="520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rPr sz="1000" dirty="0"/>
              <a:t>Where did these come from?</a:t>
            </a:r>
          </a:p>
          <a:p>
            <a:pPr>
              <a:spcAft>
                <a:spcPts val="520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rPr sz="1000" dirty="0"/>
              <a:t>Are they current? Which version?</a:t>
            </a:r>
          </a:p>
          <a:p>
            <a:pPr>
              <a:spcAft>
                <a:spcPts val="52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rPr sz="1000" dirty="0"/>
              <a:t>Impossible to verify!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560320"/>
            <a:ext cx="5303520" cy="18288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651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GOOD: Claims With Provenance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4846320" cy="1336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sz="1000" dirty="0"/>
              <a:t>"Rate limit: 1000 req/min"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rPr sz="1000" dirty="0"/>
              <a:t>  Source: docs/</a:t>
            </a:r>
            <a:r>
              <a:rPr sz="1000" dirty="0" err="1"/>
              <a:t>api-limits.md</a:t>
            </a:r>
            <a:r>
              <a:rPr sz="1000" dirty="0"/>
              <a:t>, line 42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rPr sz="1000" dirty="0"/>
              <a:t>  Published: 2024-02-01, v3.2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rPr sz="1000" dirty="0"/>
              <a:t>Verifiable! Check the exact line.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rPr sz="1000" dirty="0"/>
              <a:t>Date shows if info is current.</a:t>
            </a:r>
          </a:p>
          <a:p>
            <a:pPr>
              <a:spcAft>
                <a:spcPts val="52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rPr sz="1000" dirty="0"/>
              <a:t>Reviewer can confirm in seconds!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Every Source Mapping Should Include: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120640"/>
            <a:ext cx="256032" cy="256032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20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URL / File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1206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Where exactly is this information? docs/api.md:42 or https://...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486400"/>
            <a:ext cx="256032" cy="25603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486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Document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4864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What is the source document? 'API Rate Limiting Guide v3.2'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852159"/>
            <a:ext cx="256032" cy="25603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8521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Evidence Excerpt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85215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The exact quote or data point. Not a paraphrase -- the actual text.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6217920"/>
            <a:ext cx="256032" cy="256032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217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Publication 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2179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When was this published? Old sources may be outdated.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Handling Conflicting Sources -- Don't Pick One!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18872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When multiple sources disagree, KEEP ALL of them. Don't silently pick one and discard the rest.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Flag the conflict explicitly. Let the human reviewer decide which source to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1064240" cy="25603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# Confirmed vs Contested Report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>
              <a:spcAft>
                <a:spcPts val="480"/>
              </a:spcAft>
              <a:defRPr sz="1200" b="0">
                <a:solidFill>
                  <a:srgbClr val="F0C674"/>
                </a:solidFill>
                <a:latin typeface="Courier New"/>
              </a:defRPr>
            </a:pPr>
            <a:r>
              <a:t>## CONFIRMED (all sources agree):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  - API supports JSON and XML response formats</a:t>
            </a:r>
          </a:p>
          <a:p>
            <a:pPr>
              <a:spcAft>
                <a:spcPts val="480"/>
              </a:spcAft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    Sources: docs/api.md (2024-02), README.md (2024-01), CHANGELOG (2024-02)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endParaRPr/>
          </a:p>
          <a:p>
            <a:pPr>
              <a:spcAft>
                <a:spcPts val="480"/>
              </a:spcAft>
              <a:defRPr sz="1200" b="0">
                <a:solidFill>
                  <a:srgbClr val="E74C3C"/>
                </a:solidFill>
                <a:latin typeface="Courier New"/>
              </a:defRPr>
            </a:pPr>
            <a:r>
              <a:t>## CONTESTED (sources disagree):</a:t>
            </a:r>
          </a:p>
          <a:p>
            <a:pPr>
              <a:spcAft>
                <a:spcPts val="480"/>
              </a:spcAft>
              <a:defRPr sz="1200" b="0">
                <a:solidFill>
                  <a:srgbClr val="E74C3C"/>
                </a:solidFill>
                <a:latin typeface="Courier New"/>
              </a:defRPr>
            </a:pPr>
            <a:r>
              <a:t>  - Rate limit: CONFLICTING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    Source A: "1000 req/min" (docs/api.md, 2024-02-01)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    Source B: "500 req/min"  (internal wiki, 2023-11-15)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    Source C: "2000 req/min" (sales deck, 2024-01-20)</a:t>
            </a:r>
          </a:p>
          <a:p>
            <a:pPr>
              <a:spcAft>
                <a:spcPts val="480"/>
              </a:spcAft>
              <a:defRPr sz="1200" b="0">
                <a:solidFill>
                  <a:srgbClr val="E67E22"/>
                </a:solidFill>
                <a:latin typeface="Courier New"/>
              </a:defRPr>
            </a:pPr>
            <a:r>
              <a:t>    Note: Source A is most recent official doc. B may be outdated. C is marketing material.</a:t>
            </a:r>
          </a:p>
          <a:p>
            <a:pPr>
              <a:spcAft>
                <a:spcPts val="480"/>
              </a:spcAft>
              <a:defRPr sz="1200" b="0">
                <a:solidFill>
                  <a:srgbClr val="E67E22"/>
                </a:solidFill>
                <a:latin typeface="Courier New"/>
              </a:defRPr>
            </a:pPr>
            <a:r>
              <a:t>    RECOMMENDATION: Verify with engineering team before relying on any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94960"/>
            <a:ext cx="11064240" cy="128016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Three Rules for Conflicting Information: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t>1. KEEP all sources -- don't silently discard the ones that disagree with your preferred answer</a:t>
            </a:r>
          </a:p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alibri"/>
              </a:defRPr>
            </a:pPr>
            <a:r>
              <a:t>2. INCLUDE publication dates -- newer sources are generally more reliable, but not always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t>3. FLAG for human review -- conflicting sources = contested finding. Let the human decide.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Exam Prep -- Key Questions to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Can you answer these from your Module 5 study?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64008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How do you keep critical details (IDs, dates, amounts) alive across a long session?</a:t>
            </a:r>
            <a:br/>
            <a:r>
              <a:t>What is a case-facts block and where do you place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64008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231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What are the 3 mandatory escalation triggers? What are the 5 components of a</a:t>
            </a:r>
            <a:br/>
            <a:r>
              <a:t>structured handoff?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39"/>
            <a:ext cx="64008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39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How do you propagate errors in multi-agent systems? What's the difference between</a:t>
            </a:r>
            <a:br/>
            <a:r>
              <a:t>a TIMEOUT (retry-worthy) and NOT_FOUND (valid result)?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64008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605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What keeps a large-codebase Claude session from degrading? Name the 4 tools and</a:t>
            </a:r>
            <a:br/>
            <a:r>
              <a:t>explain when to use /compact vs scratchpad 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640080" cy="457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292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Why is per-field evaluation better than aggregate accuracy? How does confidence-based</a:t>
            </a:r>
            <a:br/>
            <a:r>
              <a:t>routing work (auto-approve vs spot-check vs mandatory review)?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897880"/>
            <a:ext cx="640080" cy="45720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8978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What 4 elements should every source mapping include? When sources conflict,</a:t>
            </a:r>
            <a:br/>
            <a:r>
              <a:t>what do you do (and what do you NOT do)?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5 -- Exam Cheat Sheet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4008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97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Context Preservation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17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Case facts block at START/END of context. Trim tool outputs to relevant fields only. Compare before vs after.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640080" cy="5029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Escalation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317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3 triggers: user asks, policy gap, ambiguity. Structured handoff: WHAT, TRIED, OPTIONS, IMPACT, NEED.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64008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Error Propagation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Structured errors with type + partial_results + alternatives. Retry locally, escalate only unresolved. TIMEOUT != NOT_FOUND.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64008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0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Large Codebase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605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Scratchpad files for notes. Subagents for isolated tasks. /compact before overflow. State export for crash recovery.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640080" cy="502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54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Human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74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Per-field accuracy, not aggregate. Confidence routing: &gt;0.9 auto, 0.7-0.9 sample, &lt;0.7 human. Stratified sampling.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669280"/>
            <a:ext cx="640080" cy="50292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669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Provenance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989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Map claims to source (URL, doc name, excerpt, date). Keep ALL conflicting sources. Flag contested vs confirmed.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492240"/>
            <a:ext cx="11247120" cy="27432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  <a:latin typeface="Calibri"/>
              </a:defRPr>
            </a:pPr>
            <a:r>
              <a:t>Remember: Case facts = persist data | Escalate = don't guess | Structured errors = type + alternatives | Provenance = source everything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3487</Words>
  <Application>Microsoft Macintosh PowerPoint</Application>
  <PresentationFormat>Widescreen</PresentationFormat>
  <Paragraphs>447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Sakate</cp:lastModifiedBy>
  <cp:revision>7</cp:revision>
  <dcterms:created xsi:type="dcterms:W3CDTF">2013-01-27T09:14:16Z</dcterms:created>
  <dcterms:modified xsi:type="dcterms:W3CDTF">2026-07-28T16:10:06Z</dcterms:modified>
  <cp:category/>
</cp:coreProperties>
</file>