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23"/>
    <p:restoredTop sz="94650"/>
  </p:normalViewPr>
  <p:slideViewPr>
    <p:cSldViewPr snapToGrid="0" snapToObjects="1">
      <p:cViewPr varScale="1">
        <p:scale>
          <a:sx n="157" d="100"/>
          <a:sy n="157" d="100"/>
        </p:scale>
        <p:origin x="23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CCA-F 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498DB"/>
                </a:solidFill>
                <a:latin typeface="Calibri"/>
              </a:defRPr>
            </a:pPr>
            <a:r>
              <a:t>Claude Code Configuration &amp; Workflows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3657600"/>
            <a:ext cx="3931920" cy="36576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F8C8D"/>
                </a:solidFill>
                <a:latin typeface="Calibri"/>
              </a:defRPr>
            </a:pPr>
            <a:r>
              <a:t>Claude Certified Architect -- 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F8C8D"/>
                </a:solidFill>
                <a:latin typeface="Calibri"/>
              </a:defRPr>
            </a:pPr>
            <a:r>
              <a:t>Quick Reference Study Deck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486400"/>
            <a:ext cx="1783080" cy="8229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S1: CLAUDE.md</a:t>
            </a:r>
            <a:br/>
            <a:r>
              <a:t>Hierarchy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5486400"/>
            <a:ext cx="1783080" cy="82296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S2: Slash Commands</a:t>
            </a:r>
            <a:br/>
            <a:r>
              <a:t>&amp; Skills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5486400"/>
            <a:ext cx="1783080" cy="8229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S3: Path-Specific</a:t>
            </a:r>
            <a:br/>
            <a:r>
              <a:t>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5486400"/>
            <a:ext cx="1783080" cy="8229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S4: Plan Mode vs</a:t>
            </a:r>
            <a:br/>
            <a:r>
              <a:t>Direct Execution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5486400"/>
            <a:ext cx="1783080" cy="8229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S5: Iterative</a:t>
            </a:r>
            <a:br/>
            <a:r>
              <a:t>Refinement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95560" y="5486400"/>
            <a:ext cx="1783080" cy="82296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S6: CI/CD</a:t>
            </a:r>
            <a:br/>
            <a:r>
              <a:t>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Module 3 -- Learning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828800" cy="7315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Self-Paced</a:t>
            </a:r>
            <a:br/>
            <a:r>
              <a:t>Learning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60320" y="1554480"/>
            <a:ext cx="45720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017520" y="1371600"/>
            <a:ext cx="1828800" cy="7315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Labs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46320" y="1554480"/>
            <a:ext cx="45720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03520" y="1371600"/>
            <a:ext cx="1828800" cy="7315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Instructor</a:t>
            </a:r>
            <a:br/>
            <a:r>
              <a:t>Led Session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32320" y="1554480"/>
            <a:ext cx="45720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89520" y="1371600"/>
            <a:ext cx="1828800" cy="7315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Assessment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418320" y="1554480"/>
            <a:ext cx="45720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75520" y="1371600"/>
            <a:ext cx="1828800" cy="7315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Completion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Builds on Courses from Modules 1-2: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108960"/>
            <a:ext cx="411480" cy="41148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108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/>
              </a:defRPr>
            </a:pPr>
            <a:r>
              <a:t>Claude Code 101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383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Calibri"/>
              </a:defRPr>
            </a:pPr>
            <a:r>
              <a:t>CLAUDE.md, skills, explore-plan-code-commit workflow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749039"/>
            <a:ext cx="411480" cy="41148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7490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/>
              </a:defRPr>
            </a:pPr>
            <a:r>
              <a:t>Claude Code in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2335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Calibri"/>
              </a:defRPr>
            </a:pPr>
            <a:r>
              <a:t>Custom commands, making changes, GitHub integration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4389120"/>
            <a:ext cx="411480" cy="41148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389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/>
              </a:defRPr>
            </a:pPr>
            <a:r>
              <a:t>Intro to Agent Skills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Calibri"/>
              </a:defRPr>
            </a:pPr>
            <a:r>
              <a:t>Creating skills, multi-file skills, sharing skills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6 Key Sections: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3108960"/>
            <a:ext cx="548640" cy="3657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CLAUDE.md Config Hierarchy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3108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45 min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3657600"/>
            <a:ext cx="548640" cy="36576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Custom Slash Commands &amp; Skills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3657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60 min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4206240"/>
            <a:ext cx="548640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Path-Specific Rules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4206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45 min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4754879"/>
            <a:ext cx="54864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47548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Plan Mode vs Direct Execution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47548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45 min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0" y="5303520"/>
            <a:ext cx="548640" cy="3657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Iterative Refinement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303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45 min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0" y="5852160"/>
            <a:ext cx="548640" cy="36576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5852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CI/CD Integration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852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45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4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3600" b="1">
                <a:solidFill>
                  <a:srgbClr val="E74C3C"/>
                </a:solidFill>
              </a:defRPr>
            </a:pPr>
            <a:r>
              <a:t>S1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S1: CLAUDE.md Configuration</a:t>
            </a:r>
            <a:br/>
            <a:r>
              <a:t>Hierarchy &amp; Modularity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DDDD"/>
                </a:solidFill>
                <a:latin typeface="Calibri"/>
              </a:defRPr>
            </a:pPr>
            <a:r>
              <a:t>Three levels of config -- user, project, directory -- and how they stack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What is CLAUDE.md?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11064240" cy="137160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CLAUDE.md = Your instruction manual for Claude Code</a:t>
            </a:r>
          </a:p>
          <a:p>
            <a:pPr>
              <a:spcAft>
                <a:spcPts val="64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It tells Claude HOW to behave in your project: coding style, testing rules, repo conventions.</a:t>
            </a:r>
          </a:p>
          <a:p>
            <a:pPr>
              <a:spcAft>
                <a:spcPts val="64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Think of it like an employee handbook -- new team members read it to know the rules.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The 3-Level Configuration Hierarchy: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91840"/>
            <a:ext cx="3383280" cy="54864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USER 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9B59B6"/>
                </a:solidFill>
                <a:latin typeface="Courier New"/>
              </a:defRPr>
            </a:pPr>
            <a:r>
              <a:t>~/.claude/CLAUDE.md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97680"/>
            <a:ext cx="3383280" cy="118872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t>Your personal preferences</a:t>
            </a:r>
            <a:br/>
            <a:r>
              <a:t>across ALL projects</a:t>
            </a:r>
            <a:br/>
            <a:r>
              <a:t>(code style, tone, habits)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577840"/>
            <a:ext cx="2468880" cy="3657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BROADEST scope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291840"/>
            <a:ext cx="3383280" cy="5486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PROJECT 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931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498DB"/>
                </a:solidFill>
                <a:latin typeface="Courier New"/>
              </a:defRPr>
            </a:pPr>
            <a:r>
              <a:t>.claude/CLAUDE.md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4297680"/>
            <a:ext cx="3383280" cy="118872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0" y="43891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t>Project-wide rules shared</a:t>
            </a:r>
            <a:br/>
            <a:r>
              <a:t>via Git with the team</a:t>
            </a:r>
            <a:br/>
            <a:r>
              <a:t>(testing, naming, CI rules)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5577840"/>
            <a:ext cx="2468880" cy="36576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Shared via Git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291840"/>
            <a:ext cx="3383280" cy="5486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DIRECTORY LEVEL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931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CC71"/>
                </a:solidFill>
                <a:latin typeface="Courier New"/>
              </a:defRPr>
            </a:pPr>
            <a:r>
              <a:t>src/api/CLAUDE.md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4297680"/>
            <a:ext cx="3383280" cy="118872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0" y="43891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t>Folder-specific overrides</a:t>
            </a:r>
            <a:br/>
            <a:r>
              <a:t>for specialized contexts</a:t>
            </a:r>
            <a:br/>
            <a:r>
              <a:t>(API rules, test patterns)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0" y="5577840"/>
            <a:ext cx="2468880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MOST SPECIFIC wins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6126480"/>
            <a:ext cx="11064240" cy="548640"/>
          </a:xfrm>
          <a:prstGeom prst="roundRect">
            <a:avLst/>
          </a:prstGeom>
          <a:solidFill>
            <a:srgbClr val="FAEBEB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61447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  <a:latin typeface="Calibri"/>
              </a:defRPr>
            </a:pPr>
            <a:r>
              <a:t>KEY: More specific level WINS! Directory &gt; Project &gt; User. Like CSS specificity -- closest rule overrides.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Real-Life Analogy: Company Dress Code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11064240" cy="530352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98DB"/>
                </a:solidFill>
                <a:latin typeface="Calibri"/>
              </a:defRPr>
            </a:pPr>
            <a:r>
              <a:t>Imagine a Company with a 3-Level Dress Code: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058400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C3E50"/>
                </a:solidFill>
                <a:latin typeface="Calibri"/>
              </a:defRPr>
            </a:pPr>
            <a:endParaRPr sz="1200" dirty="0"/>
          </a:p>
          <a:p>
            <a:pPr>
              <a:spcAft>
                <a:spcPts val="600"/>
              </a:spcAft>
              <a:defRPr sz="1500" b="1">
                <a:solidFill>
                  <a:srgbClr val="9B59B6"/>
                </a:solidFill>
                <a:latin typeface="Calibri"/>
              </a:defRPr>
            </a:pPr>
            <a:r>
              <a:rPr sz="1200" dirty="0"/>
              <a:t>Level 1 -- YOUR Preference (= User </a:t>
            </a:r>
            <a:r>
              <a:rPr sz="1200" dirty="0" err="1"/>
              <a:t>CLAUDE.md</a:t>
            </a:r>
            <a:r>
              <a:rPr sz="1200" dirty="0"/>
              <a:t>: ~/.</a:t>
            </a:r>
            <a:r>
              <a:rPr sz="1200" dirty="0" err="1"/>
              <a:t>claude</a:t>
            </a:r>
            <a:r>
              <a:rPr sz="1200" dirty="0"/>
              <a:t>/</a:t>
            </a:r>
            <a:r>
              <a:rPr sz="1200" dirty="0" err="1"/>
              <a:t>CLAUDE.md</a:t>
            </a:r>
            <a:r>
              <a:rPr sz="1200" dirty="0"/>
              <a:t>):</a:t>
            </a:r>
          </a:p>
          <a:p>
            <a:pPr>
              <a:spcAft>
                <a:spcPts val="600"/>
              </a:spcAft>
              <a:defRPr sz="1500" b="0">
                <a:solidFill>
                  <a:srgbClr val="7F8C8D"/>
                </a:solidFill>
                <a:latin typeface="Calibri"/>
              </a:defRPr>
            </a:pPr>
            <a:r>
              <a:rPr sz="1200" dirty="0"/>
              <a:t>  You personally prefer wearing sneakers to work every day.</a:t>
            </a:r>
          </a:p>
          <a:p>
            <a:pPr>
              <a:spcAft>
                <a:spcPts val="600"/>
              </a:spcAft>
              <a:defRPr sz="1500" b="0">
                <a:solidFill>
                  <a:srgbClr val="2C3E50"/>
                </a:solidFill>
                <a:latin typeface="Calibri"/>
              </a:defRPr>
            </a:pPr>
            <a:endParaRPr sz="1200" dirty="0"/>
          </a:p>
          <a:p>
            <a:pPr>
              <a:spcAft>
                <a:spcPts val="600"/>
              </a:spcAft>
              <a:defRPr sz="1500" b="1">
                <a:solidFill>
                  <a:srgbClr val="3498DB"/>
                </a:solidFill>
                <a:latin typeface="Calibri"/>
              </a:defRPr>
            </a:pPr>
            <a:r>
              <a:rPr sz="1200" dirty="0"/>
              <a:t>Level 2 -- COMPANY Policy (= Project </a:t>
            </a:r>
            <a:r>
              <a:rPr sz="1200" dirty="0" err="1"/>
              <a:t>CLAUDE.md</a:t>
            </a:r>
            <a:r>
              <a:rPr sz="1200" dirty="0"/>
              <a:t>: .</a:t>
            </a:r>
            <a:r>
              <a:rPr sz="1200" dirty="0" err="1"/>
              <a:t>claude</a:t>
            </a:r>
            <a:r>
              <a:rPr sz="1200" dirty="0"/>
              <a:t>/</a:t>
            </a:r>
            <a:r>
              <a:rPr sz="1200" dirty="0" err="1"/>
              <a:t>CLAUDE.md</a:t>
            </a:r>
            <a:r>
              <a:rPr sz="1200" dirty="0"/>
              <a:t>):</a:t>
            </a:r>
          </a:p>
          <a:p>
            <a:pPr>
              <a:spcAft>
                <a:spcPts val="600"/>
              </a:spcAft>
              <a:defRPr sz="1500" b="0">
                <a:solidFill>
                  <a:srgbClr val="7F8C8D"/>
                </a:solidFill>
                <a:latin typeface="Calibri"/>
              </a:defRPr>
            </a:pPr>
            <a:r>
              <a:rPr sz="1200" dirty="0"/>
              <a:t>  The company says: "Business casual. No sneakers, wear dress shoes."</a:t>
            </a:r>
          </a:p>
          <a:p>
            <a:pPr>
              <a:spcAft>
                <a:spcPts val="600"/>
              </a:spcAft>
              <a:defRPr sz="1500" b="0">
                <a:solidFill>
                  <a:srgbClr val="3498DB"/>
                </a:solidFill>
                <a:latin typeface="Calibri"/>
              </a:defRPr>
            </a:pPr>
            <a:r>
              <a:rPr sz="1200" dirty="0"/>
              <a:t>  This OVERRIDES your personal preference for the office.</a:t>
            </a:r>
          </a:p>
          <a:p>
            <a:pPr>
              <a:spcAft>
                <a:spcPts val="600"/>
              </a:spcAft>
              <a:defRPr sz="1500" b="0">
                <a:solidFill>
                  <a:srgbClr val="2C3E50"/>
                </a:solidFill>
                <a:latin typeface="Calibri"/>
              </a:defRPr>
            </a:pPr>
            <a:endParaRPr sz="1200" dirty="0"/>
          </a:p>
          <a:p>
            <a:pPr>
              <a:spcAft>
                <a:spcPts val="600"/>
              </a:spcAft>
              <a:defRPr sz="1500" b="1">
                <a:solidFill>
                  <a:srgbClr val="2ECC71"/>
                </a:solidFill>
                <a:latin typeface="Calibri"/>
              </a:defRPr>
            </a:pPr>
            <a:r>
              <a:rPr sz="1200" dirty="0"/>
              <a:t>Level 3 -- DEPARTMENT Rule (= Directory </a:t>
            </a:r>
            <a:r>
              <a:rPr sz="1200" dirty="0" err="1"/>
              <a:t>CLAUDE.md</a:t>
            </a:r>
            <a:r>
              <a:rPr sz="1200" dirty="0"/>
              <a:t>: </a:t>
            </a:r>
            <a:r>
              <a:rPr sz="1200" dirty="0" err="1"/>
              <a:t>src</a:t>
            </a:r>
            <a:r>
              <a:rPr sz="1200" dirty="0"/>
              <a:t>/</a:t>
            </a:r>
            <a:r>
              <a:rPr sz="1200" dirty="0" err="1"/>
              <a:t>api</a:t>
            </a:r>
            <a:r>
              <a:rPr sz="1200" dirty="0"/>
              <a:t>/</a:t>
            </a:r>
            <a:r>
              <a:rPr sz="1200" dirty="0" err="1"/>
              <a:t>CLAUDE.md</a:t>
            </a:r>
            <a:r>
              <a:rPr sz="1200" dirty="0"/>
              <a:t>):</a:t>
            </a:r>
          </a:p>
          <a:p>
            <a:pPr>
              <a:spcAft>
                <a:spcPts val="600"/>
              </a:spcAft>
              <a:defRPr sz="1500" b="0">
                <a:solidFill>
                  <a:srgbClr val="7F8C8D"/>
                </a:solidFill>
                <a:latin typeface="Calibri"/>
              </a:defRPr>
            </a:pPr>
            <a:r>
              <a:rPr sz="1200" dirty="0"/>
              <a:t>  The IT department says: "Casual Friday -- sneakers are OK on Fridays."</a:t>
            </a:r>
          </a:p>
          <a:p>
            <a:pPr>
              <a:spcAft>
                <a:spcPts val="600"/>
              </a:spcAft>
              <a:defRPr sz="1500" b="0">
                <a:solidFill>
                  <a:srgbClr val="2ECC71"/>
                </a:solidFill>
                <a:latin typeface="Calibri"/>
              </a:defRPr>
            </a:pPr>
            <a:r>
              <a:rPr sz="1200" dirty="0"/>
              <a:t>  This OVERRIDES the company policy, but ONLY in the IT department.</a:t>
            </a:r>
          </a:p>
          <a:p>
            <a:pPr>
              <a:spcAft>
                <a:spcPts val="600"/>
              </a:spcAft>
              <a:defRPr sz="1500" b="0">
                <a:solidFill>
                  <a:srgbClr val="2C3E50"/>
                </a:solidFill>
                <a:latin typeface="Calibri"/>
              </a:defRPr>
            </a:pPr>
            <a:endParaRPr sz="1200" dirty="0"/>
          </a:p>
          <a:p>
            <a:pPr>
              <a:spcAft>
                <a:spcPts val="600"/>
              </a:spcAft>
              <a:defRPr sz="1500" b="1">
                <a:solidFill>
                  <a:srgbClr val="E67E22"/>
                </a:solidFill>
                <a:latin typeface="Calibri"/>
              </a:defRPr>
            </a:pPr>
            <a:r>
              <a:rPr sz="1200" dirty="0"/>
              <a:t>Result: On Friday in IT, you wear sneakers. On Monday in IT, dress shoes.</a:t>
            </a:r>
          </a:p>
          <a:p>
            <a:pPr>
              <a:spcAft>
                <a:spcPts val="600"/>
              </a:spcAft>
              <a:defRPr sz="1500" b="1">
                <a:solidFill>
                  <a:srgbClr val="E67E22"/>
                </a:solidFill>
                <a:latin typeface="Calibri"/>
              </a:defRPr>
            </a:pPr>
            <a:r>
              <a:rPr sz="1200" dirty="0"/>
              <a:t>In Marketing on any day, dress shoes. Same hierarchy, different contexts!</a:t>
            </a:r>
          </a:p>
          <a:p>
            <a:pPr>
              <a:spcAft>
                <a:spcPts val="600"/>
              </a:spcAft>
              <a:defRPr sz="1500" b="0">
                <a:solidFill>
                  <a:srgbClr val="2C3E50"/>
                </a:solidFill>
                <a:latin typeface="Calibri"/>
              </a:defRPr>
            </a:pPr>
            <a:endParaRPr sz="1200" dirty="0"/>
          </a:p>
          <a:p>
            <a:pPr>
              <a:spcAft>
                <a:spcPts val="600"/>
              </a:spcAft>
              <a:defRPr sz="1500" b="1">
                <a:solidFill>
                  <a:srgbClr val="2C3E50"/>
                </a:solidFill>
                <a:latin typeface="Calibri"/>
              </a:defRPr>
            </a:pPr>
            <a:r>
              <a:rPr sz="1200" dirty="0"/>
              <a:t>This is exactly how </a:t>
            </a:r>
            <a:r>
              <a:rPr sz="1200" dirty="0" err="1"/>
              <a:t>CLAUDE.md</a:t>
            </a:r>
            <a:r>
              <a:rPr sz="1200" dirty="0"/>
              <a:t> works -- each level can override the one above it,</a:t>
            </a:r>
          </a:p>
          <a:p>
            <a:pPr>
              <a:spcAft>
                <a:spcPts val="600"/>
              </a:spcAft>
              <a:defRPr sz="1500" b="1">
                <a:solidFill>
                  <a:srgbClr val="2C3E50"/>
                </a:solidFill>
                <a:latin typeface="Calibri"/>
              </a:defRPr>
            </a:pPr>
            <a:r>
              <a:rPr sz="1200" dirty="0"/>
              <a:t>but ONLY for its scope. More specific = higher priority.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@import -- Splitting Config into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Don't put everything in one giant CLAUDE.md. Use @import to split into focused modules!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03520" cy="2743200"/>
          </a:xfrm>
          <a:prstGeom prst="roundRect">
            <a:avLst/>
          </a:prstGeom>
          <a:solidFill>
            <a:srgbClr val="FAEBEB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BAD: One Giant CLAUDE.md (200+ lines)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4846320" cy="2828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 b="1">
                <a:solidFill>
                  <a:srgbClr val="2C3E50"/>
                </a:solidFill>
                <a:latin typeface="Courier New"/>
              </a:defRPr>
            </a:pPr>
            <a:r>
              <a:rPr sz="1050" dirty="0"/>
              <a:t># </a:t>
            </a:r>
            <a:r>
              <a:rPr sz="1050" dirty="0" err="1"/>
              <a:t>CLAUDE.md</a:t>
            </a:r>
            <a:endParaRPr sz="1050" dirty="0"/>
          </a:p>
          <a:p>
            <a:pPr>
              <a:spcAft>
                <a:spcPts val="480"/>
              </a:spcAft>
              <a:defRPr sz="1200" b="0">
                <a:solidFill>
                  <a:srgbClr val="7F8C8D"/>
                </a:solidFill>
                <a:latin typeface="Courier New"/>
              </a:defRPr>
            </a:pPr>
            <a:r>
              <a:rPr sz="1050" dirty="0"/>
              <a:t>## Coding Style</a:t>
            </a:r>
          </a:p>
          <a:p>
            <a:pPr>
              <a:spcAft>
                <a:spcPts val="480"/>
              </a:spcAft>
              <a:defRPr sz="1200" b="0">
                <a:solidFill>
                  <a:srgbClr val="7F8C8D"/>
                </a:solidFill>
                <a:latin typeface="Courier New"/>
              </a:defRPr>
            </a:pPr>
            <a:r>
              <a:rPr sz="1050" dirty="0"/>
              <a:t>Use TypeScript strict mode...</a:t>
            </a:r>
          </a:p>
          <a:p>
            <a:pPr>
              <a:spcAft>
                <a:spcPts val="480"/>
              </a:spcAft>
              <a:defRPr sz="1200" b="0">
                <a:solidFill>
                  <a:srgbClr val="7F8C8D"/>
                </a:solidFill>
                <a:latin typeface="Courier New"/>
              </a:defRPr>
            </a:pPr>
            <a:r>
              <a:rPr sz="1050" dirty="0"/>
              <a:t>## Testing Rules</a:t>
            </a:r>
          </a:p>
          <a:p>
            <a:pPr>
              <a:spcAft>
                <a:spcPts val="480"/>
              </a:spcAft>
              <a:defRPr sz="1200" b="0">
                <a:solidFill>
                  <a:srgbClr val="7F8C8D"/>
                </a:solidFill>
                <a:latin typeface="Courier New"/>
              </a:defRPr>
            </a:pPr>
            <a:r>
              <a:rPr sz="1050" dirty="0"/>
              <a:t>Always write unit tests...</a:t>
            </a:r>
          </a:p>
          <a:p>
            <a:pPr>
              <a:spcAft>
                <a:spcPts val="480"/>
              </a:spcAft>
              <a:defRPr sz="1200" b="0">
                <a:solidFill>
                  <a:srgbClr val="7F8C8D"/>
                </a:solidFill>
                <a:latin typeface="Courier New"/>
              </a:defRPr>
            </a:pPr>
            <a:r>
              <a:rPr sz="1050" dirty="0"/>
              <a:t>## API Conventions</a:t>
            </a:r>
          </a:p>
          <a:p>
            <a:pPr>
              <a:spcAft>
                <a:spcPts val="480"/>
              </a:spcAft>
              <a:defRPr sz="1200" b="0">
                <a:solidFill>
                  <a:srgbClr val="7F8C8D"/>
                </a:solidFill>
                <a:latin typeface="Courier New"/>
              </a:defRPr>
            </a:pPr>
            <a:r>
              <a:rPr sz="1050" dirty="0"/>
              <a:t>RESTful with </a:t>
            </a:r>
            <a:r>
              <a:rPr sz="1050" dirty="0" err="1"/>
              <a:t>snake_case</a:t>
            </a:r>
            <a:r>
              <a:rPr sz="1050" dirty="0"/>
              <a:t>...</a:t>
            </a:r>
          </a:p>
          <a:p>
            <a:pPr>
              <a:spcAft>
                <a:spcPts val="480"/>
              </a:spcAft>
              <a:defRPr sz="1200" b="0">
                <a:solidFill>
                  <a:srgbClr val="7F8C8D"/>
                </a:solidFill>
                <a:latin typeface="Courier New"/>
              </a:defRPr>
            </a:pPr>
            <a:r>
              <a:rPr sz="1050" dirty="0"/>
              <a:t>## Security Rules</a:t>
            </a:r>
          </a:p>
          <a:p>
            <a:pPr>
              <a:spcAft>
                <a:spcPts val="480"/>
              </a:spcAft>
              <a:defRPr sz="1200" b="0">
                <a:solidFill>
                  <a:srgbClr val="7F8C8D"/>
                </a:solidFill>
                <a:latin typeface="Courier New"/>
              </a:defRPr>
            </a:pPr>
            <a:r>
              <a:rPr sz="1050" dirty="0"/>
              <a:t>Never log PII...</a:t>
            </a:r>
          </a:p>
          <a:p>
            <a:pPr>
              <a:spcAft>
                <a:spcPts val="480"/>
              </a:spcAft>
              <a:defRPr sz="1200" b="0">
                <a:solidFill>
                  <a:srgbClr val="E74C3C"/>
                </a:solidFill>
                <a:latin typeface="Courier New"/>
              </a:defRPr>
            </a:pPr>
            <a:r>
              <a:rPr sz="1050" dirty="0"/>
              <a:t>... 150 more lines ...</a:t>
            </a:r>
          </a:p>
          <a:p>
            <a:pPr>
              <a:spcAft>
                <a:spcPts val="480"/>
              </a:spcAft>
              <a:defRPr sz="1200" b="0">
                <a:solidFill>
                  <a:srgbClr val="2C3E50"/>
                </a:solidFill>
                <a:latin typeface="Courier New"/>
              </a:defRPr>
            </a:pPr>
            <a:endParaRPr sz="1050" dirty="0"/>
          </a:p>
          <a:p>
            <a:pPr>
              <a:spcAft>
                <a:spcPts val="480"/>
              </a:spcAft>
              <a:defRPr sz="1200" b="1">
                <a:solidFill>
                  <a:srgbClr val="E74C3C"/>
                </a:solidFill>
                <a:latin typeface="Courier New"/>
              </a:defRPr>
            </a:pPr>
            <a:r>
              <a:rPr sz="1050" dirty="0"/>
              <a:t>Hard to maintain, easy to lose track!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303520" cy="274320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GOOD: Modular with @import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 b="1">
                <a:solidFill>
                  <a:srgbClr val="2C3E50"/>
                </a:solidFill>
                <a:latin typeface="Courier New"/>
              </a:defRPr>
            </a:pPr>
            <a:r>
              <a:t># CLAUDE.md</a:t>
            </a:r>
          </a:p>
          <a:p>
            <a:pPr>
              <a:spcAft>
                <a:spcPts val="480"/>
              </a:spcAft>
              <a:defRPr sz="1200" b="0">
                <a:solidFill>
                  <a:srgbClr val="2ECC71"/>
                </a:solidFill>
                <a:latin typeface="Courier New"/>
              </a:defRPr>
            </a:pPr>
            <a:r>
              <a:t>@import ./rules/coding-style.md</a:t>
            </a:r>
          </a:p>
          <a:p>
            <a:pPr>
              <a:spcAft>
                <a:spcPts val="480"/>
              </a:spcAft>
              <a:defRPr sz="1200" b="0">
                <a:solidFill>
                  <a:srgbClr val="2ECC71"/>
                </a:solidFill>
                <a:latin typeface="Courier New"/>
              </a:defRPr>
            </a:pPr>
            <a:r>
              <a:t>@import ./rules/testing.md</a:t>
            </a:r>
          </a:p>
          <a:p>
            <a:pPr>
              <a:spcAft>
                <a:spcPts val="480"/>
              </a:spcAft>
              <a:defRPr sz="1200" b="0">
                <a:solidFill>
                  <a:srgbClr val="2ECC71"/>
                </a:solidFill>
                <a:latin typeface="Courier New"/>
              </a:defRPr>
            </a:pPr>
            <a:r>
              <a:t>@import ./rules/api-conventions.md</a:t>
            </a:r>
          </a:p>
          <a:p>
            <a:pPr>
              <a:spcAft>
                <a:spcPts val="480"/>
              </a:spcAft>
              <a:defRPr sz="1200" b="0">
                <a:solidFill>
                  <a:srgbClr val="2ECC71"/>
                </a:solidFill>
                <a:latin typeface="Courier New"/>
              </a:defRPr>
            </a:pPr>
            <a:r>
              <a:t>@import ./rules/security.md</a:t>
            </a:r>
          </a:p>
          <a:p>
            <a:pPr>
              <a:spcAft>
                <a:spcPts val="480"/>
              </a:spcAft>
              <a:defRPr sz="1200" b="0">
                <a:solidFill>
                  <a:srgbClr val="2C3E50"/>
                </a:solidFill>
                <a:latin typeface="Courier New"/>
              </a:defRPr>
            </a:pPr>
            <a:endParaRPr/>
          </a:p>
          <a:p>
            <a:pPr>
              <a:spcAft>
                <a:spcPts val="480"/>
              </a:spcAft>
              <a:defRPr sz="1200" b="1">
                <a:solidFill>
                  <a:srgbClr val="2ECC71"/>
                </a:solidFill>
                <a:latin typeface="Courier New"/>
              </a:defRPr>
            </a:pPr>
            <a:r>
              <a:t>Each file is focused &amp; short!</a:t>
            </a:r>
          </a:p>
          <a:p>
            <a:pPr>
              <a:spcAft>
                <a:spcPts val="480"/>
              </a:spcAft>
              <a:defRPr sz="1200" b="1">
                <a:solidFill>
                  <a:srgbClr val="2ECC71"/>
                </a:solidFill>
                <a:latin typeface="Courier New"/>
              </a:defRPr>
            </a:pPr>
            <a:r>
              <a:t>Easy to review in PRs!</a:t>
            </a:r>
          </a:p>
          <a:p>
            <a:pPr>
              <a:spcAft>
                <a:spcPts val="480"/>
              </a:spcAft>
              <a:defRPr sz="1200" b="1">
                <a:solidFill>
                  <a:srgbClr val="2ECC71"/>
                </a:solidFill>
                <a:latin typeface="Courier New"/>
              </a:defRPr>
            </a:pPr>
            <a:r>
              <a:t>Teams own their section!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54880"/>
            <a:ext cx="11064240" cy="1828800"/>
          </a:xfrm>
          <a:prstGeom prst="roundRect">
            <a:avLst/>
          </a:prstGeom>
          <a:solidFill>
            <a:srgbClr val="FDF2E9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22"/>
                </a:solidFill>
                <a:latin typeface="Calibri"/>
              </a:defRPr>
            </a:pPr>
            <a:r>
              <a:t>Debugging: Use /memory to see what Claude loaded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12080"/>
            <a:ext cx="10515600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rPr dirty="0"/>
              <a:t>The /memory command shows ALL active </a:t>
            </a:r>
            <a:r>
              <a:rPr dirty="0" err="1"/>
              <a:t>CLAUDE.md</a:t>
            </a:r>
            <a:r>
              <a:rPr dirty="0"/>
              <a:t> rules Claude is currently following.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rPr dirty="0"/>
              <a:t>Type /memory in Claude Code to verify your @import files loaded correctly.</a:t>
            </a:r>
          </a:p>
          <a:p>
            <a:pPr>
              <a:spcAft>
                <a:spcPts val="560"/>
              </a:spcAft>
              <a:defRPr sz="1400" b="1">
                <a:solidFill>
                  <a:srgbClr val="E74C3C"/>
                </a:solidFill>
                <a:latin typeface="Calibri"/>
              </a:defRPr>
            </a:pPr>
            <a:r>
              <a:rPr dirty="0"/>
              <a:t>If a rule isn't being followed, check /memory first -- it might not be loaded!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dirty="0"/>
              <a:t>Real-Life: Like a pilot's pre-flight checklist. Before takeoff, verify all systems loaded.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98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3600" b="1">
                <a:solidFill>
                  <a:srgbClr val="3498DB"/>
                </a:solidFill>
              </a:defRPr>
            </a:pPr>
            <a:r>
              <a:t>S2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S2: Custom Slash Commands</a:t>
            </a:r>
            <a:br/>
            <a:r>
              <a:t>&amp;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DDDD"/>
                </a:solidFill>
                <a:latin typeface="Calibri"/>
              </a:defRPr>
            </a:pPr>
            <a:r>
              <a:t>Reusable commands and packaged workflows for consistent automation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Three Ways to Configure Claude Code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/>
              </a:defRPr>
            </a:pPr>
            <a:r>
              <a:t>Claude Code has 3 mechanisms -- each serves a different purpose: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383280" cy="5486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SLASH COMMANDS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Calibri"/>
              </a:defRPr>
            </a:pPr>
            <a:r>
              <a:t>Triggered manually</a:t>
            </a:r>
            <a:br/>
            <a:r>
              <a:t>with /command-name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34640"/>
            <a:ext cx="3383280" cy="13716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Run your team's code review</a:t>
            </a:r>
            <a:br/>
            <a:r>
              <a:t>Generate boilerplate</a:t>
            </a:r>
            <a:br/>
            <a:r>
              <a:t>Deploy to staging</a:t>
            </a:r>
            <a:br/>
            <a:r>
              <a:t>Run standard checklist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389120"/>
            <a:ext cx="3383280" cy="91440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98DB"/>
                </a:solidFill>
                <a:latin typeface="Calibri"/>
              </a:defRPr>
            </a:pPr>
            <a:r>
              <a:t>Like KEYBOARD</a:t>
            </a:r>
            <a:br/>
            <a:r>
              <a:t>SHORTCUTS</a:t>
            </a:r>
            <a:br/>
            <a:r>
              <a:t>(Ctrl+S = Save)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486400"/>
            <a:ext cx="3383280" cy="6400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5504688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Courier New"/>
              </a:defRPr>
            </a:pPr>
            <a:r>
              <a:t>.claude/commands/ (project)</a:t>
            </a:r>
            <a:br/>
            <a:r>
              <a:t>~/.claude/commands/ (personal)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645920"/>
            <a:ext cx="3383280" cy="5486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Calibri"/>
              </a:defRPr>
            </a:pPr>
            <a:r>
              <a:t>On-demand via</a:t>
            </a:r>
            <a:br/>
            <a:r>
              <a:t>/skill-name invocation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834640"/>
            <a:ext cx="3383280" cy="13716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0" y="29260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Generate API docs</a:t>
            </a:r>
            <a:br/>
            <a:r>
              <a:t>Scaffold a new service</a:t>
            </a:r>
            <a:br/>
            <a:r>
              <a:t>Run migration workflow</a:t>
            </a:r>
            <a:br/>
            <a:r>
              <a:t>Complex multi-step tasks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4389120"/>
            <a:ext cx="3383280" cy="91440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80560" y="44348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Like a RECIPE BOOK</a:t>
            </a:r>
            <a:br/>
            <a:r>
              <a:t>(follow steps to</a:t>
            </a:r>
            <a:br/>
            <a:r>
              <a:t>cook a dish)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5486400"/>
            <a:ext cx="3383280" cy="6400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0560" y="5504688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Courier New"/>
              </a:defRPr>
            </a:pPr>
            <a:r>
              <a:t>.claude/skills/SKILL.md</a:t>
            </a:r>
            <a:br/>
            <a:r>
              <a:t>(with frontmatter config)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645920"/>
            <a:ext cx="3383280" cy="5486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CLAUDE.md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Calibri"/>
              </a:defRPr>
            </a:pPr>
            <a:r>
              <a:t>Always-on,</a:t>
            </a:r>
            <a:br/>
            <a:r>
              <a:t>auto-loaded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2834640"/>
            <a:ext cx="3383280" cy="13716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0" y="29260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Coding style enforcement</a:t>
            </a:r>
            <a:br/>
            <a:r>
              <a:t>Naming conventions</a:t>
            </a:r>
            <a:br/>
            <a:r>
              <a:t>Security policies</a:t>
            </a:r>
            <a:br/>
            <a:r>
              <a:t>Testing requirements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4389120"/>
            <a:ext cx="3383280" cy="91440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40" y="44348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67E22"/>
                </a:solidFill>
                <a:latin typeface="Calibri"/>
              </a:defRPr>
            </a:pPr>
            <a:r>
              <a:t>Like TRAFFIC LAWS</a:t>
            </a:r>
            <a:br/>
            <a:r>
              <a:t>(always enforced,</a:t>
            </a:r>
            <a:br/>
            <a:r>
              <a:t>no opt-in needed)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5486400"/>
            <a:ext cx="3383280" cy="6400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21040" y="5504688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Courier New"/>
              </a:defRPr>
            </a:pPr>
            <a:r>
              <a:t>CLAUDE.md files</a:t>
            </a:r>
            <a:br/>
            <a:r>
              <a:t>(user/project/directory)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6309360"/>
            <a:ext cx="11064240" cy="457200"/>
          </a:xfrm>
          <a:prstGeom prst="roundRect">
            <a:avLst/>
          </a:prstGeom>
          <a:solidFill>
            <a:srgbClr val="FAEBEB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6309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EXAM TIP: Slash commands = on-demand manual. Skills = packaged workflows. CLAUDE.md rules = always-on automatic.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Creating Custom Slash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Slash commands are Markdown prompt files that live in a commands directory.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03520" cy="29260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7315" y="1737360"/>
            <a:ext cx="4846320" cy="293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ourier New"/>
              </a:defRPr>
            </a:pPr>
            <a:r>
              <a:rPr dirty="0"/>
              <a:t># .</a:t>
            </a:r>
            <a:r>
              <a:rPr dirty="0" err="1"/>
              <a:t>claude</a:t>
            </a:r>
            <a:r>
              <a:rPr dirty="0"/>
              <a:t>/commands/</a:t>
            </a:r>
            <a:r>
              <a:rPr dirty="0" err="1"/>
              <a:t>review.md</a:t>
            </a:r>
            <a:endParaRPr dirty="0"/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ourier New"/>
              </a:defRPr>
            </a:pPr>
            <a:r>
              <a:rPr dirty="0"/>
              <a:t># (shared via Git with team)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rPr dirty="0"/>
              <a:t>Review the current changes using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rPr dirty="0"/>
              <a:t>our team checklist:</a:t>
            </a:r>
          </a:p>
          <a:p>
            <a:pPr>
              <a:spcAft>
                <a:spcPts val="520"/>
              </a:spcAft>
              <a:defRPr sz="1300" b="0">
                <a:solidFill>
                  <a:srgbClr val="F0C674"/>
                </a:solidFill>
                <a:latin typeface="Courier New"/>
              </a:defRPr>
            </a:pPr>
            <a:r>
              <a:rPr dirty="0"/>
              <a:t>1. Check for security issues</a:t>
            </a:r>
          </a:p>
          <a:p>
            <a:pPr>
              <a:spcAft>
                <a:spcPts val="520"/>
              </a:spcAft>
              <a:defRPr sz="1300" b="0">
                <a:solidFill>
                  <a:srgbClr val="F0C674"/>
                </a:solidFill>
                <a:latin typeface="Courier New"/>
              </a:defRPr>
            </a:pPr>
            <a:r>
              <a:rPr dirty="0"/>
              <a:t>2. Verify test coverage &gt; 80%</a:t>
            </a:r>
          </a:p>
          <a:p>
            <a:pPr>
              <a:spcAft>
                <a:spcPts val="520"/>
              </a:spcAft>
              <a:defRPr sz="1300" b="0">
                <a:solidFill>
                  <a:srgbClr val="F0C674"/>
                </a:solidFill>
                <a:latin typeface="Courier New"/>
              </a:defRPr>
            </a:pPr>
            <a:r>
              <a:rPr dirty="0"/>
              <a:t>3. Check naming conventions</a:t>
            </a:r>
          </a:p>
          <a:p>
            <a:pPr>
              <a:spcAft>
                <a:spcPts val="520"/>
              </a:spcAft>
              <a:defRPr sz="1300" b="0">
                <a:solidFill>
                  <a:srgbClr val="F0C674"/>
                </a:solidFill>
                <a:latin typeface="Courier New"/>
              </a:defRPr>
            </a:pPr>
            <a:r>
              <a:rPr dirty="0"/>
              <a:t>4. Look for TODO/FIXME items</a:t>
            </a:r>
          </a:p>
          <a:p>
            <a:pPr>
              <a:spcAft>
                <a:spcPts val="520"/>
              </a:spcAft>
              <a:defRPr sz="1300" b="0">
                <a:solidFill>
                  <a:srgbClr val="F0C674"/>
                </a:solidFill>
                <a:latin typeface="Courier New"/>
              </a:defRPr>
            </a:pPr>
            <a:r>
              <a:rPr dirty="0"/>
              <a:t>5. Verify error handling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>
              <a:spcAft>
                <a:spcPts val="520"/>
              </a:spcAft>
              <a:defRPr sz="1300" b="1">
                <a:solidFill>
                  <a:srgbClr val="3498DB"/>
                </a:solidFill>
                <a:latin typeface="Courier New"/>
              </a:defRPr>
            </a:pPr>
            <a:r>
              <a:rPr dirty="0"/>
              <a:t>Usage: /review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1893" y="1743891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rPr dirty="0"/>
              <a:t>How Slash Commands Work: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57207" y="2414016"/>
            <a:ext cx="2286000" cy="36576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Project Commands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7207" y="27432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rPr dirty="0"/>
              <a:t>.</a:t>
            </a:r>
            <a:r>
              <a:rPr dirty="0" err="1"/>
              <a:t>claude</a:t>
            </a:r>
            <a:r>
              <a:rPr dirty="0"/>
              <a:t>/commands/*.md</a:t>
            </a:r>
            <a:br>
              <a:rPr dirty="0"/>
            </a:br>
            <a:r>
              <a:rPr dirty="0"/>
              <a:t>Shared via Git with your team</a:t>
            </a:r>
            <a:br>
              <a:rPr dirty="0"/>
            </a:br>
            <a:r>
              <a:rPr dirty="0"/>
              <a:t>Everyone gets the same commands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57207" y="3584448"/>
            <a:ext cx="2286000" cy="3657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Personal Commands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7207" y="39319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~/.claude/commands/*.md</a:t>
            </a:r>
            <a:br/>
            <a:r>
              <a:t>Only on YOUR machine</a:t>
            </a:r>
            <a:br/>
            <a:r>
              <a:t>Your private shortcuts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57207" y="4754880"/>
            <a:ext cx="228600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With Arguments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7207" y="51206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rPr dirty="0"/>
              <a:t>Use $ARGUMENTS placeholder</a:t>
            </a:r>
            <a:br>
              <a:rPr dirty="0"/>
            </a:br>
            <a:r>
              <a:rPr dirty="0"/>
              <a:t>in the .md file to accept input</a:t>
            </a:r>
            <a:br>
              <a:rPr dirty="0"/>
            </a:br>
            <a:r>
              <a:rPr dirty="0"/>
              <a:t>e.g., /review --strict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8833" y="5055326"/>
            <a:ext cx="6059533" cy="1645920"/>
          </a:xfrm>
          <a:prstGeom prst="roundRect">
            <a:avLst/>
          </a:prstGeom>
          <a:solidFill>
            <a:srgbClr val="FDF2E9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502920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Calibri"/>
              </a:defRPr>
            </a:pPr>
            <a:r>
              <a:rPr dirty="0"/>
              <a:t>Real-Life Analogy: Speed Dial on Your Phone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350" y="5421086"/>
            <a:ext cx="5610497" cy="1023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sz="1200" dirty="0"/>
              <a:t>Instead of typing a full phone number every time, you save contacts as speed dials:</a:t>
            </a:r>
          </a:p>
          <a:p>
            <a:pPr>
              <a:spcAft>
                <a:spcPts val="520"/>
              </a:spcAft>
              <a:defRPr sz="1300" b="0">
                <a:solidFill>
                  <a:srgbClr val="9B59B6"/>
                </a:solidFill>
                <a:latin typeface="Calibri"/>
              </a:defRPr>
            </a:pPr>
            <a:r>
              <a:rPr sz="1200" dirty="0"/>
              <a:t>  Press 1 = Call Mom (personal shortcut = ~/.</a:t>
            </a:r>
            <a:r>
              <a:rPr sz="1200" dirty="0" err="1"/>
              <a:t>claude</a:t>
            </a:r>
            <a:r>
              <a:rPr sz="1200" dirty="0"/>
              <a:t>/commands/)</a:t>
            </a:r>
          </a:p>
          <a:p>
            <a:pPr>
              <a:spcAft>
                <a:spcPts val="520"/>
              </a:spcAft>
              <a:defRPr sz="1300" b="0">
                <a:solidFill>
                  <a:srgbClr val="3498DB"/>
                </a:solidFill>
                <a:latin typeface="Calibri"/>
              </a:defRPr>
            </a:pPr>
            <a:r>
              <a:rPr sz="1200" dirty="0"/>
              <a:t>  Press 9 = Call IT Help Desk (company-wide shortcut = .</a:t>
            </a:r>
            <a:r>
              <a:rPr sz="1200" dirty="0" err="1"/>
              <a:t>claude</a:t>
            </a:r>
            <a:r>
              <a:rPr sz="1200" dirty="0"/>
              <a:t>/commands/)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alibri"/>
              </a:defRPr>
            </a:pPr>
            <a:r>
              <a:rPr sz="1200" dirty="0"/>
              <a:t>Slash commands work the same way -- save complex prompts as quick shortcuts!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Building Skills with SKILL.md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Skills are more powerful than slash commands -- they're packaged workflows with configuration.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0352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846320" cy="3760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ourier New"/>
              </a:defRPr>
            </a:pPr>
            <a:r>
              <a:rPr sz="1200" dirty="0"/>
              <a:t># .</a:t>
            </a:r>
            <a:r>
              <a:rPr sz="1200" dirty="0" err="1"/>
              <a:t>claude</a:t>
            </a:r>
            <a:r>
              <a:rPr sz="1200" dirty="0"/>
              <a:t>/skills/generate-docs/</a:t>
            </a:r>
            <a:r>
              <a:rPr sz="1200" dirty="0" err="1"/>
              <a:t>SKILL.md</a:t>
            </a:r>
            <a:endParaRPr sz="1200" dirty="0"/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rPr sz="1200" dirty="0"/>
              <a:t>---</a:t>
            </a:r>
          </a:p>
          <a:p>
            <a:pPr>
              <a:spcAft>
                <a:spcPts val="520"/>
              </a:spcAft>
              <a:defRPr sz="1300" b="0">
                <a:solidFill>
                  <a:srgbClr val="F0C674"/>
                </a:solidFill>
                <a:latin typeface="Courier New"/>
              </a:defRPr>
            </a:pPr>
            <a:r>
              <a:rPr sz="1200" dirty="0"/>
              <a:t>name: generate-docs</a:t>
            </a:r>
          </a:p>
          <a:p>
            <a:pPr>
              <a:spcAft>
                <a:spcPts val="520"/>
              </a:spcAft>
              <a:defRPr sz="1300" b="0">
                <a:solidFill>
                  <a:srgbClr val="F0C674"/>
                </a:solidFill>
                <a:latin typeface="Courier New"/>
              </a:defRPr>
            </a:pPr>
            <a:r>
              <a:rPr sz="1200" dirty="0"/>
              <a:t>description: Generate API documentation</a:t>
            </a:r>
          </a:p>
          <a:p>
            <a:pPr>
              <a:spcAft>
                <a:spcPts val="520"/>
              </a:spcAft>
              <a:defRPr sz="1300" b="0">
                <a:solidFill>
                  <a:srgbClr val="3498DB"/>
                </a:solidFill>
                <a:latin typeface="Courier New"/>
              </a:defRPr>
            </a:pPr>
            <a:r>
              <a:rPr sz="1200" dirty="0"/>
              <a:t>context: fork</a:t>
            </a:r>
          </a:p>
          <a:p>
            <a:pPr>
              <a:spcAft>
                <a:spcPts val="520"/>
              </a:spcAft>
              <a:defRPr sz="1300" b="0">
                <a:solidFill>
                  <a:srgbClr val="E67E22"/>
                </a:solidFill>
                <a:latin typeface="Courier New"/>
              </a:defRPr>
            </a:pPr>
            <a:r>
              <a:rPr sz="1200" dirty="0"/>
              <a:t>allowed-tools:</a:t>
            </a:r>
          </a:p>
          <a:p>
            <a:pPr>
              <a:spcAft>
                <a:spcPts val="520"/>
              </a:spcAft>
              <a:defRPr sz="1300" b="0">
                <a:solidFill>
                  <a:srgbClr val="E67E22"/>
                </a:solidFill>
                <a:latin typeface="Courier New"/>
              </a:defRPr>
            </a:pPr>
            <a:r>
              <a:rPr sz="1200" dirty="0"/>
              <a:t>  - Read</a:t>
            </a:r>
          </a:p>
          <a:p>
            <a:pPr>
              <a:spcAft>
                <a:spcPts val="520"/>
              </a:spcAft>
              <a:defRPr sz="1300" b="0">
                <a:solidFill>
                  <a:srgbClr val="E67E22"/>
                </a:solidFill>
                <a:latin typeface="Courier New"/>
              </a:defRPr>
            </a:pPr>
            <a:r>
              <a:rPr sz="1200" dirty="0"/>
              <a:t>  - Write</a:t>
            </a:r>
          </a:p>
          <a:p>
            <a:pPr>
              <a:spcAft>
                <a:spcPts val="520"/>
              </a:spcAft>
              <a:defRPr sz="1300" b="0">
                <a:solidFill>
                  <a:srgbClr val="E67E22"/>
                </a:solidFill>
                <a:latin typeface="Courier New"/>
              </a:defRPr>
            </a:pPr>
            <a:r>
              <a:rPr sz="1200" dirty="0"/>
              <a:t>  - Glob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rPr sz="1200" dirty="0"/>
              <a:t>---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endParaRPr sz="1200" dirty="0"/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rPr sz="1200" dirty="0"/>
              <a:t>Scan all API route files in </a:t>
            </a:r>
            <a:r>
              <a:rPr sz="1200" dirty="0" err="1"/>
              <a:t>src</a:t>
            </a:r>
            <a:r>
              <a:rPr sz="1200" dirty="0"/>
              <a:t>/</a:t>
            </a:r>
            <a:r>
              <a:rPr sz="1200" dirty="0" err="1"/>
              <a:t>api</a:t>
            </a:r>
            <a:r>
              <a:rPr sz="1200" dirty="0"/>
              <a:t>/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rPr sz="1200" dirty="0"/>
              <a:t>and generate </a:t>
            </a:r>
            <a:r>
              <a:rPr sz="1200" dirty="0" err="1"/>
              <a:t>OpenAPI</a:t>
            </a:r>
            <a:r>
              <a:rPr sz="1200" dirty="0"/>
              <a:t> documentation.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rPr sz="1200" dirty="0"/>
              <a:t>Include request/response examples.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rPr sz="1200" dirty="0"/>
              <a:t>Output to docs/</a:t>
            </a:r>
            <a:r>
              <a:rPr sz="1200" dirty="0" err="1"/>
              <a:t>api-reference.md</a:t>
            </a:r>
            <a:endParaRPr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Skill Configuration Options: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286000"/>
            <a:ext cx="2286000" cy="36576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context: fork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432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t>Runs in a SEPARATE conversation</a:t>
            </a:r>
            <a:br/>
            <a:r>
              <a:t>fork. Doesn't pollute your main</a:t>
            </a:r>
            <a:br/>
            <a:r>
              <a:t>context with intermediate steps.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471484"/>
            <a:ext cx="228600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allowed-tools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928684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dirty="0"/>
              <a:t>Restricts which tools the skill</a:t>
            </a:r>
            <a:br>
              <a:rPr dirty="0"/>
            </a:br>
            <a:r>
              <a:rPr dirty="0"/>
              <a:t>can use. Principle of least privilege</a:t>
            </a:r>
            <a:br>
              <a:rPr dirty="0"/>
            </a:br>
            <a:r>
              <a:rPr dirty="0"/>
              <a:t>-- a docs skill shouldn't delete files!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48416" y="4728784"/>
            <a:ext cx="2286000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Sharing 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4160" y="5140264"/>
            <a:ext cx="2918258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dirty="0"/>
              <a:t>Place in .</a:t>
            </a:r>
            <a:r>
              <a:rPr dirty="0" err="1"/>
              <a:t>claude</a:t>
            </a:r>
            <a:r>
              <a:rPr dirty="0"/>
              <a:t>/skills/ and</a:t>
            </a:r>
            <a:br>
              <a:rPr dirty="0"/>
            </a:br>
            <a:r>
              <a:rPr dirty="0"/>
              <a:t>commit to Git. Entire team gets</a:t>
            </a:r>
            <a:br>
              <a:rPr dirty="0"/>
            </a:br>
            <a:r>
              <a:rPr dirty="0"/>
              <a:t>the same workflow!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6035040"/>
            <a:ext cx="11064240" cy="64008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6080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1">
                <a:solidFill>
                  <a:srgbClr val="3498DB"/>
                </a:solidFill>
                <a:latin typeface="Calibri"/>
              </a:defRPr>
            </a:pPr>
            <a:r>
              <a:t>Slash Command = a single recipe card.  Skill = a whole cooking class with specific tools and safety rules.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CC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3600" b="1">
                <a:solidFill>
                  <a:srgbClr val="2ECC71"/>
                </a:solidFill>
              </a:defRPr>
            </a:pPr>
            <a:r>
              <a:t>S3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S3: Path-Specific Rules &amp;</a:t>
            </a:r>
            <a:br/>
            <a:r>
              <a:t>Conditional Loading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DDDD"/>
                </a:solidFill>
                <a:latin typeface="Calibri"/>
              </a:defRPr>
            </a:pPr>
            <a:r>
              <a:t>Load rules ONLY when working on matching files -- save tokens, improve precision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Path-Specific Rules in .claude/rules/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11064240" cy="137160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Path-specific rules = CLAUDE.md rules that only activate for certain files/folders</a:t>
            </a:r>
          </a:p>
          <a:p>
            <a:pPr>
              <a:spcAft>
                <a:spcPts val="64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They live in .claude/rules/ with YAML frontmatter specifying glob patterns.</a:t>
            </a:r>
          </a:p>
          <a:p>
            <a:pPr>
              <a:spcAft>
                <a:spcPts val="64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Claude only loads them when you're working on matching files -- saving tokens and reducing noise!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Example: Different Rules for Different File Types: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91840"/>
            <a:ext cx="3474720" cy="2743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 b="0">
                <a:solidFill>
                  <a:srgbClr val="2ECC71"/>
                </a:solidFill>
                <a:latin typeface="Courier New"/>
              </a:defRPr>
            </a:pPr>
            <a:r>
              <a:t># .claude/rules/testing.md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---</a:t>
            </a:r>
          </a:p>
          <a:p>
            <a:pPr>
              <a:spcAft>
                <a:spcPts val="480"/>
              </a:spcAft>
              <a:defRPr sz="1200" b="0">
                <a:solidFill>
                  <a:srgbClr val="F0C674"/>
                </a:solidFill>
                <a:latin typeface="Courier New"/>
              </a:defRPr>
            </a:pPr>
            <a:r>
              <a:t>globs:</a:t>
            </a:r>
          </a:p>
          <a:p>
            <a:pPr>
              <a:spcAft>
                <a:spcPts val="480"/>
              </a:spcAft>
              <a:defRPr sz="1200" b="0">
                <a:solidFill>
                  <a:srgbClr val="F0C674"/>
                </a:solidFill>
                <a:latin typeface="Courier New"/>
              </a:defRPr>
            </a:pPr>
            <a:r>
              <a:t>  - **/*.test.ts</a:t>
            </a:r>
          </a:p>
          <a:p>
            <a:pPr>
              <a:spcAft>
                <a:spcPts val="480"/>
              </a:spcAft>
              <a:defRPr sz="1200" b="0">
                <a:solidFill>
                  <a:srgbClr val="F0C674"/>
                </a:solidFill>
                <a:latin typeface="Courier New"/>
              </a:defRPr>
            </a:pPr>
            <a:r>
              <a:t>  - **/*.test.tsx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---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endParaRPr/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Use React Testing Library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Always test error states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Mock external APIs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3291840"/>
            <a:ext cx="3474720" cy="2743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338328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 b="0">
                <a:solidFill>
                  <a:srgbClr val="2ECC71"/>
                </a:solidFill>
                <a:latin typeface="Courier New"/>
              </a:defRPr>
            </a:pPr>
            <a:r>
              <a:t># .claude/rules/api.md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---</a:t>
            </a:r>
          </a:p>
          <a:p>
            <a:pPr>
              <a:spcAft>
                <a:spcPts val="480"/>
              </a:spcAft>
              <a:defRPr sz="1200" b="0">
                <a:solidFill>
                  <a:srgbClr val="F0C674"/>
                </a:solidFill>
                <a:latin typeface="Courier New"/>
              </a:defRPr>
            </a:pPr>
            <a:r>
              <a:t>globs:</a:t>
            </a:r>
          </a:p>
          <a:p>
            <a:pPr>
              <a:spcAft>
                <a:spcPts val="480"/>
              </a:spcAft>
              <a:defRPr sz="1200" b="0">
                <a:solidFill>
                  <a:srgbClr val="F0C674"/>
                </a:solidFill>
                <a:latin typeface="Courier New"/>
              </a:defRPr>
            </a:pPr>
            <a:r>
              <a:t>  - src/api/**/*.ts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---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endParaRPr/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Use snake_case for endpoints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Always validate input with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Zod schemas.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Return consistent error format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291840"/>
            <a:ext cx="3474720" cy="2743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338328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 b="0">
                <a:solidFill>
                  <a:srgbClr val="2ECC71"/>
                </a:solidFill>
                <a:latin typeface="Courier New"/>
              </a:defRPr>
            </a:pPr>
            <a:r>
              <a:t># .claude/rules/security.md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---</a:t>
            </a:r>
          </a:p>
          <a:p>
            <a:pPr>
              <a:spcAft>
                <a:spcPts val="480"/>
              </a:spcAft>
              <a:defRPr sz="1200" b="0">
                <a:solidFill>
                  <a:srgbClr val="F0C674"/>
                </a:solidFill>
                <a:latin typeface="Courier New"/>
              </a:defRPr>
            </a:pPr>
            <a:r>
              <a:t>globs:</a:t>
            </a:r>
          </a:p>
          <a:p>
            <a:pPr>
              <a:spcAft>
                <a:spcPts val="480"/>
              </a:spcAft>
              <a:defRPr sz="1200" b="0">
                <a:solidFill>
                  <a:srgbClr val="F0C674"/>
                </a:solidFill>
                <a:latin typeface="Courier New"/>
              </a:defRPr>
            </a:pPr>
            <a:r>
              <a:t>  - src/auth/**/*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---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endParaRPr/>
          </a:p>
          <a:p>
            <a:pPr>
              <a:spcAft>
                <a:spcPts val="480"/>
              </a:spcAft>
              <a:defRPr sz="1200" b="0">
                <a:solidFill>
                  <a:srgbClr val="E74C3C"/>
                </a:solidFill>
                <a:latin typeface="Courier New"/>
              </a:defRPr>
            </a:pPr>
            <a:r>
              <a:t>NEVER log passwords or tokens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Always hash with bcrypt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Use parameterized queries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Validate JWT expiry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6217920"/>
            <a:ext cx="11064240" cy="54864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62362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Calibri"/>
              </a:defRPr>
            </a:pPr>
            <a:r>
              <a:t>KEY: Rules only load when glob matches the file you're editing. Working on a test? Only test rules load.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Real-Life Analogy: Hospital Safety Zones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11064240" cy="530352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98DB"/>
                </a:solidFill>
                <a:latin typeface="Calibri"/>
              </a:defRPr>
            </a:pPr>
            <a:r>
              <a:t>Different Hospital Zones Have Different Rules: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058400" cy="4693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1">
                <a:solidFill>
                  <a:srgbClr val="E74C3C"/>
                </a:solidFill>
                <a:latin typeface="Calibri"/>
              </a:defRPr>
            </a:pPr>
            <a:r>
              <a:rPr dirty="0"/>
              <a:t>Operating Room (= </a:t>
            </a:r>
            <a:r>
              <a:rPr dirty="0" err="1"/>
              <a:t>src</a:t>
            </a:r>
            <a:r>
              <a:rPr dirty="0"/>
              <a:t>/auth/**):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dirty="0"/>
              <a:t>  Strict sterile protocol. Scrub in, wear full PPE, no phones, log every action.</a:t>
            </a:r>
          </a:p>
          <a:p>
            <a:pPr>
              <a:spcAft>
                <a:spcPts val="560"/>
              </a:spcAft>
              <a:defRPr sz="1400" b="0">
                <a:solidFill>
                  <a:srgbClr val="E74C3C"/>
                </a:solidFill>
                <a:latin typeface="Calibri"/>
              </a:defRPr>
            </a:pPr>
            <a:r>
              <a:rPr dirty="0"/>
              <a:t>  Rules: NEVER log tokens, always hash passwords, parameterized queries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endParaRPr dirty="0"/>
          </a:p>
          <a:p>
            <a:pPr>
              <a:spcAft>
                <a:spcPts val="560"/>
              </a:spcAft>
              <a:defRPr sz="1400" b="1">
                <a:solidFill>
                  <a:srgbClr val="3498DB"/>
                </a:solidFill>
                <a:latin typeface="Calibri"/>
              </a:defRPr>
            </a:pPr>
            <a:r>
              <a:rPr dirty="0"/>
              <a:t>General Ward (= </a:t>
            </a:r>
            <a:r>
              <a:rPr dirty="0" err="1"/>
              <a:t>src</a:t>
            </a:r>
            <a:r>
              <a:rPr dirty="0"/>
              <a:t>/</a:t>
            </a:r>
            <a:r>
              <a:rPr dirty="0" err="1"/>
              <a:t>api</a:t>
            </a:r>
            <a:r>
              <a:rPr dirty="0"/>
              <a:t>/**):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dirty="0"/>
              <a:t>  Standard hygiene. Wash hands, wear badge, follow visiting hours.</a:t>
            </a:r>
          </a:p>
          <a:p>
            <a:pPr>
              <a:spcAft>
                <a:spcPts val="560"/>
              </a:spcAft>
              <a:defRPr sz="1400" b="0">
                <a:solidFill>
                  <a:srgbClr val="3498DB"/>
                </a:solidFill>
                <a:latin typeface="Calibri"/>
              </a:defRPr>
            </a:pPr>
            <a:r>
              <a:rPr dirty="0"/>
              <a:t>  Rules: </a:t>
            </a:r>
            <a:r>
              <a:rPr dirty="0" err="1"/>
              <a:t>snake_case</a:t>
            </a:r>
            <a:r>
              <a:rPr dirty="0"/>
              <a:t> endpoints, Zod validation, consistent error format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endParaRPr dirty="0"/>
          </a:p>
          <a:p>
            <a:pPr>
              <a:spcAft>
                <a:spcPts val="56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rPr dirty="0"/>
              <a:t>Cafeteria (= </a:t>
            </a:r>
            <a:r>
              <a:rPr dirty="0" err="1"/>
              <a:t>src</a:t>
            </a:r>
            <a:r>
              <a:rPr dirty="0"/>
              <a:t>/components/**):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dirty="0"/>
              <a:t>  Basic rules. Just follow food safety guidelines.</a:t>
            </a:r>
          </a:p>
          <a:p>
            <a:pPr>
              <a:spcAft>
                <a:spcPts val="560"/>
              </a:spcAft>
              <a:defRPr sz="1400" b="0">
                <a:solidFill>
                  <a:srgbClr val="2ECC71"/>
                </a:solidFill>
                <a:latin typeface="Calibri"/>
              </a:defRPr>
            </a:pPr>
            <a:r>
              <a:rPr dirty="0"/>
              <a:t>  Rules: use design system components, accessibility standards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endParaRPr dirty="0"/>
          </a:p>
          <a:p>
            <a:pPr>
              <a:spcAft>
                <a:spcPts val="560"/>
              </a:spcAft>
              <a:defRPr sz="1400" b="1">
                <a:solidFill>
                  <a:srgbClr val="E67E22"/>
                </a:solidFill>
                <a:latin typeface="Calibri"/>
              </a:defRPr>
            </a:pPr>
            <a:r>
              <a:rPr dirty="0"/>
              <a:t>You don't wear full surgical gear in the cafeteria! Each zone has its own rules.</a:t>
            </a:r>
          </a:p>
          <a:p>
            <a:pPr>
              <a:spcAft>
                <a:spcPts val="560"/>
              </a:spcAft>
              <a:defRPr sz="1400" b="1">
                <a:solidFill>
                  <a:srgbClr val="E67E22"/>
                </a:solidFill>
                <a:latin typeface="Calibri"/>
              </a:defRPr>
            </a:pPr>
            <a:r>
              <a:rPr dirty="0"/>
              <a:t>Path-specific rules work the same: security rules load for auth/**, NOT for components/**.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endParaRPr dirty="0"/>
          </a:p>
          <a:p>
            <a:pPr>
              <a:spcAft>
                <a:spcPts val="56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rPr dirty="0"/>
              <a:t>Benefit: Saves tokens (Claude doesn't load irrelevant rules) + improves precision!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Monolithic CLAUDE.md vs Path-Scoped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3200400"/>
          </a:xfrm>
          <a:prstGeom prst="roundRect">
            <a:avLst/>
          </a:prstGeom>
          <a:solidFill>
            <a:srgbClr val="FAEBEB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Monolithic CLAUDE.md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4846320" cy="2669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1">
                <a:solidFill>
                  <a:srgbClr val="E74C3C"/>
                </a:solidFill>
                <a:latin typeface="Calibri"/>
              </a:defRPr>
            </a:pPr>
            <a:r>
              <a:rPr dirty="0"/>
              <a:t>All 50+ rules loaded EVERY time</a:t>
            </a:r>
          </a:p>
          <a:p>
            <a:pPr>
              <a:spcAft>
                <a:spcPts val="52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rPr dirty="0"/>
              <a:t>Problems: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Wastes tokens on irrelevant rules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Security rules shown for UI work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Test rules shown for API work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Claude may get confused by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dirty="0"/>
              <a:t>  conflicting context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Hard to maintain as team grows</a:t>
            </a:r>
          </a:p>
          <a:p>
            <a:pPr>
              <a:spcAft>
                <a:spcPts val="520"/>
              </a:spcAft>
              <a:defRPr sz="1300" b="0">
                <a:solidFill>
                  <a:srgbClr val="E74C3C"/>
                </a:solidFill>
                <a:latin typeface="Calibri"/>
              </a:defRPr>
            </a:pPr>
            <a:r>
              <a:rPr dirty="0"/>
              <a:t>Like reading the ENTIRE company</a:t>
            </a:r>
          </a:p>
          <a:p>
            <a:pPr>
              <a:spcAft>
                <a:spcPts val="520"/>
              </a:spcAft>
              <a:defRPr sz="1300" b="1">
                <a:solidFill>
                  <a:srgbClr val="E74C3C"/>
                </a:solidFill>
                <a:latin typeface="Calibri"/>
              </a:defRPr>
            </a:pPr>
            <a:r>
              <a:rPr dirty="0"/>
              <a:t>handbook every morning!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03520" cy="320040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Path-Scoped .claude/rules/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4846320" cy="2669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1">
                <a:solidFill>
                  <a:srgbClr val="2ECC71"/>
                </a:solidFill>
                <a:latin typeface="Calibri"/>
              </a:defRPr>
            </a:pPr>
            <a:r>
              <a:rPr dirty="0"/>
              <a:t>Only matching rules loaded</a:t>
            </a:r>
          </a:p>
          <a:p>
            <a:pPr>
              <a:spcAft>
                <a:spcPts val="52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rPr dirty="0"/>
              <a:t>Benefits: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Saves tokens (fewer rules loaded)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Precise: only relevant context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Security rules ONLY for auth/**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Test rules ONLY for *.</a:t>
            </a:r>
            <a:r>
              <a:rPr dirty="0" err="1"/>
              <a:t>test.ts</a:t>
            </a:r>
            <a:endParaRPr dirty="0"/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Each team owns their rules file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Easy to review in pull requests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alibri"/>
              </a:defRPr>
            </a:pPr>
            <a:r>
              <a:rPr dirty="0"/>
              <a:t>Like getting ONLY your department's</a:t>
            </a:r>
          </a:p>
          <a:p>
            <a:pPr>
              <a:spcAft>
                <a:spcPts val="520"/>
              </a:spcAft>
              <a:defRPr sz="1300" b="1">
                <a:solidFill>
                  <a:srgbClr val="2ECC71"/>
                </a:solidFill>
                <a:latin typeface="Calibri"/>
              </a:defRPr>
            </a:pPr>
            <a:r>
              <a:rPr dirty="0"/>
              <a:t>memo each morning!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663440"/>
            <a:ext cx="11064240" cy="2011680"/>
          </a:xfrm>
          <a:prstGeom prst="roundRect">
            <a:avLst/>
          </a:prstGeom>
          <a:solidFill>
            <a:srgbClr val="FDF2E9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22"/>
                </a:solidFill>
                <a:latin typeface="Calibri"/>
              </a:defRPr>
            </a:pPr>
            <a:r>
              <a:t>What Gets Loaded When?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12080"/>
            <a:ext cx="228600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Editing</a:t>
            </a:r>
            <a:br/>
            <a:r>
              <a:t>src/auth/login.ts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43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Calibri"/>
              </a:defRPr>
            </a:pPr>
            <a:r>
              <a:t>security.md</a:t>
            </a:r>
            <a:br/>
            <a:r>
              <a:t>api.md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5212080"/>
            <a:ext cx="2286000" cy="6400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Editing</a:t>
            </a:r>
            <a:br/>
            <a:r>
              <a:t>src/api/users.ts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5943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Calibri"/>
              </a:defRPr>
            </a:pPr>
            <a:r>
              <a:t>api.md</a:t>
            </a:r>
            <a:br/>
            <a:r>
              <a:t>only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5212080"/>
            <a:ext cx="228600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Editing</a:t>
            </a:r>
            <a:br/>
            <a:r>
              <a:t>app.test.tsx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943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Calibri"/>
              </a:defRPr>
            </a:pPr>
            <a:r>
              <a:t>testing.md</a:t>
            </a:r>
            <a:br/>
            <a:r>
              <a:t>only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5212080"/>
            <a:ext cx="2286000" cy="64008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Editing</a:t>
            </a:r>
            <a:br/>
            <a:r>
              <a:t>README.md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5943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Calibri"/>
              </a:defRPr>
            </a:pPr>
            <a:r>
              <a:t>No rules</a:t>
            </a:r>
            <a:br/>
            <a:r>
              <a:t>from .claude/rules/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7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3600" b="1">
                <a:solidFill>
                  <a:srgbClr val="E67E22"/>
                </a:solidFill>
              </a:defRPr>
            </a:pPr>
            <a:r>
              <a:t>S4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S4: Plan Mode vs</a:t>
            </a:r>
            <a:br/>
            <a:r>
              <a:t>Direct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DDDD"/>
                </a:solidFill>
                <a:latin typeface="Calibri"/>
              </a:defRPr>
            </a:pPr>
            <a:r>
              <a:t>When to think first vs act fast -- and the Explore subagent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The Explore -&gt; Plan -&gt; Code -&gt; Commit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Claude Code follows a natural workflow: understand first, plan second, code third, commit last.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2560320" cy="6400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EXPLORE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C3E50"/>
                </a:solidFill>
                <a:latin typeface="Calibri"/>
              </a:defRPr>
            </a:pPr>
            <a:r>
              <a:t>Understand the</a:t>
            </a:r>
            <a:br/>
            <a:r>
              <a:t>codebase first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17520"/>
            <a:ext cx="2560320" cy="118872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Read files, grep code,</a:t>
            </a:r>
            <a:br/>
            <a:r>
              <a:t>map dependencies,</a:t>
            </a:r>
            <a:br/>
            <a:r>
              <a:t>find patterns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17520" y="1920240"/>
            <a:ext cx="45720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474720" y="1737360"/>
            <a:ext cx="256032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C3E50"/>
                </a:solidFill>
                <a:latin typeface="Calibri"/>
              </a:defRPr>
            </a:pPr>
            <a:r>
              <a:t>Design the</a:t>
            </a:r>
            <a:br/>
            <a:r>
              <a:t>approach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3017520"/>
            <a:ext cx="2560320" cy="118872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6160" y="310896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List changes needed,</a:t>
            </a:r>
            <a:br/>
            <a:r>
              <a:t>identify risks,</a:t>
            </a:r>
            <a:br/>
            <a:r>
              <a:t>get user approval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17076" y="1920240"/>
            <a:ext cx="45720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74276" y="1745524"/>
            <a:ext cx="2560320" cy="6400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C3E50"/>
                </a:solidFill>
                <a:latin typeface="Calibri"/>
              </a:defRPr>
            </a:pPr>
            <a:r>
              <a:t>Implement</a:t>
            </a:r>
            <a:br/>
            <a:r>
              <a:t>the changes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017520"/>
            <a:ext cx="2560320" cy="118872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310896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Edit files, write tests,</a:t>
            </a:r>
            <a:br/>
            <a:r>
              <a:t>fix linting errors,</a:t>
            </a:r>
            <a:br/>
            <a:r>
              <a:t>verify it works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034596" y="1905544"/>
            <a:ext cx="45720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464040" y="1745524"/>
            <a:ext cx="2560320" cy="6400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COMMIT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C3E50"/>
                </a:solidFill>
                <a:latin typeface="Calibri"/>
              </a:defRPr>
            </a:pPr>
            <a:r>
              <a:t>Save your</a:t>
            </a:r>
            <a:br/>
            <a:r>
              <a:t>work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3017520"/>
            <a:ext cx="2560320" cy="118872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20" y="310896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Stage changes,</a:t>
            </a:r>
            <a:br/>
            <a:r>
              <a:t>write commit msg,</a:t>
            </a:r>
            <a:br/>
            <a:r>
              <a:t>push if approved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572000"/>
            <a:ext cx="11064240" cy="2103120"/>
          </a:xfrm>
          <a:prstGeom prst="roundRect">
            <a:avLst/>
          </a:prstGeom>
          <a:solidFill>
            <a:srgbClr val="FDF2E9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22"/>
                </a:solidFill>
                <a:latin typeface="Calibri"/>
              </a:defRPr>
            </a:pPr>
            <a:r>
              <a:t>Real-Life Analogy: Building a House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029200"/>
            <a:ext cx="10515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0">
                <a:solidFill>
                  <a:srgbClr val="3498DB"/>
                </a:solidFill>
                <a:latin typeface="Calibri"/>
              </a:defRPr>
            </a:pPr>
            <a:r>
              <a:rPr dirty="0"/>
              <a:t>EXPLORE = Visit the lot, check soil, survey neighbors, understand zoning laws</a:t>
            </a:r>
          </a:p>
          <a:p>
            <a:pPr>
              <a:spcAft>
                <a:spcPts val="560"/>
              </a:spcAft>
              <a:defRPr sz="1400" b="0">
                <a:solidFill>
                  <a:srgbClr val="2ECC71"/>
                </a:solidFill>
                <a:latin typeface="Calibri"/>
              </a:defRPr>
            </a:pPr>
            <a:r>
              <a:rPr dirty="0"/>
              <a:t>PLAN = Draw blueprints, get permits, plan budget, hire contractors</a:t>
            </a:r>
          </a:p>
          <a:p>
            <a:pPr>
              <a:spcAft>
                <a:spcPts val="560"/>
              </a:spcAft>
              <a:defRPr sz="1400" b="0">
                <a:solidFill>
                  <a:srgbClr val="E67E22"/>
                </a:solidFill>
                <a:latin typeface="Calibri"/>
              </a:defRPr>
            </a:pPr>
            <a:r>
              <a:rPr dirty="0"/>
              <a:t>CODE = Actually build the house -- foundation, framing, plumbing, electrical</a:t>
            </a:r>
          </a:p>
          <a:p>
            <a:pPr>
              <a:spcAft>
                <a:spcPts val="560"/>
              </a:spcAft>
              <a:defRPr sz="1400" b="0">
                <a:solidFill>
                  <a:srgbClr val="9B59B6"/>
                </a:solidFill>
                <a:latin typeface="Calibri"/>
              </a:defRPr>
            </a:pPr>
            <a:r>
              <a:rPr dirty="0"/>
              <a:t>COMMIT = Final inspection, hand over keys, move in!</a:t>
            </a:r>
          </a:p>
          <a:p>
            <a:pPr>
              <a:spcAft>
                <a:spcPts val="560"/>
              </a:spcAft>
              <a:defRPr sz="1400" b="1">
                <a:solidFill>
                  <a:srgbClr val="E74C3C"/>
                </a:solidFill>
                <a:latin typeface="Calibri"/>
              </a:defRPr>
            </a:pPr>
            <a:r>
              <a:rPr dirty="0"/>
              <a:t>You wouldn't start pouring concrete without blueprints! Same with code.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When to Use Plan Mode vs Direct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Not every task needs a plan. Know when to think first vs just do it: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03520" cy="320040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98DB"/>
                </a:solidFill>
                <a:latin typeface="Calibri"/>
              </a:defRPr>
            </a:pPr>
            <a:r>
              <a:t>PLAN MODE -- Think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484632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rPr dirty="0"/>
              <a:t>Use when: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Multi-file refactoring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Database migrations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Architecture changes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Unfamiliar codebase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Breaking change risk</a:t>
            </a:r>
          </a:p>
          <a:p>
            <a:pPr>
              <a:spcAft>
                <a:spcPts val="560"/>
              </a:spcAft>
              <a:defRPr sz="1400" b="1">
                <a:solidFill>
                  <a:srgbClr val="3498DB"/>
                </a:solidFill>
                <a:latin typeface="Calibri"/>
              </a:defRPr>
            </a:pPr>
            <a:r>
              <a:rPr dirty="0"/>
              <a:t>How: Use </a:t>
            </a:r>
            <a:r>
              <a:rPr dirty="0" err="1"/>
              <a:t>shift+tab</a:t>
            </a:r>
            <a:r>
              <a:rPr dirty="0"/>
              <a:t> to toggle Plan Mode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rPr dirty="0"/>
              <a:t>Claude explores, creates a plan, you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rPr dirty="0"/>
              <a:t>approve, THEN it executes.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303520" cy="320040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DIRECT EXECUTION -- Just Do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84632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rPr dirty="0"/>
              <a:t>Use when: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Fix a typo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Add a simple function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Update a config value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Rename a variable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Small, clear, low-risk changes</a:t>
            </a:r>
          </a:p>
          <a:p>
            <a:pPr>
              <a:spcAft>
                <a:spcPts val="56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rPr dirty="0"/>
              <a:t>How: Just tell Claude what to do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rPr dirty="0"/>
              <a:t>No planning overhead needed for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rPr dirty="0"/>
              <a:t>simple, obvious changes.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120640"/>
            <a:ext cx="11064240" cy="1554480"/>
          </a:xfrm>
          <a:prstGeom prst="roundRect">
            <a:avLst/>
          </a:prstGeom>
          <a:solidFill>
            <a:srgbClr val="FDF2E9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22"/>
                </a:solidFill>
                <a:latin typeface="Calibri"/>
              </a:defRPr>
            </a:pPr>
            <a:r>
              <a:t>Decision Rule: The Surgery vs Band-Aid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23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0">
                <a:solidFill>
                  <a:srgbClr val="3498DB"/>
                </a:solidFill>
                <a:latin typeface="Calibri"/>
              </a:defRPr>
            </a:pPr>
            <a:r>
              <a:t>Would this change be like SURGERY (complex, multi-step, risky)?  --&gt;  Use PLAN MODE</a:t>
            </a:r>
          </a:p>
          <a:p>
            <a:pPr>
              <a:spcAft>
                <a:spcPts val="560"/>
              </a:spcAft>
              <a:defRPr sz="1400" b="0">
                <a:solidFill>
                  <a:srgbClr val="2ECC71"/>
                </a:solidFill>
                <a:latin typeface="Calibri"/>
              </a:defRPr>
            </a:pPr>
            <a:r>
              <a:t>Would this change be like a BAND-AID (simple, quick, obvious)?  --&gt;  Use DIRECT EXECUTION</a:t>
            </a:r>
          </a:p>
          <a:p>
            <a:pPr>
              <a:spcAft>
                <a:spcPts val="560"/>
              </a:spcAft>
              <a:defRPr sz="1400" b="1">
                <a:solidFill>
                  <a:srgbClr val="E74C3C"/>
                </a:solidFill>
                <a:latin typeface="Calibri"/>
              </a:defRPr>
            </a:pPr>
            <a:r>
              <a:t>Not sure? Default to Plan Mode. It's safer to over-plan than to break production!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The Explore Subagent -- Scouting Before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11064240" cy="137160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The Explore subagent is like sending a scout to map unknown territory BEFORE your army moves in.</a:t>
            </a:r>
          </a:p>
          <a:p>
            <a:pPr>
              <a:spcAft>
                <a:spcPts val="64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It runs in a separate context fork, reads code, maps dependencies, and reports back.</a:t>
            </a:r>
          </a:p>
          <a:p>
            <a:pPr>
              <a:spcAft>
                <a:spcPts val="64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Your main conversation stays clean -- no exploratory junk polluting your context window!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How the Explore Subagent Works: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91840"/>
            <a:ext cx="2286000" cy="7315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Your Main</a:t>
            </a:r>
            <a:br/>
            <a:r>
              <a:t>Conversation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743200" y="3523272"/>
            <a:ext cx="54864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291840" y="3286985"/>
            <a:ext cx="2560320" cy="7315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Explore Subagent</a:t>
            </a:r>
            <a:br>
              <a:rPr dirty="0"/>
            </a:br>
            <a:r>
              <a:rPr dirty="0"/>
              <a:t>(separate fork)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52160" y="3515585"/>
            <a:ext cx="54864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0" y="3294672"/>
            <a:ext cx="2560320" cy="7315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Reads code, maps</a:t>
            </a:r>
            <a:br>
              <a:rPr dirty="0"/>
            </a:br>
            <a:r>
              <a:rPr dirty="0"/>
              <a:t>dependencies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961120" y="3515585"/>
            <a:ext cx="54864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509760" y="3290221"/>
            <a:ext cx="2011680" cy="7315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Returns</a:t>
            </a:r>
            <a:br/>
            <a:r>
              <a:t>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/>
              </a:defRPr>
            </a:pPr>
            <a:r>
              <a:t>When to Use Explore: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846320"/>
            <a:ext cx="228600" cy="2286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4846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Joining a new project -- map the codebase before making changes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212080"/>
            <a:ext cx="228600" cy="2286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88720" y="5212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Before a large refactor -- understand all dependencies first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5577840"/>
            <a:ext cx="228600" cy="2286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8720" y="5577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Investigating a bug -- trace the code path without cluttering your context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5943600"/>
            <a:ext cx="228600" cy="22860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88720" y="5943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Understanding unfamiliar modules -- let the scout report back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6309360"/>
            <a:ext cx="11064240" cy="457200"/>
          </a:xfrm>
          <a:prstGeom prst="roundRect">
            <a:avLst/>
          </a:prstGeom>
          <a:solidFill>
            <a:srgbClr val="FAEBEB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6309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EXAM TIP: Explore subagent runs in context:fork -- it keeps your main context clean for actual work!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5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3600" b="1">
                <a:solidFill>
                  <a:srgbClr val="9B59B6"/>
                </a:solidFill>
              </a:defRPr>
            </a:pPr>
            <a:r>
              <a:t>S5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S5: Iterative Refinement</a:t>
            </a:r>
            <a:br/>
            <a:r>
              <a:t>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DDDD"/>
                </a:solidFill>
                <a:latin typeface="Calibri"/>
              </a:defRPr>
            </a:pPr>
            <a:r>
              <a:t>TDD loops, interview-style prompting, and getting better results each pass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Three Strategies for Iterative Refinement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Don't expect perfect code on the first try. Use these strategies to iteratively improve: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383280" cy="6400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TEST-DRIVEN</a:t>
            </a:r>
            <a:br/>
            <a:r>
              <a:t>(TDD Loop)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Calibri"/>
              </a:defRPr>
            </a:pPr>
            <a:r>
              <a:t>Write failing test first,</a:t>
            </a:r>
            <a:br/>
            <a:r>
              <a:t>then ask Claude to fix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3383280" cy="164592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1. Write a failing test</a:t>
            </a:r>
            <a:br/>
            <a:r>
              <a:t>2. Ask Claude to make it pass</a:t>
            </a:r>
            <a:br/>
            <a:r>
              <a:t>3. Refactor if needed</a:t>
            </a:r>
            <a:br/>
            <a:r>
              <a:t>4. Repeat for next feature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754880"/>
            <a:ext cx="3383280" cy="91440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8006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98DB"/>
                </a:solidFill>
                <a:latin typeface="Calibri"/>
              </a:defRPr>
            </a:pPr>
            <a:r>
              <a:t>Like a COACH giving</a:t>
            </a:r>
            <a:br/>
            <a:r>
              <a:t>drills -- fail, learn,</a:t>
            </a:r>
            <a:br/>
            <a:r>
              <a:t>improve, repeat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645920"/>
            <a:ext cx="338328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INTERVIEW-STYLE</a:t>
            </a:r>
            <a:br/>
            <a:r>
              <a:t>Prompting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377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Calibri"/>
              </a:defRPr>
            </a:pPr>
            <a:r>
              <a:t>Ask Claude to clarify</a:t>
            </a:r>
            <a:br/>
            <a:r>
              <a:t>before executing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926080"/>
            <a:ext cx="3383280" cy="164592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30175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1. Describe the goal</a:t>
            </a:r>
            <a:br/>
            <a:r>
              <a:t>2. Ask 'What questions</a:t>
            </a:r>
            <a:br/>
            <a:r>
              <a:t>   do you have?'</a:t>
            </a:r>
            <a:br/>
            <a:r>
              <a:t>3. Answer its questions</a:t>
            </a:r>
            <a:br/>
            <a:r>
              <a:t>4. THEN let it 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754880"/>
            <a:ext cx="3383280" cy="91440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0" y="48006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Like a DOCTOR asking</a:t>
            </a:r>
            <a:br/>
            <a:r>
              <a:t>questions before</a:t>
            </a:r>
            <a:br/>
            <a:r>
              <a:t>prescribing treatment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645920"/>
            <a:ext cx="3383280" cy="6400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I/O EXAMPLES</a:t>
            </a:r>
            <a:br/>
            <a:r>
              <a:t>(Show, Don't Tell)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377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Calibri"/>
              </a:defRPr>
            </a:pPr>
            <a:r>
              <a:t>Give concrete input/output</a:t>
            </a:r>
            <a:br/>
            <a:r>
              <a:t>examples upfront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926080"/>
            <a:ext cx="3383280" cy="164592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0" y="30175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1. Show example input</a:t>
            </a:r>
            <a:br/>
            <a:r>
              <a:t>2. Show expected output</a:t>
            </a:r>
            <a:br/>
            <a:r>
              <a:t>3. Claude matches pattern</a:t>
            </a:r>
            <a:br/>
            <a:r>
              <a:t>4. Handles edge cases too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4754880"/>
            <a:ext cx="3383280" cy="91440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0" y="48006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67E22"/>
                </a:solidFill>
                <a:latin typeface="Calibri"/>
              </a:defRPr>
            </a:pPr>
            <a:r>
              <a:t>Like showing a PHOTO</a:t>
            </a:r>
            <a:br/>
            <a:r>
              <a:t>of the dish you want</a:t>
            </a:r>
            <a:br/>
            <a:r>
              <a:t>instead of describing 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852160"/>
            <a:ext cx="11064240" cy="82296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5897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98DB"/>
                </a:solidFill>
                <a:latin typeface="Calibri"/>
              </a:defRPr>
            </a:pPr>
            <a:r>
              <a:t>Pro Tip: Combine all three! Write a failing test (TDD), give I/O examples, and ask Claude to clarify before coding.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Test-Driven Development Loop with 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097280"/>
            <a:ext cx="365760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1. Write Failing Test</a:t>
            </a:r>
          </a:p>
        </p:txBody>
      </p:sp>
      <p:sp>
        <p:nvSpPr>
          <p:cNvPr id="6" name="Down Arrow 5"/>
          <p:cNvSpPr/>
          <p:nvPr/>
        </p:nvSpPr>
        <p:spPr>
          <a:xfrm>
            <a:off x="5669280" y="1737360"/>
            <a:ext cx="320040" cy="457200"/>
          </a:xfrm>
          <a:prstGeom prst="down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114800" y="2286000"/>
            <a:ext cx="365760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2. Ask Claude to Make It Pass</a:t>
            </a:r>
          </a:p>
        </p:txBody>
      </p:sp>
      <p:sp>
        <p:nvSpPr>
          <p:cNvPr id="8" name="Down Arrow 7"/>
          <p:cNvSpPr/>
          <p:nvPr/>
        </p:nvSpPr>
        <p:spPr>
          <a:xfrm>
            <a:off x="5669280" y="2926080"/>
            <a:ext cx="320040" cy="457200"/>
          </a:xfrm>
          <a:prstGeom prst="down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14800" y="3474720"/>
            <a:ext cx="3657600" cy="6400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3. Run Tests -- All Green?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286000" y="2606040"/>
            <a:ext cx="1828800" cy="1188720"/>
          </a:xfrm>
          <a:prstGeom prst="line">
            <a:avLst/>
          </a:prstGeom>
          <a:ln w="2540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737360" y="23682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Calibri"/>
              </a:defRPr>
            </a:pPr>
            <a:r>
              <a:rPr dirty="0"/>
              <a:t>NO - iterate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0" y="3794760"/>
            <a:ext cx="1828800" cy="502920"/>
          </a:xfrm>
          <a:prstGeom prst="line">
            <a:avLst/>
          </a:prstGeom>
          <a:ln w="2540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412480" y="3657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4297680"/>
            <a:ext cx="3200400" cy="6400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4. Refactor (optional)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0058400" y="4937760"/>
            <a:ext cx="320040" cy="457200"/>
          </a:xfrm>
          <a:prstGeom prst="down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686800" y="5394960"/>
            <a:ext cx="3200400" cy="6400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5. Next Feature / Done!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72000"/>
            <a:ext cx="5029200" cy="21031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663440"/>
            <a:ext cx="4754880" cy="2018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 b="0">
                <a:solidFill>
                  <a:srgbClr val="2ECC71"/>
                </a:solidFill>
                <a:latin typeface="Courier New"/>
              </a:defRPr>
            </a:pPr>
            <a:r>
              <a:rPr dirty="0"/>
              <a:t># Example TDD conversation: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rPr dirty="0"/>
              <a:t>You: 'Here is a failing test for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rPr dirty="0"/>
              <a:t>the </a:t>
            </a:r>
            <a:r>
              <a:rPr dirty="0" err="1"/>
              <a:t>calculateDiscount</a:t>
            </a:r>
            <a:r>
              <a:rPr dirty="0"/>
              <a:t> function.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rPr dirty="0"/>
              <a:t>Make it pass without changing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rPr dirty="0"/>
              <a:t>the test.'</a:t>
            </a:r>
          </a:p>
          <a:p>
            <a:pPr>
              <a:spcAft>
                <a:spcPts val="480"/>
              </a:spcAft>
              <a:defRPr sz="1200" b="0">
                <a:solidFill>
                  <a:srgbClr val="7F8C8D"/>
                </a:solidFill>
                <a:latin typeface="Courier New"/>
              </a:defRPr>
            </a:pPr>
            <a:r>
              <a:rPr dirty="0"/>
              <a:t>Claude: *reads test, understands</a:t>
            </a:r>
          </a:p>
          <a:p>
            <a:pPr>
              <a:spcAft>
                <a:spcPts val="480"/>
              </a:spcAft>
              <a:defRPr sz="1200" b="0">
                <a:solidFill>
                  <a:srgbClr val="7F8C8D"/>
                </a:solidFill>
                <a:latin typeface="Courier New"/>
              </a:defRPr>
            </a:pPr>
            <a:r>
              <a:rPr dirty="0"/>
              <a:t>expected behavior, writes code*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Interview-Style Prompting -- Ask Before You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11064240" cy="137160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Instead of giving Claude a vague instruction, ask it to interview YOU first.</a:t>
            </a:r>
          </a:p>
          <a:p>
            <a:pPr>
              <a:spcAft>
                <a:spcPts val="64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Claude asks clarifying questions, you answer, THEN it builds with full understanding.</a:t>
            </a:r>
          </a:p>
          <a:p>
            <a:pPr>
              <a:spcAft>
                <a:spcPts val="64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This prevents the #1 problem: Claude building the wrong thing because of ambiguous requirements.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5303520" cy="32004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 b="1">
                <a:solidFill>
                  <a:srgbClr val="3498DB"/>
                </a:solidFill>
                <a:latin typeface="Courier New"/>
              </a:defRPr>
            </a:pPr>
            <a:r>
              <a:t>YOU: 'I need a user auth system.'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endParaRPr/>
          </a:p>
          <a:p>
            <a:pPr>
              <a:spcAft>
                <a:spcPts val="480"/>
              </a:spcAft>
              <a:defRPr sz="1200" b="1">
                <a:solidFill>
                  <a:srgbClr val="2ECC71"/>
                </a:solidFill>
                <a:latin typeface="Courier New"/>
              </a:defRPr>
            </a:pPr>
            <a:r>
              <a:t>CLAUDE: 'Before I build this, let me</a:t>
            </a:r>
          </a:p>
          <a:p>
            <a:pPr>
              <a:spcAft>
                <a:spcPts val="480"/>
              </a:spcAft>
              <a:defRPr sz="1200" b="1">
                <a:solidFill>
                  <a:srgbClr val="2ECC71"/>
                </a:solidFill>
                <a:latin typeface="Courier New"/>
              </a:defRPr>
            </a:pPr>
            <a:r>
              <a:t>ask a few questions:'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  1. JWT or session-based auth?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  2. Need OAuth (Google/GitHub)?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  3. Password reset flow needed?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  4. Rate limiting on login?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  5. What database for user store?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endParaRPr/>
          </a:p>
          <a:p>
            <a:pPr>
              <a:spcAft>
                <a:spcPts val="480"/>
              </a:spcAft>
              <a:defRPr sz="1200" b="1">
                <a:solidFill>
                  <a:srgbClr val="3498DB"/>
                </a:solidFill>
                <a:latin typeface="Courier New"/>
              </a:defRPr>
            </a:pPr>
            <a:r>
              <a:t>YOU: 'JWT, yes OAuth, yes password</a:t>
            </a:r>
          </a:p>
          <a:p>
            <a:pPr>
              <a:spcAft>
                <a:spcPts val="480"/>
              </a:spcAft>
              <a:defRPr sz="1200" b="1">
                <a:solidFill>
                  <a:srgbClr val="3498DB"/>
                </a:solidFill>
                <a:latin typeface="Courier New"/>
              </a:defRPr>
            </a:pPr>
            <a:r>
              <a:t>reset, yes rate limiting, PostgreSQL.'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endParaRPr/>
          </a:p>
          <a:p>
            <a:pPr>
              <a:spcAft>
                <a:spcPts val="480"/>
              </a:spcAft>
              <a:defRPr sz="1200" b="0">
                <a:solidFill>
                  <a:srgbClr val="2ECC71"/>
                </a:solidFill>
                <a:latin typeface="Courier New"/>
              </a:defRPr>
            </a:pPr>
            <a:r>
              <a:t>CLAUDE: *builds exactly what you need*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Why This Works Better: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235196"/>
            <a:ext cx="2286000" cy="36576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Eliminates ambiguity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692396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dirty="0"/>
              <a:t>Claude asks about edge cases</a:t>
            </a:r>
            <a:br>
              <a:rPr dirty="0"/>
            </a:br>
            <a:r>
              <a:rPr dirty="0"/>
              <a:t>you didn't think of upfront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4203004"/>
            <a:ext cx="2286000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Saves rework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66020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t>No 'that's not what I wanted'</a:t>
            </a:r>
            <a:br/>
            <a:r>
              <a:t>after Claude builds it wrong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5227132"/>
            <a:ext cx="228600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Better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566604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dirty="0"/>
              <a:t>Claude considers trade-offs</a:t>
            </a:r>
            <a:br>
              <a:rPr dirty="0"/>
            </a:br>
            <a:r>
              <a:rPr dirty="0"/>
              <a:t>BEFORE writing 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6126480"/>
            <a:ext cx="11064240" cy="548640"/>
          </a:xfrm>
          <a:prstGeom prst="roundRect">
            <a:avLst/>
          </a:prstGeom>
          <a:solidFill>
            <a:srgbClr val="FDF2E9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61447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Calibri"/>
              </a:defRPr>
            </a:pPr>
            <a:r>
              <a:t>Analogy: A good architect INTERVIEWS the homeowner before drawing blueprints. Claude should do the same!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BC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3600" b="1">
                <a:solidFill>
                  <a:srgbClr val="1ABC9C"/>
                </a:solidFill>
              </a:defRPr>
            </a:pPr>
            <a:r>
              <a:t>S6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S6: CI/CD Integration</a:t>
            </a:r>
            <a:br/>
            <a:r>
              <a:t>with 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DDDD"/>
                </a:solidFill>
                <a:latin typeface="Calibri"/>
              </a:defRPr>
            </a:pPr>
            <a:r>
              <a:t>Running Claude Code headlessly in pipelines for automated reviews and checks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Running Claude Code Headlessly with -p Flag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11064240" cy="137160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Claude Code can run WITHOUT a human in the loop -- perfect for CI/CD pipelines!</a:t>
            </a:r>
          </a:p>
          <a:p>
            <a:pPr>
              <a:spcAft>
                <a:spcPts val="64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The -p flag runs a prompt non-interactively. Combined with --output-format json, you get structured results.</a:t>
            </a:r>
          </a:p>
          <a:p>
            <a:pPr>
              <a:spcAft>
                <a:spcPts val="64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Think of it as putting Claude on autopilot for repetitive review and check tasks.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863" y="265175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rPr dirty="0"/>
              <a:t>Key CLI Flags for CI/CD: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91840"/>
            <a:ext cx="5303520" cy="13716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ourier New"/>
              </a:defRPr>
            </a:pPr>
            <a:r>
              <a:rPr dirty="0"/>
              <a:t># Run a one-shot prompt</a:t>
            </a:r>
          </a:p>
          <a:p>
            <a:pPr>
              <a:spcAft>
                <a:spcPts val="520"/>
              </a:spcAft>
              <a:defRPr sz="1300" b="0">
                <a:solidFill>
                  <a:srgbClr val="3498DB"/>
                </a:solidFill>
                <a:latin typeface="Courier New"/>
              </a:defRPr>
            </a:pPr>
            <a:r>
              <a:rPr dirty="0" err="1"/>
              <a:t>claude</a:t>
            </a:r>
            <a:r>
              <a:rPr dirty="0"/>
              <a:t> -p "Review this PR for</a:t>
            </a:r>
          </a:p>
          <a:p>
            <a:pPr>
              <a:spcAft>
                <a:spcPts val="520"/>
              </a:spcAft>
              <a:defRPr sz="1300" b="0">
                <a:solidFill>
                  <a:srgbClr val="3498DB"/>
                </a:solidFill>
                <a:latin typeface="Courier New"/>
              </a:defRPr>
            </a:pPr>
            <a:r>
              <a:rPr dirty="0"/>
              <a:t>  security issues and suggest</a:t>
            </a:r>
          </a:p>
          <a:p>
            <a:pPr>
              <a:spcAft>
                <a:spcPts val="520"/>
              </a:spcAft>
              <a:defRPr sz="1300" b="0">
                <a:solidFill>
                  <a:srgbClr val="3498DB"/>
                </a:solidFill>
                <a:latin typeface="Courier New"/>
              </a:defRPr>
            </a:pPr>
            <a:r>
              <a:rPr dirty="0"/>
              <a:t>  fixes"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ourier New"/>
              </a:defRPr>
            </a:pPr>
            <a:r>
              <a:rPr dirty="0"/>
              <a:t># -p = non-interactive, exits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ourier New"/>
              </a:defRPr>
            </a:pPr>
            <a:r>
              <a:rPr dirty="0"/>
              <a:t># after completing the task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291840"/>
            <a:ext cx="5303520" cy="13716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3383280"/>
            <a:ext cx="4846320" cy="134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ourier New"/>
              </a:defRPr>
            </a:pPr>
            <a:r>
              <a:rPr dirty="0"/>
              <a:t># Get structured JSON output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ourier New"/>
              </a:defRPr>
            </a:pPr>
            <a:r>
              <a:rPr dirty="0" err="1"/>
              <a:t>claude</a:t>
            </a:r>
            <a:r>
              <a:rPr dirty="0"/>
              <a:t> -p "Review changes"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ourier New"/>
              </a:defRPr>
            </a:pPr>
            <a:r>
              <a:rPr dirty="0"/>
              <a:t>  --output-format </a:t>
            </a:r>
            <a:r>
              <a:rPr dirty="0" err="1"/>
              <a:t>json</a:t>
            </a:r>
            <a:endParaRPr dirty="0"/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ourier New"/>
              </a:defRPr>
            </a:pPr>
            <a:r>
              <a:rPr dirty="0"/>
              <a:t># Returns JSON you can parse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ourier New"/>
              </a:defRPr>
            </a:pPr>
            <a:r>
              <a:rPr dirty="0"/>
              <a:t># in your pipeline scripts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937759"/>
            <a:ext cx="11064240" cy="1789611"/>
          </a:xfrm>
          <a:prstGeom prst="roundRect">
            <a:avLst/>
          </a:prstGeom>
          <a:solidFill>
            <a:srgbClr val="FDF2E9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Calibri"/>
              </a:defRPr>
            </a:pPr>
            <a:r>
              <a:t>Real-Life Analogy: Quality Inspector on an Assembly 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4960"/>
            <a:ext cx="10515600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sz="1200" dirty="0"/>
              <a:t>A factory has inspectors checking every product on the assembly line:</a:t>
            </a:r>
          </a:p>
          <a:p>
            <a:pPr>
              <a:spcAft>
                <a:spcPts val="520"/>
              </a:spcAft>
              <a:defRPr sz="1300" b="0">
                <a:solidFill>
                  <a:srgbClr val="3498DB"/>
                </a:solidFill>
                <a:latin typeface="Calibri"/>
              </a:defRPr>
            </a:pPr>
            <a:r>
              <a:rPr sz="1200" dirty="0"/>
              <a:t>-p flag = The inspector checks ONE product and gives a verdict (non-interactive, one-shot)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alibri"/>
              </a:defRPr>
            </a:pPr>
            <a:r>
              <a:rPr sz="1200" dirty="0"/>
              <a:t>--output-format </a:t>
            </a:r>
            <a:r>
              <a:rPr sz="1200" dirty="0" err="1"/>
              <a:t>json</a:t>
            </a:r>
            <a:r>
              <a:rPr sz="1200" dirty="0"/>
              <a:t> = The inspector fills out a STRUCTURED report (not free-text notes)</a:t>
            </a:r>
          </a:p>
          <a:p>
            <a:pPr>
              <a:spcAft>
                <a:spcPts val="520"/>
              </a:spcAft>
              <a:defRPr sz="1300" b="0">
                <a:solidFill>
                  <a:srgbClr val="E67E22"/>
                </a:solidFill>
                <a:latin typeface="Calibri"/>
              </a:defRPr>
            </a:pPr>
            <a:r>
              <a:rPr sz="1200" dirty="0" err="1"/>
              <a:t>CLAUDE.md</a:t>
            </a:r>
            <a:r>
              <a:rPr sz="1200" dirty="0"/>
              <a:t> as CI context = The inspector follows the same CHECKLIST every time</a:t>
            </a:r>
          </a:p>
          <a:p>
            <a:pPr>
              <a:spcAft>
                <a:spcPts val="520"/>
              </a:spcAft>
              <a:defRPr sz="1300" b="0">
                <a:solidFill>
                  <a:srgbClr val="9B59B6"/>
                </a:solidFill>
                <a:latin typeface="Calibri"/>
              </a:defRPr>
            </a:pPr>
            <a:r>
              <a:rPr sz="1200" dirty="0"/>
              <a:t>Claude in CI/CD = An automated inspector that never gets tired, reviewing every single PR!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CI/CD Pipeline with Claude Code -- GitHub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828800" cy="6400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</a:t>
            </a:r>
            <a:br/>
            <a:r>
              <a:t>Opened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86000" y="1371600"/>
            <a:ext cx="45720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0" y="1188720"/>
            <a:ext cx="182880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Claude</a:t>
            </a:r>
            <a:br/>
            <a:r>
              <a:t>Review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572000" y="1371600"/>
            <a:ext cx="45720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0" y="1188720"/>
            <a:ext cx="1828800" cy="6400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JSON</a:t>
            </a:r>
            <a:br/>
            <a:r>
              <a:t>Output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858000" y="1371600"/>
            <a:ext cx="45720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0" y="1188720"/>
            <a:ext cx="182880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Pass/Fail</a:t>
            </a:r>
            <a:br/>
            <a:r>
              <a:t>Gate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144000" y="1371600"/>
            <a:ext cx="45720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601200" y="1188720"/>
            <a:ext cx="1828800" cy="6400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Merge or</a:t>
            </a:r>
            <a:br/>
            <a:r>
              <a:t>Block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03119"/>
            <a:ext cx="11094720" cy="3314963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194560"/>
            <a:ext cx="10515600" cy="4229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 b="0">
                <a:solidFill>
                  <a:srgbClr val="2ECC71"/>
                </a:solidFill>
                <a:latin typeface="Courier New"/>
              </a:defRPr>
            </a:pPr>
            <a:r>
              <a:rPr sz="1100" dirty="0"/>
              <a:t># .</a:t>
            </a:r>
            <a:r>
              <a:rPr sz="1100" dirty="0" err="1"/>
              <a:t>github</a:t>
            </a:r>
            <a:r>
              <a:rPr sz="1100" dirty="0"/>
              <a:t>/workflows/</a:t>
            </a:r>
            <a:r>
              <a:rPr sz="1100" dirty="0" err="1"/>
              <a:t>claude-review.yml</a:t>
            </a:r>
            <a:endParaRPr sz="1100" dirty="0"/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rPr sz="1100" dirty="0"/>
              <a:t>name: Claude Code Review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rPr sz="1100" dirty="0"/>
              <a:t>on: [</a:t>
            </a:r>
            <a:r>
              <a:rPr sz="1100" dirty="0" err="1"/>
              <a:t>pull_request</a:t>
            </a:r>
            <a:r>
              <a:rPr sz="1100" dirty="0"/>
              <a:t>]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rPr sz="1100" dirty="0"/>
              <a:t>jobs: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rPr sz="1100" dirty="0"/>
              <a:t>  review: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rPr sz="1100" dirty="0"/>
              <a:t>    runs-on: ubuntu-latest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rPr sz="1100" dirty="0"/>
              <a:t>    steps:</a:t>
            </a:r>
          </a:p>
          <a:p>
            <a:pPr>
              <a:spcAft>
                <a:spcPts val="480"/>
              </a:spcAft>
              <a:defRPr sz="1200" b="0">
                <a:solidFill>
                  <a:srgbClr val="7F8C8D"/>
                </a:solidFill>
                <a:latin typeface="Courier New"/>
              </a:defRPr>
            </a:pPr>
            <a:r>
              <a:rPr sz="1100" dirty="0"/>
              <a:t>      - uses: actions/checkout@v4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rPr sz="1100" dirty="0"/>
              <a:t>      - name: Run Claude Review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rPr sz="1100" dirty="0"/>
              <a:t>        run: |</a:t>
            </a:r>
          </a:p>
          <a:p>
            <a:pPr>
              <a:spcAft>
                <a:spcPts val="480"/>
              </a:spcAft>
              <a:defRPr sz="1200" b="0">
                <a:solidFill>
                  <a:srgbClr val="3498DB"/>
                </a:solidFill>
                <a:latin typeface="Courier New"/>
              </a:defRPr>
            </a:pPr>
            <a:r>
              <a:rPr sz="1100" dirty="0"/>
              <a:t>          </a:t>
            </a:r>
            <a:r>
              <a:rPr sz="1100" dirty="0" err="1"/>
              <a:t>claude</a:t>
            </a:r>
            <a:r>
              <a:rPr sz="1100" dirty="0"/>
              <a:t> -p "Review the changes in this PR.</a:t>
            </a:r>
          </a:p>
          <a:p>
            <a:pPr>
              <a:spcAft>
                <a:spcPts val="480"/>
              </a:spcAft>
              <a:defRPr sz="1200" b="0">
                <a:solidFill>
                  <a:srgbClr val="3498DB"/>
                </a:solidFill>
                <a:latin typeface="Courier New"/>
              </a:defRPr>
            </a:pPr>
            <a:r>
              <a:rPr sz="1100" dirty="0"/>
              <a:t>            Check for: security issues, performance problems,</a:t>
            </a:r>
          </a:p>
          <a:p>
            <a:pPr>
              <a:spcAft>
                <a:spcPts val="480"/>
              </a:spcAft>
              <a:defRPr sz="1200" b="0">
                <a:solidFill>
                  <a:srgbClr val="3498DB"/>
                </a:solidFill>
                <a:latin typeface="Courier New"/>
              </a:defRPr>
            </a:pPr>
            <a:r>
              <a:rPr sz="1100" dirty="0"/>
              <a:t>            missing tests. Output a JSON report with severity</a:t>
            </a:r>
          </a:p>
          <a:p>
            <a:pPr>
              <a:spcAft>
                <a:spcPts val="480"/>
              </a:spcAft>
              <a:defRPr sz="1200" b="0">
                <a:solidFill>
                  <a:srgbClr val="3498DB"/>
                </a:solidFill>
                <a:latin typeface="Courier New"/>
              </a:defRPr>
            </a:pPr>
            <a:r>
              <a:rPr sz="1100" dirty="0"/>
              <a:t>            levels." --output-format </a:t>
            </a:r>
            <a:r>
              <a:rPr sz="1100" dirty="0" err="1"/>
              <a:t>json</a:t>
            </a:r>
            <a:r>
              <a:rPr sz="1100" dirty="0"/>
              <a:t> &gt; </a:t>
            </a:r>
            <a:r>
              <a:rPr sz="1100" dirty="0" err="1"/>
              <a:t>review.json</a:t>
            </a:r>
            <a:endParaRPr sz="1100" dirty="0"/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rPr sz="1100" dirty="0"/>
              <a:t>      - name: Check Results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rPr sz="1100" dirty="0"/>
              <a:t>        run: |</a:t>
            </a:r>
          </a:p>
          <a:p>
            <a:pPr>
              <a:spcAft>
                <a:spcPts val="480"/>
              </a:spcAft>
              <a:defRPr sz="1200" b="0">
                <a:solidFill>
                  <a:srgbClr val="7F8C8D"/>
                </a:solidFill>
                <a:latin typeface="Courier New"/>
              </a:defRPr>
            </a:pPr>
            <a:r>
              <a:rPr sz="1100" dirty="0"/>
              <a:t>          # Parse JSON and fail if critical issues found</a:t>
            </a:r>
          </a:p>
          <a:p>
            <a:pPr>
              <a:spcAft>
                <a:spcPts val="480"/>
              </a:spcAft>
              <a:defRPr sz="1200" b="0">
                <a:solidFill>
                  <a:srgbClr val="E67E22"/>
                </a:solidFill>
                <a:latin typeface="Courier New"/>
              </a:defRPr>
            </a:pPr>
            <a:r>
              <a:rPr sz="1100" dirty="0"/>
              <a:t>          python </a:t>
            </a:r>
            <a:r>
              <a:rPr sz="1100" dirty="0" err="1"/>
              <a:t>check_review.py</a:t>
            </a:r>
            <a:r>
              <a:rPr sz="1100" dirty="0"/>
              <a:t> </a:t>
            </a:r>
            <a:r>
              <a:rPr sz="1100" dirty="0" err="1"/>
              <a:t>review.json</a:t>
            </a:r>
            <a:endParaRPr sz="1100" dirty="0"/>
          </a:p>
        </p:txBody>
      </p:sp>
      <p:sp>
        <p:nvSpPr>
          <p:cNvPr id="16" name="Rounded Rectangle 15"/>
          <p:cNvSpPr/>
          <p:nvPr/>
        </p:nvSpPr>
        <p:spPr>
          <a:xfrm>
            <a:off x="548640" y="5486399"/>
            <a:ext cx="11094720" cy="1303281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5577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  <a:latin typeface="Calibri"/>
              </a:defRPr>
            </a:pPr>
            <a:r>
              <a:t>Key CI/CD Best Practices: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Use CLAUDE.md as CI context -- ensures consistent review standards across all runs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Review ONLY new issues -- don't re-flag old tech debt on every PR, use diff-based prompts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Structured JSON output -- parse results programmatically for pass/fail gates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The Claude Code SDK -- Programmatic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11064240" cy="137160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The Claude Code SDK lets you embed Claude Code capabilities into your own scripts and tools.</a:t>
            </a:r>
          </a:p>
          <a:p>
            <a:pPr>
              <a:spcAft>
                <a:spcPts val="64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Instead of running CLI commands, you call Claude Code programmatically from Node.js or Python.</a:t>
            </a:r>
          </a:p>
          <a:p>
            <a:pPr>
              <a:spcAft>
                <a:spcPts val="64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This is the foundation for building custom CI/CD integrations and automated workflows.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199"/>
            <a:ext cx="5301902" cy="3908453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 b="0">
                <a:solidFill>
                  <a:srgbClr val="2ECC71"/>
                </a:solidFill>
                <a:latin typeface="Courier New"/>
              </a:defRPr>
            </a:pPr>
            <a:r>
              <a:rPr dirty="0"/>
              <a:t># Using Claude Code SDK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rPr dirty="0"/>
              <a:t>import subprocess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rPr dirty="0"/>
              <a:t>import </a:t>
            </a:r>
            <a:r>
              <a:rPr dirty="0" err="1"/>
              <a:t>json</a:t>
            </a:r>
            <a:endParaRPr dirty="0"/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rPr dirty="0"/>
              <a:t>result = </a:t>
            </a:r>
            <a:r>
              <a:rPr dirty="0" err="1"/>
              <a:t>subprocess.run</a:t>
            </a:r>
            <a:r>
              <a:rPr dirty="0"/>
              <a:t>(</a:t>
            </a:r>
          </a:p>
          <a:p>
            <a:pPr>
              <a:spcAft>
                <a:spcPts val="480"/>
              </a:spcAft>
              <a:defRPr sz="1200" b="0">
                <a:solidFill>
                  <a:srgbClr val="3498DB"/>
                </a:solidFill>
                <a:latin typeface="Courier New"/>
              </a:defRPr>
            </a:pPr>
            <a:r>
              <a:rPr dirty="0"/>
              <a:t>  ["</a:t>
            </a:r>
            <a:r>
              <a:rPr dirty="0" err="1"/>
              <a:t>claude</a:t>
            </a:r>
            <a:r>
              <a:rPr dirty="0"/>
              <a:t>", "-p",</a:t>
            </a:r>
          </a:p>
          <a:p>
            <a:pPr>
              <a:spcAft>
                <a:spcPts val="480"/>
              </a:spcAft>
              <a:defRPr sz="1200" b="0">
                <a:solidFill>
                  <a:srgbClr val="3498DB"/>
                </a:solidFill>
                <a:latin typeface="Courier New"/>
              </a:defRPr>
            </a:pPr>
            <a:r>
              <a:rPr dirty="0"/>
              <a:t>   "Review this code",</a:t>
            </a:r>
          </a:p>
          <a:p>
            <a:pPr>
              <a:spcAft>
                <a:spcPts val="480"/>
              </a:spcAft>
              <a:defRPr sz="1200" b="0">
                <a:solidFill>
                  <a:srgbClr val="3498DB"/>
                </a:solidFill>
                <a:latin typeface="Courier New"/>
              </a:defRPr>
            </a:pPr>
            <a:r>
              <a:rPr dirty="0"/>
              <a:t>   "--output-format", "</a:t>
            </a:r>
            <a:r>
              <a:rPr dirty="0" err="1"/>
              <a:t>json</a:t>
            </a:r>
            <a:r>
              <a:rPr dirty="0"/>
              <a:t>"],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rPr dirty="0"/>
              <a:t>  </a:t>
            </a:r>
            <a:r>
              <a:rPr dirty="0" err="1"/>
              <a:t>capture_output</a:t>
            </a:r>
            <a:r>
              <a:rPr dirty="0"/>
              <a:t>=True,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rPr dirty="0"/>
              <a:t>  text=True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rPr dirty="0"/>
              <a:t>)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>
              <a:spcAft>
                <a:spcPts val="480"/>
              </a:spcAft>
              <a:defRPr sz="1200" b="0">
                <a:solidFill>
                  <a:srgbClr val="E67E22"/>
                </a:solidFill>
                <a:latin typeface="Courier New"/>
              </a:defRPr>
            </a:pPr>
            <a:r>
              <a:rPr dirty="0"/>
              <a:t>review = </a:t>
            </a:r>
            <a:r>
              <a:rPr dirty="0" err="1"/>
              <a:t>json.loads</a:t>
            </a:r>
            <a:r>
              <a:rPr dirty="0"/>
              <a:t>(</a:t>
            </a:r>
            <a:r>
              <a:rPr dirty="0" err="1"/>
              <a:t>result.stdout</a:t>
            </a:r>
            <a:r>
              <a:rPr dirty="0"/>
              <a:t>)</a:t>
            </a:r>
          </a:p>
          <a:p>
            <a:pPr>
              <a:spcAft>
                <a:spcPts val="480"/>
              </a:spcAft>
              <a:defRPr sz="1200" b="0">
                <a:solidFill>
                  <a:srgbClr val="E74C3C"/>
                </a:solidFill>
                <a:latin typeface="Courier New"/>
              </a:defRPr>
            </a:pPr>
            <a:r>
              <a:rPr dirty="0"/>
              <a:t>if </a:t>
            </a:r>
            <a:r>
              <a:rPr dirty="0" err="1"/>
              <a:t>review.get</a:t>
            </a:r>
            <a:r>
              <a:rPr dirty="0"/>
              <a:t>('</a:t>
            </a:r>
            <a:r>
              <a:rPr dirty="0" err="1"/>
              <a:t>critical_issues</a:t>
            </a:r>
            <a:r>
              <a:rPr dirty="0"/>
              <a:t>'):</a:t>
            </a:r>
          </a:p>
          <a:p>
            <a:pPr>
              <a:spcAft>
                <a:spcPts val="480"/>
              </a:spcAft>
              <a:defRPr sz="1200" b="0">
                <a:solidFill>
                  <a:srgbClr val="E74C3C"/>
                </a:solidFill>
                <a:latin typeface="Courier New"/>
              </a:defRPr>
            </a:pPr>
            <a:r>
              <a:rPr dirty="0"/>
              <a:t>    </a:t>
            </a:r>
            <a:r>
              <a:rPr dirty="0" err="1"/>
              <a:t>sys.exit</a:t>
            </a:r>
            <a:r>
              <a:rPr dirty="0"/>
              <a:t>(1)  # Fail the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SDK Use Cases: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200400"/>
            <a:ext cx="2103120" cy="36576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 Review Bot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3200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Auto-review every pull request</a:t>
            </a:r>
            <a:br/>
            <a:r>
              <a:t>and post comments on GitHub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4069080"/>
            <a:ext cx="2103120" cy="3657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Code Quality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4069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Block merges if Claude finds</a:t>
            </a:r>
            <a:br/>
            <a:r>
              <a:t>critical issues in the diff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4937760"/>
            <a:ext cx="2103120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Documentation 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4937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Auto-generate docs on every</a:t>
            </a:r>
            <a:br/>
            <a:r>
              <a:t>release from code changes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5806440"/>
            <a:ext cx="210312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Migration Assistant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58064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Automate code migrations</a:t>
            </a:r>
            <a:br/>
            <a:r>
              <a:t>across multiple repositories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Exam Prep -- Key Questions to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Can you answer these from your Module 3 study?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640080" cy="457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554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How does the CLAUDE.md hierarchy resolve across user / project / directory levels, and what</a:t>
            </a:r>
            <a:br/>
            <a:r>
              <a:t>do @import and /memory do?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23160"/>
            <a:ext cx="640080" cy="4572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4231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When do you use a slash command vs a Skill vs an always-on CLAUDE.md rule, and where</a:t>
            </a:r>
            <a:br/>
            <a:r>
              <a:t>does each live on disk?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91839"/>
            <a:ext cx="640080" cy="4572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91839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How do path-specific rules (glob frontmatter in .claude/rules/) save tokens and improve</a:t>
            </a:r>
            <a:br/>
            <a:r>
              <a:t>precision vs a monolithic CLAUDE.md?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60520"/>
            <a:ext cx="640080" cy="4572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605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When do you use Plan mode vs direct execution, and what is the Explore subagent for?</a:t>
            </a:r>
            <a:br/>
            <a:r>
              <a:t>What does context:fork mean?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29200"/>
            <a:ext cx="640080" cy="4572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0292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How do TDD loops and interview-style prompting improve Claude Code output quality?</a:t>
            </a:r>
            <a:br/>
            <a:r>
              <a:t>When would you combine both strategies?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897880"/>
            <a:ext cx="640080" cy="45720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8978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How do you run Claude Code headlessly in CI/CD (-p, --output-format json), and how do you</a:t>
            </a:r>
            <a:br/>
            <a:r>
              <a:t>review only new issues per PR?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Module 3 -- Exam Cheat Sheet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640080" cy="5029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097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CLAUDE.md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4173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3 levels: User &gt; Project &gt; Directory. More specific WINS. @import splits config into modules. /memory to debug.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640080" cy="5029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011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Commands &amp; 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3317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Slash commands = .claude/commands/ (on-demand). Skills = .claude/skills/SKILL.md (packaged workflow). CLAUDE.md = always-on.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640080" cy="5029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Path-Specific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2461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.claude/rules/ with glob frontmatter. Rules load ONLY when file matches glob. Saves tokens, improves precision.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640080" cy="5029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840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Plan Mode vs Direct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1605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Plan mode for complex multi-file changes. Direct for simple fixes. Explore subagent scouts in context:fork.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754880"/>
            <a:ext cx="640080" cy="5029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754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Iterative Refinement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0749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TDD: write failing test -&gt; Claude fixes. Interview-style: Claude asks questions first. I/O examples: show don't tell.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669280"/>
            <a:ext cx="640080" cy="50292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669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CI/CD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9893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-p flag for headless. --output-format json for structured output. CLAUDE.md as CI context. Review only new issues.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6492240"/>
            <a:ext cx="11247120" cy="27432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39C12"/>
                </a:solidFill>
                <a:latin typeface="Calibri"/>
              </a:defRPr>
            </a:pPr>
            <a:r>
              <a:t>Remember: CLAUDE.md = always-on rules | Slash commands = on-demand | Skills = packaged workflows | -p = headless CI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4387</TotalTime>
  <Words>4026</Words>
  <Application>Microsoft Macintosh PowerPoint</Application>
  <PresentationFormat>Widescreen</PresentationFormat>
  <Paragraphs>533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Rohit Sakate</cp:lastModifiedBy>
  <cp:revision>17</cp:revision>
  <dcterms:created xsi:type="dcterms:W3CDTF">2013-01-27T09:14:16Z</dcterms:created>
  <dcterms:modified xsi:type="dcterms:W3CDTF">2026-07-12T17:54:43Z</dcterms:modified>
  <cp:category/>
</cp:coreProperties>
</file>