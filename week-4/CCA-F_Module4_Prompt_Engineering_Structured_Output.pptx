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4650"/>
  </p:normalViewPr>
  <p:slideViewPr>
    <p:cSldViewPr snapToGrid="0" snapToObjects="1">
      <p:cViewPr varScale="1">
        <p:scale>
          <a:sx n="156" d="100"/>
          <a:sy n="156" d="100"/>
        </p:scale>
        <p:origin x="18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CCA-F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498DB"/>
                </a:solidFill>
                <a:latin typeface="Calibri"/>
              </a:defRPr>
            </a:pPr>
            <a:r>
              <a:t>Prompt Engineering &amp; Structured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31920" cy="36576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Claude Certified Architect --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Quick Reference Study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486400"/>
            <a:ext cx="178308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S1: Explicit</a:t>
            </a:r>
            <a:br/>
            <a:r>
              <a:t>Criteria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5486400"/>
            <a:ext cx="1783080" cy="8229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S2: Few-Shot</a:t>
            </a:r>
            <a:br/>
            <a:r>
              <a:t>Prompting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486400"/>
            <a:ext cx="178308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S3: tool_use &amp;</a:t>
            </a:r>
            <a:br/>
            <a:r>
              <a:t>JSON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486400"/>
            <a:ext cx="17830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S4: Validation</a:t>
            </a:r>
            <a:br/>
            <a:r>
              <a:t>&amp; Retry Loops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5486400"/>
            <a:ext cx="178308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S5: Batch</a:t>
            </a:r>
            <a:br/>
            <a:r>
              <a:t>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5486400"/>
            <a:ext cx="1783080" cy="8229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S6: Multi-Pass</a:t>
            </a:r>
            <a:br/>
            <a:r>
              <a:t>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Module 4 -- Learning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828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Self-Paced</a:t>
            </a:r>
            <a:br/>
            <a:r>
              <a:t>Learning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7520" y="1371600"/>
            <a:ext cx="18288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182880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Instructor</a:t>
            </a:r>
            <a:br/>
            <a:r>
              <a:t>Led Session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1828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18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20" y="1371600"/>
            <a:ext cx="18288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Builds on Skilljar Course: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0896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Building with the Claude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Prompt techniques, tool_use, structured data,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3 Labs (2 mandatory, 1 optional):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72000"/>
            <a:ext cx="54864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Precision Prompting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Explicit criteria &amp; few-shot consistency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12080"/>
            <a:ext cx="5486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Enforcing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tool_use schemas + validation &amp; retry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852160"/>
            <a:ext cx="54864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Scaling Output (Optional)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852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Batch processing &amp; multi-pass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6 Key Sections: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108960"/>
            <a:ext cx="54864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Designing Prompts with Explicit Criteria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657600"/>
            <a:ext cx="54864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Few-Shot Prompting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30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4206240"/>
            <a:ext cx="5486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Structured Output (tool_use + JSON)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60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754879"/>
            <a:ext cx="54864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754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Validation, Retry &amp; Feedback Loops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47548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60 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5303520"/>
            <a:ext cx="54864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Batch Processing with Claude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30 min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5852160"/>
            <a:ext cx="548640" cy="3657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Multi-Instance &amp; Multi-Pass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5852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74C3C"/>
                </a:solidFill>
              </a:defRPr>
            </a:pPr>
            <a:r>
              <a:t>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S1: Designing Prompts with</a:t>
            </a:r>
            <a:br/>
            <a:r>
              <a:t>Explicit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Clear, categorical rules and severity tiers to cut false positives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What Are Explicit Criteria?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Explicit criteria = Concrete, testable rules that tell Claude EXACTLY what to do.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Instead of 'find bugs', say 'flag as critical if: SQL injection, unsanitized user input, or hardcoded secrets'.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Think of it like giving a judge a rulebook instead of saying 'be fair'.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The Three Pillars of Explicit Prompting: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338328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CATEGORICAL</a:t>
            </a:r>
            <a:br/>
            <a:r>
              <a:t>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3383280" cy="16459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Define exact categories with</a:t>
            </a:r>
            <a:br/>
            <a:r>
              <a:t>clear boundaries</a:t>
            </a:r>
            <a:br/>
            <a:br/>
            <a:r>
              <a:t>Not: 'find issues'</a:t>
            </a:r>
            <a:br/>
            <a:r>
              <a:t>But: 'classify as: bug,</a:t>
            </a:r>
            <a:br/>
            <a:r>
              <a:t>performance, security, style'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52160"/>
            <a:ext cx="338328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Like a SORTING HAT</a:t>
            </a:r>
            <a:br/>
            <a:r>
              <a:t>in Harry Potter -- each</a:t>
            </a:r>
            <a:br/>
            <a:r>
              <a:t>item goes to exactly</a:t>
            </a:r>
            <a:br/>
            <a:r>
              <a:t>one house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91840"/>
            <a:ext cx="338328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SEVERITY</a:t>
            </a:r>
            <a:br/>
            <a:r>
              <a:t>TIERS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023360"/>
            <a:ext cx="3383280" cy="16459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4114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Define what each level means</a:t>
            </a:r>
            <a:br/>
            <a:r>
              <a:t>with concrete examples</a:t>
            </a:r>
            <a:br/>
            <a:br/>
            <a:r>
              <a:t>Critical = data loss, security</a:t>
            </a:r>
            <a:br/>
            <a:r>
              <a:t>High = feature broken</a:t>
            </a:r>
            <a:br/>
            <a:r>
              <a:t>Medium = degraded 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852160"/>
            <a:ext cx="338328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587044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98DB"/>
                </a:solidFill>
                <a:latin typeface="Calibri"/>
              </a:defRPr>
            </a:pPr>
            <a:r>
              <a:t>Like a HOSPITAL</a:t>
            </a:r>
            <a:br/>
            <a:r>
              <a:t>TRIAGE system --</a:t>
            </a:r>
            <a:br/>
            <a:r>
              <a:t>red, yellow, green</a:t>
            </a:r>
            <a:br/>
            <a:r>
              <a:t>tags on patients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291840"/>
            <a:ext cx="33832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DECISION</a:t>
            </a:r>
            <a:br/>
            <a:r>
              <a:t>BOUNDARIES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023360"/>
            <a:ext cx="3383280" cy="16459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1148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Define the edge cases explicitly</a:t>
            </a:r>
            <a:br/>
            <a:r>
              <a:t>so Claude doesn't guess</a:t>
            </a:r>
            <a:br/>
            <a:br/>
            <a:r>
              <a:t>'If unsure between High and</a:t>
            </a:r>
            <a:br/>
            <a:r>
              <a:t>Medium, default to High'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852160"/>
            <a:ext cx="338328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587044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Like SPEED LIMITS --</a:t>
            </a:r>
            <a:br/>
            <a:r>
              <a:t>clear numbers, not</a:t>
            </a:r>
            <a:br/>
            <a:r>
              <a:t>'drive reasonably'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Vague vs Explicit Prompts --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The #1 prompt engineering mistake: being vague. Compare these two approaches: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27432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BAD: Vague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84632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b="1" dirty="0">
                <a:solidFill>
                  <a:srgbClr val="7F8C8D"/>
                </a:solidFill>
                <a:latin typeface="Courier New"/>
              </a:rPr>
              <a:t>"Review this code and find any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b="1" dirty="0">
                <a:solidFill>
                  <a:srgbClr val="7F8C8D"/>
                </a:solidFill>
                <a:latin typeface="Courier New"/>
              </a:rPr>
              <a:t> issues that might be important."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ourier New"/>
              </a:defRPr>
            </a:pPr>
            <a:endParaRPr sz="1000" dirty="0">
              <a:solidFill>
                <a:srgbClr val="7F8C8D"/>
              </a:solidFill>
              <a:latin typeface="Courier New"/>
            </a:endParaRP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ourier New"/>
              </a:defRPr>
            </a:pPr>
            <a:r>
              <a:rPr sz="1000" dirty="0"/>
              <a:t>Problems: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- What counts as 'important'?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- No categories defined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- No severity levels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- Claude guesses -&gt; inconsistent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- High false positive rate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ourier New"/>
              </a:defRPr>
            </a:pPr>
            <a:r>
              <a:rPr sz="1000" dirty="0"/>
              <a:t>- Different results each run!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27432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GOOD: Explicit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>
                <a:solidFill>
                  <a:srgbClr val="2ECC71"/>
                </a:solidFill>
                <a:latin typeface="Courier New"/>
              </a:rPr>
              <a:t>"</a:t>
            </a:r>
            <a:r>
              <a:rPr sz="1000" b="1" dirty="0">
                <a:solidFill>
                  <a:srgbClr val="2ECC71"/>
                </a:solidFill>
                <a:latin typeface="Courier New"/>
              </a:rPr>
              <a:t>Classify each issue as</a:t>
            </a:r>
            <a:r>
              <a:rPr sz="1000" dirty="0">
                <a:solidFill>
                  <a:srgbClr val="2ECC71"/>
                </a:solidFill>
                <a:latin typeface="Courier New"/>
              </a:rPr>
              <a:t>: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SECURITY | PERFORMANCE | STYLE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Severity: CRITICAL if data loss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or injection. HIGH if feature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breaks. MEDIUM if UX degrades."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ourier New"/>
              </a:defRPr>
            </a:pPr>
            <a:endParaRPr sz="1000" dirty="0"/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Benefits: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- Clear categories = consistent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- Defined severity = actionable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- Reproducible across runs!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192024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Real-Life Analogy: Grading Student Essays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rPr dirty="0"/>
              <a:t>Vague: 'Grade these essays fairly.' -- Every teacher grades differently. No consistency!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dirty="0"/>
              <a:t>Explicit: 'Use this rubric: Thesis (20pts), Evidence (30pts), Grammar (20pts), Structure (30pts)'.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alibri"/>
              </a:defRPr>
            </a:pPr>
            <a:r>
              <a:rPr dirty="0"/>
              <a:t>With a rubric, ANY teacher produces consistent grades. Explicit prompts are your rubric for Claude!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dirty="0"/>
              <a:t>Reducing false positives = iterating on your rubric. Run it, check results, tighten the criteria.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Designing Severity Tiers -- A 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Severity tiers turn subjective judgment into objective, repeatable classification: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943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577840" cy="3952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# Prompt with explicit severity tiers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000" dirty="0" err="1"/>
              <a:t>system_prompt</a:t>
            </a:r>
            <a:r>
              <a:rPr sz="1000" dirty="0"/>
              <a:t> = """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Classify each code issue found.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 sz="1000" dirty="0"/>
          </a:p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SEVERITY DEFINITIONS:</a:t>
            </a:r>
          </a:p>
          <a:p>
            <a:pPr>
              <a:spcAft>
                <a:spcPts val="480"/>
              </a:spcAft>
              <a:defRPr sz="1200" b="1">
                <a:solidFill>
                  <a:srgbClr val="E74C3C"/>
                </a:solidFill>
                <a:latin typeface="Courier New"/>
              </a:defRPr>
            </a:pPr>
            <a:r>
              <a:rPr sz="1000" dirty="0"/>
              <a:t>CRITICAL: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- SQL injection or XSS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- Hardcoded secrets/passwords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- Data loss or corruption risk</a:t>
            </a:r>
          </a:p>
          <a:p>
            <a:pPr>
              <a:spcAft>
                <a:spcPts val="480"/>
              </a:spcAft>
              <a:defRPr sz="1200" b="1">
                <a:solidFill>
                  <a:srgbClr val="E67E22"/>
                </a:solidFill>
                <a:latin typeface="Courier New"/>
              </a:defRPr>
            </a:pPr>
            <a:r>
              <a:rPr sz="1000" dirty="0"/>
              <a:t>HIGH: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- Feature completely broken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- </a:t>
            </a:r>
            <a:r>
              <a:rPr lang="en-US" sz="1000" dirty="0"/>
              <a:t>A</a:t>
            </a:r>
            <a:r>
              <a:rPr sz="1000" dirty="0"/>
              <a:t>uthentication bypass</a:t>
            </a:r>
          </a:p>
          <a:p>
            <a:pPr>
              <a:spcAft>
                <a:spcPts val="480"/>
              </a:spcAft>
              <a:defRPr sz="1200" b="1">
                <a:solidFill>
                  <a:srgbClr val="3498DB"/>
                </a:solidFill>
                <a:latin typeface="Courier New"/>
              </a:defRPr>
            </a:pPr>
            <a:r>
              <a:rPr sz="1000" dirty="0"/>
              <a:t>MEDIUM: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- Degraded user experience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- Missing error handling</a:t>
            </a:r>
          </a:p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LOW: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- Code style / naming issues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"""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Why This Works: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286000"/>
            <a:ext cx="22860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Concrete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76529"/>
            <a:ext cx="228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Each tier has specific, testable</a:t>
            </a:r>
            <a:br>
              <a:rPr dirty="0"/>
            </a:br>
            <a:r>
              <a:rPr dirty="0"/>
              <a:t>criteria -- no guessing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337560"/>
            <a:ext cx="228600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Clear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728089"/>
            <a:ext cx="228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If unsure between tiers, the</a:t>
            </a:r>
            <a:br>
              <a:rPr dirty="0"/>
            </a:br>
            <a:r>
              <a:rPr dirty="0"/>
              <a:t>examples guide the decision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297681"/>
            <a:ext cx="22860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Iterate to Improve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656296"/>
            <a:ext cx="228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Run the prompt, check false</a:t>
            </a:r>
            <a:br>
              <a:rPr dirty="0"/>
            </a:br>
            <a:r>
              <a:rPr dirty="0"/>
              <a:t>positives, tighten criteria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224465"/>
            <a:ext cx="22860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Consistent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599515"/>
            <a:ext cx="228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Same input = same severity</a:t>
            </a:r>
            <a:br>
              <a:rPr dirty="0"/>
            </a:br>
            <a:r>
              <a:rPr dirty="0"/>
              <a:t>across multiple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126480"/>
            <a:ext cx="11064240" cy="54864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EXAM TIP: Explicit criteria = categorical rules + severity tiers + concrete examples. This is how you cut false 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3498DB"/>
                </a:solidFill>
              </a:defRPr>
            </a:pPr>
            <a:r>
              <a:t>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S2: Few-Shot Prompting for</a:t>
            </a:r>
            <a:br/>
            <a:r>
              <a:t>Consistency &amp;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Use 2-4 labeled examples to lock in format, tone, and edge-case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What is Few-Shot Prompting?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Few-shot prompting = Giving Claude 2-4 worked examples BEFORE asking it to do the task.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The examples show the expected input, output format, and decision logic for ambiguous cases.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Like training a new employee by showing them 3 completed reports before asking them to write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The Prompting Spectrum: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338328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ZERO-SHOT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No examples at all.</a:t>
            </a:r>
            <a:br/>
            <a:r>
              <a:t>Just instructions.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338328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Works for simple tasks</a:t>
            </a:r>
            <a:br/>
            <a:r>
              <a:t>where the format is obvious.</a:t>
            </a:r>
            <a:br/>
            <a:br/>
            <a:r>
              <a:t>'Translate this to French'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035040"/>
            <a:ext cx="338328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Like saying 'cook</a:t>
            </a:r>
            <a:br/>
            <a:r>
              <a:t>dinner' to a chef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00400"/>
            <a:ext cx="33832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FEW-SHOT</a:t>
            </a:r>
            <a:br/>
            <a:r>
              <a:t>(2-4 examples)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Provide labeled examples</a:t>
            </a:r>
            <a:br/>
            <a:r>
              <a:t>that demonstrate format.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389120"/>
            <a:ext cx="338328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Best for: complex extraction,</a:t>
            </a:r>
            <a:br/>
            <a:r>
              <a:t>ambiguous classification, tasks</a:t>
            </a:r>
            <a:br/>
            <a:r>
              <a:t>where format matters.</a:t>
            </a:r>
            <a:br/>
            <a:br/>
            <a:r>
              <a:t>'Here are 3 examples...'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6035040"/>
            <a:ext cx="338328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605332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Like showing a chef</a:t>
            </a:r>
            <a:br/>
            <a:r>
              <a:t>3 photos of the dish</a:t>
            </a:r>
            <a:br/>
            <a:r>
              <a:t>you want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200400"/>
            <a:ext cx="33832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MANY-SHOT</a:t>
            </a:r>
            <a:br/>
            <a:r>
              <a:t>(10+ examples)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Large set of examples.</a:t>
            </a:r>
            <a:br/>
            <a:r>
              <a:t>Higher cost, diminishing returns.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389120"/>
            <a:ext cx="338328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4480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Rarely needed. Use only if</a:t>
            </a:r>
            <a:br/>
            <a:r>
              <a:t>few-shot isn't consistent</a:t>
            </a:r>
            <a:br/>
            <a:r>
              <a:t>enough. Eats tokens fast.</a:t>
            </a:r>
            <a:br/>
            <a:br/>
            <a:r>
              <a:t>Usually 2-4 is plenty!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6035040"/>
            <a:ext cx="338328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605332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Like giving a chef</a:t>
            </a:r>
            <a:br/>
            <a:r>
              <a:t>an entire cookbook</a:t>
            </a:r>
            <a:br/>
            <a:r>
              <a:t>(overkill!)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Few-Shot Prompting -- 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Show Claude the pattern with examples, then give the real task. It matches the format automatically: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6400800" cy="4572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603504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sz="800" dirty="0"/>
              <a:t># Few-shot: sentiment classification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endParaRPr sz="800" dirty="0"/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messages = [</a:t>
            </a:r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sz="800" dirty="0"/>
              <a:t>  # Example 1 - Clear positive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{"</a:t>
            </a:r>
            <a:r>
              <a:rPr sz="800" dirty="0" err="1"/>
              <a:t>role":"user","content</a:t>
            </a:r>
            <a:r>
              <a:rPr sz="800" dirty="0"/>
              <a:t>":</a:t>
            </a:r>
          </a:p>
          <a:p>
            <a:pPr>
              <a:spcAft>
                <a:spcPts val="440"/>
              </a:spcAft>
              <a:defRPr sz="1100" b="0">
                <a:solidFill>
                  <a:srgbClr val="3498DB"/>
                </a:solidFill>
                <a:latin typeface="Courier New"/>
              </a:defRPr>
            </a:pPr>
            <a:r>
              <a:rPr sz="800" dirty="0"/>
              <a:t>   "Review: Great product!"},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{"</a:t>
            </a:r>
            <a:r>
              <a:rPr sz="800" dirty="0" err="1"/>
              <a:t>role":"assistant","content</a:t>
            </a:r>
            <a:r>
              <a:rPr sz="800" dirty="0"/>
              <a:t>":</a:t>
            </a:r>
          </a:p>
          <a:p>
            <a:pPr>
              <a:spcAft>
                <a:spcPts val="440"/>
              </a:spcAft>
              <a:defRPr sz="1100" b="0">
                <a:solidFill>
                  <a:srgbClr val="2ECC71"/>
                </a:solidFill>
                <a:latin typeface="Courier New"/>
              </a:defRPr>
            </a:pPr>
            <a:r>
              <a:rPr sz="800" dirty="0"/>
              <a:t>   "sentiment:positive|conf:0.95"},</a:t>
            </a:r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sz="800" dirty="0"/>
              <a:t>  # Example 2 - Tricky sarcasm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{"</a:t>
            </a:r>
            <a:r>
              <a:rPr sz="800" dirty="0" err="1"/>
              <a:t>role":"user","content</a:t>
            </a:r>
            <a:r>
              <a:rPr sz="800" dirty="0"/>
              <a:t>":</a:t>
            </a:r>
          </a:p>
          <a:p>
            <a:pPr>
              <a:spcAft>
                <a:spcPts val="440"/>
              </a:spcAft>
              <a:defRPr sz="1100" b="0">
                <a:solidFill>
                  <a:srgbClr val="3498DB"/>
                </a:solidFill>
                <a:latin typeface="Courier New"/>
              </a:defRPr>
            </a:pPr>
            <a:r>
              <a:rPr sz="800" dirty="0"/>
              <a:t>   "Review: Oh sure, it works GREAT</a:t>
            </a:r>
          </a:p>
          <a:p>
            <a:pPr>
              <a:spcAft>
                <a:spcPts val="440"/>
              </a:spcAft>
              <a:defRPr sz="1100" b="0">
                <a:solidFill>
                  <a:srgbClr val="3498DB"/>
                </a:solidFill>
                <a:latin typeface="Courier New"/>
              </a:defRPr>
            </a:pPr>
            <a:r>
              <a:rPr sz="800" dirty="0"/>
              <a:t>    if you enjoy waiting 10 min"},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{"</a:t>
            </a:r>
            <a:r>
              <a:rPr sz="800" dirty="0" err="1"/>
              <a:t>role":"assistant","content</a:t>
            </a:r>
            <a:r>
              <a:rPr sz="800" dirty="0"/>
              <a:t>":</a:t>
            </a:r>
          </a:p>
          <a:p>
            <a:pPr>
              <a:spcAft>
                <a:spcPts val="440"/>
              </a:spcAft>
              <a:defRPr sz="1100" b="0">
                <a:solidFill>
                  <a:srgbClr val="E74C3C"/>
                </a:solidFill>
                <a:latin typeface="Courier New"/>
              </a:defRPr>
            </a:pPr>
            <a:r>
              <a:rPr sz="800" dirty="0"/>
              <a:t>   "sentiment:negative|conf:0.85"},</a:t>
            </a:r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sz="800" dirty="0"/>
              <a:t>  # Example 3 - Genuinely mixed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{"</a:t>
            </a:r>
            <a:r>
              <a:rPr sz="800" dirty="0" err="1"/>
              <a:t>role":"user","content</a:t>
            </a:r>
            <a:r>
              <a:rPr sz="800" dirty="0"/>
              <a:t>":</a:t>
            </a:r>
          </a:p>
          <a:p>
            <a:pPr>
              <a:spcAft>
                <a:spcPts val="440"/>
              </a:spcAft>
              <a:defRPr sz="1100" b="0">
                <a:solidFill>
                  <a:srgbClr val="3498DB"/>
                </a:solidFill>
                <a:latin typeface="Courier New"/>
              </a:defRPr>
            </a:pPr>
            <a:r>
              <a:rPr sz="800" dirty="0"/>
              <a:t>   "Review: Fast shipping, but item</a:t>
            </a:r>
          </a:p>
          <a:p>
            <a:pPr>
              <a:spcAft>
                <a:spcPts val="440"/>
              </a:spcAft>
              <a:defRPr sz="1100" b="0">
                <a:solidFill>
                  <a:srgbClr val="3498DB"/>
                </a:solidFill>
                <a:latin typeface="Courier New"/>
              </a:defRPr>
            </a:pPr>
            <a:r>
              <a:rPr sz="800" dirty="0"/>
              <a:t>    was damaged on arrival"},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{"</a:t>
            </a:r>
            <a:r>
              <a:rPr sz="800" dirty="0" err="1"/>
              <a:t>role":"assistant","content</a:t>
            </a:r>
            <a:r>
              <a:rPr sz="800" dirty="0"/>
              <a:t>":</a:t>
            </a:r>
          </a:p>
          <a:p>
            <a:pPr>
              <a:spcAft>
                <a:spcPts val="440"/>
              </a:spcAft>
              <a:defRPr sz="1100" b="0">
                <a:solidFill>
                  <a:srgbClr val="E67E22"/>
                </a:solidFill>
                <a:latin typeface="Courier New"/>
              </a:defRPr>
            </a:pPr>
            <a:r>
              <a:rPr sz="800" dirty="0"/>
              <a:t> </a:t>
            </a:r>
            <a:r>
              <a:rPr lang="en-US" sz="800" dirty="0"/>
              <a:t> </a:t>
            </a:r>
            <a:r>
              <a:rPr sz="800" dirty="0"/>
              <a:t> "sentiment:mixed|conf:0.80"},</a:t>
            </a:r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sz="800" dirty="0"/>
              <a:t>  # NOW the real task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{"</a:t>
            </a:r>
            <a:r>
              <a:rPr sz="800" dirty="0" err="1"/>
              <a:t>role":"user","content</a:t>
            </a:r>
            <a:r>
              <a:rPr sz="800" dirty="0"/>
              <a:t>":</a:t>
            </a:r>
          </a:p>
          <a:p>
            <a:pPr>
              <a:spcAft>
                <a:spcPts val="440"/>
              </a:spcAft>
              <a:defRPr sz="1100" b="0">
                <a:solidFill>
                  <a:srgbClr val="3498DB"/>
                </a:solidFill>
                <a:latin typeface="Courier New"/>
              </a:defRPr>
            </a:pPr>
            <a:r>
              <a:rPr sz="800" dirty="0"/>
              <a:t>   "Review: Decent for the price"},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Why These 3 Examples Work: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286000"/>
            <a:ext cx="210312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Cover edge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7432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Example 2 handles sarcasm --</a:t>
            </a:r>
            <a:r>
              <a:rPr lang="en-US" dirty="0"/>
              <a:t> </a:t>
            </a:r>
            <a:r>
              <a:rPr dirty="0"/>
              <a:t>the hardest case. Claude now</a:t>
            </a:r>
            <a:br>
              <a:rPr dirty="0"/>
            </a:br>
            <a:r>
              <a:rPr dirty="0"/>
              <a:t>knows HOW to handle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383280"/>
            <a:ext cx="210312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Lock in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84048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The pipe-delimited format is</a:t>
            </a:r>
            <a:r>
              <a:rPr lang="en-US" dirty="0"/>
              <a:t> </a:t>
            </a:r>
            <a:r>
              <a:rPr dirty="0"/>
              <a:t>consistent across all examples.</a:t>
            </a:r>
            <a:br>
              <a:rPr dirty="0"/>
            </a:br>
            <a:r>
              <a:rPr dirty="0"/>
              <a:t>Claude matches it exactly.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480560"/>
            <a:ext cx="210312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Show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93776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Each example includes a</a:t>
            </a:r>
            <a:r>
              <a:rPr lang="en-US" dirty="0"/>
              <a:t> </a:t>
            </a:r>
            <a:r>
              <a:rPr dirty="0"/>
              <a:t>confidence score. Claude learns</a:t>
            </a:r>
            <a:br>
              <a:rPr dirty="0"/>
            </a:br>
            <a:r>
              <a:rPr dirty="0"/>
              <a:t>to self-assess 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5463544"/>
            <a:ext cx="210312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81883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Claude can now classify unseen</a:t>
            </a:r>
            <a:r>
              <a:rPr lang="en-US" dirty="0"/>
              <a:t> </a:t>
            </a:r>
            <a:r>
              <a:rPr dirty="0"/>
              <a:t>reviews by PATTERN MATCHING</a:t>
            </a:r>
            <a:br>
              <a:rPr dirty="0"/>
            </a:br>
            <a:r>
              <a:rPr dirty="0"/>
              <a:t>the logic from examples.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400800"/>
            <a:ext cx="11064240" cy="36576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EXAM TIP: Few-shot examples fix tone + format. Cover AMBIGUOUS cases (sarcasm, edge cases) -- easy ones don't need examples!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rPr dirty="0"/>
              <a:t>Few-Shot Best Practices &amp;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How many examples? Which ones? And how does Claude generalize beyond them?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383280" cy="27432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How Many Examples?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017520" cy="201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2 examples: Minimum. Shows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  the format but limited coverage.</a:t>
            </a:r>
          </a:p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rPr dirty="0"/>
              <a:t>3-4 examples: Sweet spot.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  Enough to show pattern +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  edge cases without wasting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  tokens.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5+: Diminishing returns. Only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  if task is very complex.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27432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Which Cases to Include?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DO include: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- Ambiguous / edge cases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- Cases where format matters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- Tricky decisions (sarcasm)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48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DON'T include: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- Obvious, simple cases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- Redundant similar examples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- Cases with no decision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383280" cy="27432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Generalization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Claude doesn't memorize examples.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t>It learns the PATTERN: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3498DB"/>
                </a:solidFill>
                <a:latin typeface="Calibri"/>
              </a:defRPr>
            </a:pPr>
            <a:r>
              <a:t>- Input format -&gt; Output format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- Decision logic for edge cases</a:t>
            </a:r>
          </a:p>
          <a:p>
            <a:pPr>
              <a:spcAft>
                <a:spcPts val="480"/>
              </a:spcAft>
              <a:defRPr sz="1200" b="0">
                <a:solidFill>
                  <a:srgbClr val="E67E22"/>
                </a:solidFill>
                <a:latin typeface="Calibri"/>
              </a:defRPr>
            </a:pPr>
            <a:r>
              <a:t>- Confidence calibration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48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Test with UNSEEN inputs to</a:t>
            </a:r>
          </a:p>
          <a:p>
            <a:pPr>
              <a:spcAft>
                <a:spcPts val="480"/>
              </a:spcAft>
              <a:defRPr sz="1200" b="0">
                <a:solidFill>
                  <a:srgbClr val="E74C3C"/>
                </a:solidFill>
                <a:latin typeface="Calibri"/>
              </a:defRPr>
            </a:pPr>
            <a:r>
              <a:t>verify it generalizes well!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192024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Real-Life Analogy: Training a New Barista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You're training a new barista at Starbucks. You don't make them memorize 10,000 orders.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You show them 3-4 examples: a simple latte, a complex custom order, a tricky modification, and a refund request.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t>From those 4 examples, they GENERALIZE to handle any order that comes in -- even ones you didn't show them!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Few-shot works the same: show Claude the PATTERN with diverse examples, and it handles the rest.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2ECC71"/>
                </a:solidFill>
              </a:defRPr>
            </a:pPr>
            <a:r>
              <a:t>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S3: Structured Output using</a:t>
            </a:r>
            <a:br/>
            <a:r>
              <a:t>tool_use &amp; JSON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Force Claude to return valid, parseable JSON every time -- not free-text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What is tool_use for Structured Output?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tool_use = A Claude API feature that forces the model to return structured data matching a JSON schema.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Instead of Claude writing free-text, it fills in a structured 'form' with typed fields you define.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Think of it as giving Claude a form to fill out instead of a blank piece of paper.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How tool_use Forces Structured Output: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256032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You Define</a:t>
            </a:r>
            <a:br/>
            <a:r>
              <a:t>a Tool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JSON Schema with</a:t>
            </a:r>
            <a:br/>
            <a:r>
              <a:t>typed fields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7520" y="3474720"/>
            <a:ext cx="3657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83280" y="329184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Set tool_choice</a:t>
            </a:r>
            <a:br/>
            <a:r>
              <a:t>to 'any'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Forces Claude to</a:t>
            </a:r>
            <a:br/>
            <a:r>
              <a:t>use the tool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3474720"/>
            <a:ext cx="3657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256032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Claude Returns</a:t>
            </a:r>
            <a:br/>
            <a:r>
              <a:t>Structured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Matches your</a:t>
            </a:r>
            <a:br/>
            <a:r>
              <a:t>schema exactly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69680" y="3474720"/>
            <a:ext cx="3657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35440" y="3291840"/>
            <a:ext cx="256032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Parse &amp; Use</a:t>
            </a:r>
            <a:br/>
            <a:r>
              <a:t>the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Guaranteed valid</a:t>
            </a:r>
            <a:br/>
            <a:r>
              <a:t>JSON to process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5303520" cy="192024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Without tool_use (free-text):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t>"The bug is critical, it's a SQL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t> injection in the login form and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t> the severity is high..."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1">
                <a:solidFill>
                  <a:srgbClr val="E74C3C"/>
                </a:solidFill>
                <a:latin typeface="Courier New"/>
              </a:defRPr>
            </a:pPr>
            <a:r>
              <a:t>Parsing this is fragile and error-prone!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754880"/>
            <a:ext cx="5303520" cy="192024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With tool_use (structured):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120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{"category": "security",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 "severity": "critical",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 "location": "login.py:42",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 "description": "SQL injection"}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1">
                <a:solidFill>
                  <a:srgbClr val="2ECC71"/>
                </a:solidFill>
                <a:latin typeface="Courier New"/>
              </a:defRPr>
            </a:pPr>
            <a:r>
              <a:t>Clean JSON. Parse with json.loads()!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tool_choice Options -- Controlling When Tools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tool_choice controls WHETHER and WHICH tool Claude uses. Critical for forcing structured output: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274320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Claude DECIDES whether</a:t>
            </a:r>
            <a:br/>
            <a:r>
              <a:t>to use a tool or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834640"/>
            <a:ext cx="274320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Default behavior. Claude may</a:t>
            </a:r>
            <a:br/>
            <a:r>
              <a:t>return free text OR use a tool.</a:t>
            </a:r>
            <a:br/>
            <a:r>
              <a:t>Use when both are acceptable.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219456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FLEXIBLE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45920"/>
            <a:ext cx="274320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Claude MUST use</a:t>
            </a:r>
            <a:br/>
            <a:r>
              <a:t>one of the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834640"/>
            <a:ext cx="274320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2926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Forces structured output!</a:t>
            </a:r>
            <a:br/>
            <a:r>
              <a:t>Claude picks which tool but</a:t>
            </a:r>
            <a:br/>
            <a:r>
              <a:t>MUST return tool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4389120"/>
            <a:ext cx="219456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FORCE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74320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{"type":"tool",</a:t>
            </a:r>
            <a:br/>
            <a:r>
              <a:t>"name":"X"}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Claude MUST use</a:t>
            </a:r>
            <a:br/>
            <a:r>
              <a:t>the SPECIFIC tool 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40"/>
            <a:ext cx="274320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Forces a specific tool.</a:t>
            </a:r>
            <a:br/>
            <a:r>
              <a:t>Use when you have multiple</a:t>
            </a:r>
            <a:br/>
            <a:r>
              <a:t>tools and want a specific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389120"/>
            <a:ext cx="21945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FORCE SPECIFIC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645920"/>
            <a:ext cx="2743200" cy="5486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Claude CANNOT</a:t>
            </a:r>
            <a:br/>
            <a:r>
              <a:t>use any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2834640"/>
            <a:ext cx="274320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2926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Disabled. Claude only returns</a:t>
            </a:r>
            <a:br/>
            <a:r>
              <a:t>free text even if tools are</a:t>
            </a:r>
            <a:br/>
            <a:r>
              <a:t>defined. Rarely used.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40" y="4389120"/>
            <a:ext cx="2194560" cy="3657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DISABLED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1064240" cy="16459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Real-Life Analogy: Restaurant Ordering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t>auto = 'Order whatever you want' (might get a meal, might just get a conversation)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t>any = 'You MUST order from the menu' (guaranteed to get a dish, you pick which one)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alibri"/>
              </a:defRPr>
            </a:pPr>
            <a:r>
              <a:t>tool:specific = 'You MUST order the Caesar salad' (guaranteed specific dish)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none = 'No ordering allowed, just chat' (no food at all)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t>For structured output, use tool_choice: 'any' or a specific tool name. NEVER 'auto' if you need guaranteed JSON!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JSON Schema Design -- nullable, enum, and Detail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03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A well-designed schema catches bad data at the structure level. Key patterns: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91111"/>
            <a:ext cx="5943600" cy="51206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26465"/>
            <a:ext cx="5009606" cy="5098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sz="800" dirty="0"/>
              <a:t># Tool schema with best practices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endParaRPr sz="800" dirty="0"/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tool = {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"name": "</a:t>
            </a:r>
            <a:r>
              <a:rPr sz="800" dirty="0" err="1"/>
              <a:t>classify_issue</a:t>
            </a:r>
            <a:r>
              <a:rPr sz="800" dirty="0"/>
              <a:t>",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"description": "Classify a code issue",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"</a:t>
            </a:r>
            <a:r>
              <a:rPr sz="800" dirty="0" err="1"/>
              <a:t>input_schema</a:t>
            </a:r>
            <a:r>
              <a:rPr sz="800" dirty="0"/>
              <a:t>": {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"type": "object",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"properties": {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"category": {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  "type": "string",</a:t>
            </a:r>
          </a:p>
          <a:p>
            <a:pPr>
              <a:spcAft>
                <a:spcPts val="440"/>
              </a:spcAft>
              <a:defRPr sz="1100" b="1">
                <a:solidFill>
                  <a:srgbClr val="2ECC71"/>
                </a:solidFill>
                <a:latin typeface="Courier New"/>
              </a:defRPr>
            </a:pPr>
            <a:r>
              <a:rPr sz="800" dirty="0"/>
              <a:t>        "</a:t>
            </a:r>
            <a:r>
              <a:rPr sz="800" dirty="0" err="1"/>
              <a:t>enum</a:t>
            </a:r>
            <a:r>
              <a:rPr sz="800" dirty="0"/>
              <a:t>": ["security",</a:t>
            </a:r>
          </a:p>
          <a:p>
            <a:pPr>
              <a:spcAft>
                <a:spcPts val="440"/>
              </a:spcAft>
              <a:defRPr sz="1100" b="1">
                <a:solidFill>
                  <a:srgbClr val="2ECC71"/>
                </a:solidFill>
                <a:latin typeface="Courier New"/>
              </a:defRPr>
            </a:pPr>
            <a:r>
              <a:rPr sz="800" dirty="0"/>
              <a:t>          "</a:t>
            </a:r>
            <a:r>
              <a:rPr sz="800" dirty="0" err="1"/>
              <a:t>performance","style</a:t>
            </a:r>
            <a:r>
              <a:rPr sz="800" dirty="0"/>
              <a:t>"]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},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"severity": {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  "type": "string",</a:t>
            </a:r>
          </a:p>
          <a:p>
            <a:pPr>
              <a:spcAft>
                <a:spcPts val="440"/>
              </a:spcAft>
              <a:defRPr sz="1100" b="1">
                <a:solidFill>
                  <a:srgbClr val="2ECC71"/>
                </a:solidFill>
                <a:latin typeface="Courier New"/>
              </a:defRPr>
            </a:pPr>
            <a:r>
              <a:rPr sz="800" dirty="0"/>
              <a:t>        "</a:t>
            </a:r>
            <a:r>
              <a:rPr sz="800" dirty="0" err="1"/>
              <a:t>enum</a:t>
            </a:r>
            <a:r>
              <a:rPr sz="800" dirty="0"/>
              <a:t>": ["critical",</a:t>
            </a:r>
          </a:p>
          <a:p>
            <a:pPr>
              <a:spcAft>
                <a:spcPts val="440"/>
              </a:spcAft>
              <a:defRPr sz="1100" b="1">
                <a:solidFill>
                  <a:srgbClr val="2ECC71"/>
                </a:solidFill>
                <a:latin typeface="Courier New"/>
              </a:defRPr>
            </a:pPr>
            <a:r>
              <a:rPr sz="800" dirty="0"/>
              <a:t>          "</a:t>
            </a:r>
            <a:r>
              <a:rPr sz="800" dirty="0" err="1"/>
              <a:t>high","medium","low</a:t>
            </a:r>
            <a:r>
              <a:rPr sz="800" dirty="0"/>
              <a:t>"]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},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"</a:t>
            </a:r>
            <a:r>
              <a:rPr sz="800" dirty="0" err="1"/>
              <a:t>fix_suggestion</a:t>
            </a:r>
            <a:r>
              <a:rPr sz="800" dirty="0"/>
              <a:t>": {</a:t>
            </a:r>
          </a:p>
          <a:p>
            <a:pPr>
              <a:spcAft>
                <a:spcPts val="440"/>
              </a:spcAft>
              <a:defRPr sz="1100" b="1">
                <a:solidFill>
                  <a:srgbClr val="E67E22"/>
                </a:solidFill>
                <a:latin typeface="Courier New"/>
              </a:defRPr>
            </a:pPr>
            <a:r>
              <a:rPr sz="800" dirty="0"/>
              <a:t>        "type": ["</a:t>
            </a:r>
            <a:r>
              <a:rPr sz="800" dirty="0" err="1"/>
              <a:t>string","null</a:t>
            </a:r>
            <a:r>
              <a:rPr sz="800" dirty="0"/>
              <a:t>"]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},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"confidence": {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  "type": "number"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  }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  },</a:t>
            </a:r>
          </a:p>
          <a:p>
            <a:pPr>
              <a:spcAft>
                <a:spcPts val="440"/>
              </a:spcAft>
              <a:defRPr sz="1100" b="0">
                <a:solidFill>
                  <a:srgbClr val="E74C3C"/>
                </a:solidFill>
                <a:latin typeface="Courier New"/>
              </a:defRPr>
            </a:pPr>
            <a:r>
              <a:rPr sz="800" dirty="0"/>
              <a:t>    "required": ["category",</a:t>
            </a:r>
          </a:p>
          <a:p>
            <a:pPr>
              <a:spcAft>
                <a:spcPts val="440"/>
              </a:spcAft>
              <a:defRPr sz="1100" b="0">
                <a:solidFill>
                  <a:srgbClr val="E74C3C"/>
                </a:solidFill>
                <a:latin typeface="Courier New"/>
              </a:defRPr>
            </a:pPr>
            <a:r>
              <a:rPr sz="800" dirty="0"/>
              <a:t>      "</a:t>
            </a:r>
            <a:r>
              <a:rPr sz="800" dirty="0" err="1"/>
              <a:t>severity","confidence</a:t>
            </a:r>
            <a:r>
              <a:rPr sz="800" dirty="0"/>
              <a:t>"]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  }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sz="800" dirty="0"/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2914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rPr dirty="0"/>
              <a:t>Key Schema Patterns: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77786"/>
            <a:ext cx="210312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enum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3498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Restrict to valid values ONLY.</a:t>
            </a:r>
            <a:br/>
            <a:r>
              <a:t>"enum": ["security","performance"]</a:t>
            </a:r>
            <a:br/>
            <a:r>
              <a:t>prevents Claude inventing new</a:t>
            </a:r>
            <a:br/>
            <a:r>
              <a:t>categories like "bug" or "issue".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249386"/>
            <a:ext cx="210312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nullable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70658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"type": ["string", "null"]</a:t>
            </a:r>
            <a:br/>
            <a:r>
              <a:t>Allows the field to be null when</a:t>
            </a:r>
            <a:br/>
            <a:r>
              <a:t>data is genuinely missing.</a:t>
            </a:r>
            <a:br/>
            <a:r>
              <a:t>Better than empty string ""!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620986"/>
            <a:ext cx="210312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required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07818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"required": ["category"]</a:t>
            </a:r>
            <a:br/>
            <a:r>
              <a:t>Forces Claude to always include</a:t>
            </a:r>
            <a:br/>
            <a:r>
              <a:t>these fields. Prevents partial</a:t>
            </a:r>
            <a:br/>
            <a:r>
              <a:t>or incomplete responses.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084026"/>
            <a:ext cx="441524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rPr dirty="0"/>
              <a:t>EXAM TIP: Schema catches SYNTAX errors (wrong type, missing field). It CANNOT catch LOGIC errors (score=11 when max is 10)!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67E22"/>
                </a:solidFill>
              </a:defRPr>
            </a:pPr>
            <a:r>
              <a:t>S4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S4: Validation, Retry &amp;</a:t>
            </a:r>
            <a:br/>
            <a:r>
              <a:t>Feedback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Schema validation catches syntax, semantic checks catch logic -- combine both for reliability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Two Layers of Validation: Schema + Semantic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A JSON schema alone isn't enough. You need TWO layers of validation: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27432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Layer 1: Schema Validation (Syntax)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846320" cy="214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Checks the STRUCTURE of the data: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Is it valid JSON?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Are required fields present?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Are types correct (string, number)?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Do </a:t>
            </a:r>
            <a:r>
              <a:rPr dirty="0" err="1"/>
              <a:t>enum</a:t>
            </a:r>
            <a:r>
              <a:rPr dirty="0"/>
              <a:t> values match allowed set?</a:t>
            </a:r>
          </a:p>
          <a:p>
            <a:pPr>
              <a:spcAft>
                <a:spcPts val="520"/>
              </a:spcAft>
              <a:defRPr sz="1300" b="1">
                <a:solidFill>
                  <a:srgbClr val="3498DB"/>
                </a:solidFill>
                <a:latin typeface="Calibri"/>
              </a:defRPr>
            </a:pPr>
            <a:r>
              <a:rPr dirty="0"/>
              <a:t>Catches: missing fields, wrong types,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rPr dirty="0"/>
              <a:t>invalid </a:t>
            </a:r>
            <a:r>
              <a:rPr dirty="0" err="1"/>
              <a:t>enum</a:t>
            </a:r>
            <a:r>
              <a:rPr dirty="0"/>
              <a:t> values, malformed JSON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rPr dirty="0"/>
              <a:t>Cannot catch: 'score: 99' when max=10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27432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Layer 2: Semantic Validation (Logic)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214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Checks the MEANING of the data: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Is score between 0-10?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Does </a:t>
            </a:r>
            <a:r>
              <a:rPr dirty="0" err="1"/>
              <a:t>end_date</a:t>
            </a:r>
            <a:r>
              <a:rPr dirty="0"/>
              <a:t> come after </a:t>
            </a:r>
            <a:r>
              <a:rPr dirty="0" err="1"/>
              <a:t>start_date</a:t>
            </a:r>
            <a:r>
              <a:rPr dirty="0"/>
              <a:t>?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Is the email format valid?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Do cross-field constraints hold?</a:t>
            </a:r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rPr dirty="0"/>
              <a:t>Catches: out-of-range values, logical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dirty="0"/>
              <a:t>contradictions, business rule violations</a:t>
            </a:r>
          </a:p>
          <a:p>
            <a:pPr>
              <a:spcAft>
                <a:spcPts val="520"/>
              </a:spcAft>
              <a:defRPr sz="1300" b="1">
                <a:solidFill>
                  <a:srgbClr val="E67E22"/>
                </a:solidFill>
                <a:latin typeface="Calibri"/>
              </a:defRPr>
            </a:pPr>
            <a:r>
              <a:rPr dirty="0"/>
              <a:t>Needs custom code -- schema can't do it!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192024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Real-Life Analogy: Spell Check vs Fact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t>Schema Validation = SPELL CHECK: Catches typos, missing words, grammatical errors. But it won't catch a lie!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t>Semantic Validation = FACT CHECK: Catches logical errors. 'The sun orbits the Earth' has perfect spelling but is WRONG.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You need BOTH: spell check (schema) catches structural issues, fact check (semantic) catches logic issues.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alibri"/>
              </a:defRPr>
            </a:pPr>
            <a:r>
              <a:t>Example: Schema says 'score must be a number' (OK). Semantic says 'score must be 0-10' (catches score=99).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Retry Loop -- Self-Correcting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rPr dirty="0"/>
              <a:t>When validation fails, DON'T just retry blindly. Feed the error BACK to Claude so it can fix it: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0728" y="1402625"/>
            <a:ext cx="22860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Send Prompt</a:t>
            </a:r>
            <a:br/>
            <a:r>
              <a:t>+ Tool Schema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16728" y="1585505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65367" y="1402625"/>
            <a:ext cx="22860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Claude Returns</a:t>
            </a:r>
            <a:br/>
            <a:r>
              <a:t>Structured JSON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51368" y="1585505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00008" y="1402625"/>
            <a:ext cx="22860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Validate</a:t>
            </a:r>
            <a:br/>
            <a:r>
              <a:t>(Schema+Semantic)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86008" y="1585505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434648" y="1402625"/>
            <a:ext cx="22860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Pass?</a:t>
            </a:r>
            <a:br/>
            <a:r>
              <a:t>Use the Data!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560128" y="2042705"/>
            <a:ext cx="274320" cy="36576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42808" y="2591345"/>
            <a:ext cx="32004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FAIL: Send Error Back</a:t>
            </a:r>
            <a:br/>
            <a:r>
              <a:t>to Claude as tool_result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699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rPr dirty="0"/>
              <a:t>Claude reads the error and fixes 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7" y="2495006"/>
            <a:ext cx="5577840" cy="436299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0185" y="2560320"/>
            <a:ext cx="5205984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Retry loop with error feedback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for attempt in range(MAX_RETRIES):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response = </a:t>
            </a:r>
            <a:r>
              <a:rPr dirty="0" err="1"/>
              <a:t>call_claude</a:t>
            </a:r>
            <a:r>
              <a:rPr dirty="0"/>
              <a:t>(messages)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result = </a:t>
            </a:r>
            <a:r>
              <a:rPr dirty="0" err="1"/>
              <a:t>parse_tool_output</a:t>
            </a:r>
            <a:r>
              <a:rPr dirty="0"/>
              <a:t>(response)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440"/>
              </a:spcAft>
              <a:defRPr sz="1100" b="0">
                <a:solidFill>
                  <a:srgbClr val="E67E22"/>
                </a:solidFill>
                <a:latin typeface="Courier New"/>
              </a:defRPr>
            </a:pPr>
            <a:r>
              <a:rPr dirty="0"/>
              <a:t>    errors = validate(result)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if not errors:</a:t>
            </a:r>
          </a:p>
          <a:p>
            <a:pPr>
              <a:spcAft>
                <a:spcPts val="440"/>
              </a:spcAft>
              <a:defRPr sz="1100" b="0">
                <a:solidFill>
                  <a:srgbClr val="2ECC71"/>
                </a:solidFill>
                <a:latin typeface="Courier New"/>
              </a:defRPr>
            </a:pPr>
            <a:r>
              <a:rPr dirty="0"/>
              <a:t>        return result  # Valid!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    # Feed error BACK to Claude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messages.append</a:t>
            </a:r>
            <a:r>
              <a:rPr dirty="0"/>
              <a:t>({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"role": "user",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"content": [{</a:t>
            </a:r>
          </a:p>
          <a:p>
            <a:pPr>
              <a:spcAft>
                <a:spcPts val="440"/>
              </a:spcAft>
              <a:defRPr sz="1100" b="0">
                <a:solidFill>
                  <a:srgbClr val="E74C3C"/>
                </a:solidFill>
                <a:latin typeface="Courier New"/>
              </a:defRPr>
            </a:pPr>
            <a:r>
              <a:rPr dirty="0"/>
              <a:t>        "type": "</a:t>
            </a:r>
            <a:r>
              <a:rPr dirty="0" err="1"/>
              <a:t>tool_result</a:t>
            </a:r>
            <a:r>
              <a:rPr dirty="0"/>
              <a:t>",</a:t>
            </a:r>
          </a:p>
          <a:p>
            <a:pPr>
              <a:spcAft>
                <a:spcPts val="440"/>
              </a:spcAft>
              <a:defRPr sz="1100" b="0">
                <a:solidFill>
                  <a:srgbClr val="E74C3C"/>
                </a:solidFill>
                <a:latin typeface="Courier New"/>
              </a:defRPr>
            </a:pPr>
            <a:r>
              <a:rPr dirty="0"/>
              <a:t>        "content": </a:t>
            </a:r>
            <a:r>
              <a:rPr dirty="0" err="1"/>
              <a:t>f"Error</a:t>
            </a:r>
            <a:r>
              <a:rPr dirty="0"/>
              <a:t>: {errors}.</a:t>
            </a:r>
          </a:p>
          <a:p>
            <a:pPr>
              <a:spcAft>
                <a:spcPts val="440"/>
              </a:spcAft>
              <a:defRPr sz="1100" b="0">
                <a:solidFill>
                  <a:srgbClr val="E74C3C"/>
                </a:solidFill>
                <a:latin typeface="Courier New"/>
              </a:defRPr>
            </a:pPr>
            <a:r>
              <a:rPr dirty="0"/>
              <a:t>         Please fix and retry."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}]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})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6308" y="3967845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rPr dirty="0"/>
              <a:t>Key Retry Principles: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6308" y="4425045"/>
            <a:ext cx="210312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Feed errors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2308" y="4425045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Don't just retry silently.</a:t>
            </a:r>
            <a:br/>
            <a:r>
              <a:t>Send the validation error</a:t>
            </a:r>
            <a:br/>
            <a:r>
              <a:t>so Claude knows what's wrong.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6308" y="5202285"/>
            <a:ext cx="210312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Set MAX_RETRIES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2308" y="5202285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3 retries is typical. If still</a:t>
            </a:r>
            <a:br/>
            <a:r>
              <a:t>failing, the source data may</a:t>
            </a:r>
            <a:br/>
            <a:r>
              <a:t>be genuinely missing.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6308" y="5979525"/>
            <a:ext cx="2103120" cy="3200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Limits of retry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2308" y="5979525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Retry can't fix MISSING data.</a:t>
            </a:r>
            <a:br/>
            <a:r>
              <a:t>If the source text doesn't</a:t>
            </a:r>
            <a:br/>
            <a:r>
              <a:t>contain a name, no retry</a:t>
            </a:r>
            <a:br/>
            <a:r>
              <a:t>will produce 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Real-Life Analogy: Airport Security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54864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Validation is Like Airport Security -- Multiple Layers: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Checkpoint 1 -- SCHEMA VALIDATION (= ID + Boarding Pass Check):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Do you have the right documents? Is your name on the boarding pass? Is the flight date correct?</a:t>
            </a:r>
          </a:p>
          <a:p>
            <a:pPr>
              <a:spcAft>
                <a:spcPts val="560"/>
              </a:spcAft>
              <a:defRPr sz="1400" b="0">
                <a:solidFill>
                  <a:srgbClr val="3498DB"/>
                </a:solidFill>
                <a:latin typeface="Calibri"/>
              </a:defRPr>
            </a:pPr>
            <a:r>
              <a:rPr dirty="0"/>
              <a:t>  This catches: expired passport, wrong name, missing boarding pass.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rPr dirty="0"/>
              <a:t>  This CANNOT catch: whether you're actually a threat!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Checkpoint 2 -- SEMANTIC VALIDATION (= X-Ray + Metal Detector):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Is the CONTENT of your bag safe? Does anything violate the rules?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dirty="0"/>
              <a:t>  This catches: prohibited items, liquids over 100ml, sharp objects.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alibri"/>
              </a:defRPr>
            </a:pPr>
            <a:r>
              <a:rPr dirty="0"/>
              <a:t>  These are LOGIC checks your ID can't reveal!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rPr dirty="0"/>
              <a:t>Retry Loop (= 'Please remove your belt and try again'):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When the metal detector beeps, you don't get arrested -- you get FEEDBACK and try again.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alibri"/>
              </a:defRPr>
            </a:pPr>
            <a:r>
              <a:rPr dirty="0"/>
              <a:t>  Same with Claude: validation fails, error is fed back, Claude self-corrects.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MAX_RETRIES = 3 (= After 3 beeps, security pulls you aside for manual review!)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If Claude still fails after retries, the source data may be genuinely problematic.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9B59B6"/>
                </a:solidFill>
              </a:defRPr>
            </a:pPr>
            <a:r>
              <a:t>S5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S5: Batch Processing with</a:t>
            </a:r>
            <a:br/>
            <a:r>
              <a:t>Claude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The Message Batches API for large offline workloads at ~50% cost savings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Message Batches API -- Bulk Processing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Message Batches API = Send thousands of requests at once for asynchronous processing.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~50% cheaper than real-time API calls. Processes within ~24 hours. Perfect for offline workloads.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Think of it as a postal service: you mail a box of letters and pick up the replies the next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When to Use Batch vs Real-Time: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303520" cy="22860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USE Batch API When: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8463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Classifying 10,000+ support tickets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Analyzing a dataset overnight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Bulk content moderation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Processing log files in bulk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Any workload that can wait hours</a:t>
            </a:r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rPr dirty="0"/>
              <a:t>Key: Non-real-time, high volume,</a:t>
            </a:r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rPr dirty="0"/>
              <a:t>cost-sensitive workloads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5303520" cy="22860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DON'T Use Batch When: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39"/>
            <a:ext cx="48463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User is waiting for a response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Interactive chat conversations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Multi-turn tool use within a batch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Real-time code review in IDE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Latency-sensitive applications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rPr dirty="0"/>
              <a:t>Key: Interactive, real-time, or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rPr dirty="0"/>
              <a:t>multi-turn tool use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064240" cy="82296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KEY: Each batch request needs a custom_id (e.g., 'ticket-001'). When results come back, match custom_id to your input.</a:t>
            </a:r>
            <a:br/>
            <a:r>
              <a:t>Handle failures by resubmitting only the failed items, not the entire batch!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Batch API -- Code Example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943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577840" cy="577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Message Batches API workflow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import anthropic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client = </a:t>
            </a:r>
            <a:r>
              <a:rPr dirty="0" err="1"/>
              <a:t>anthropic.Anthropic</a:t>
            </a:r>
            <a:r>
              <a:rPr dirty="0"/>
              <a:t>()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1. Prepare batch requests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requests = [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{</a:t>
            </a:r>
          </a:p>
          <a:p>
            <a:pPr>
              <a:spcAft>
                <a:spcPts val="440"/>
              </a:spcAft>
              <a:defRPr sz="1100" b="1">
                <a:solidFill>
                  <a:srgbClr val="2ECC71"/>
                </a:solidFill>
                <a:latin typeface="Courier New"/>
              </a:defRPr>
            </a:pPr>
            <a:r>
              <a:rPr dirty="0"/>
              <a:t>    "</a:t>
            </a:r>
            <a:r>
              <a:rPr dirty="0" err="1"/>
              <a:t>custom_id</a:t>
            </a:r>
            <a:r>
              <a:rPr dirty="0"/>
              <a:t>": "ticket-001",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"params": {</a:t>
            </a:r>
          </a:p>
          <a:p>
            <a:pPr>
              <a:spcAft>
                <a:spcPts val="440"/>
              </a:spcAft>
              <a:defRPr sz="1100" b="0">
                <a:solidFill>
                  <a:srgbClr val="3498DB"/>
                </a:solidFill>
                <a:latin typeface="Courier New"/>
              </a:defRPr>
            </a:pPr>
            <a:r>
              <a:rPr dirty="0"/>
              <a:t>      "model": "claude-sonnet-4-6",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"</a:t>
            </a:r>
            <a:r>
              <a:rPr dirty="0" err="1"/>
              <a:t>max_tokens</a:t>
            </a:r>
            <a:r>
              <a:rPr dirty="0"/>
              <a:t>": 1024,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"messages": [{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"role": "user",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  "content": "Classify: ..."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  }]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  }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},</a:t>
            </a:r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  # ... 10,000 more requests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]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2. Submit the batch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batch = </a:t>
            </a:r>
            <a:r>
              <a:rPr dirty="0" err="1"/>
              <a:t>client.messages.batches</a:t>
            </a:r>
            <a:endParaRPr dirty="0"/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r>
              <a:rPr dirty="0"/>
              <a:t>  .create(requests=requests)</a:t>
            </a:r>
          </a:p>
          <a:p>
            <a:pPr>
              <a:spcAft>
                <a:spcPts val="440"/>
              </a:spcAft>
              <a:defRPr sz="1100" b="0">
                <a:solidFill>
                  <a:srgbClr val="FFFFFF"/>
                </a:solidFill>
                <a:latin typeface="Courier New"/>
              </a:defRPr>
            </a:pPr>
            <a:endParaRPr dirty="0"/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3. Poll for results</a:t>
            </a:r>
          </a:p>
          <a:p>
            <a:pPr>
              <a:spcAft>
                <a:spcPts val="440"/>
              </a:spcAft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# Results ready within ~24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Batch Processing Workflow: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228600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Prepare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Bundle all items with unique</a:t>
            </a:r>
            <a:br/>
            <a:r>
              <a:t>custom_id per request.</a:t>
            </a:r>
            <a:br/>
            <a:r>
              <a:t>Keep track of IDs locally.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834640"/>
            <a:ext cx="22860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Submit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One API call sends all requests.</a:t>
            </a:r>
            <a:br/>
            <a:r>
              <a:t>~50% cheaper than real-time.</a:t>
            </a:r>
            <a:br/>
            <a:r>
              <a:t>Async -- returns immediately.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023360"/>
            <a:ext cx="22860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Poll for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480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Check batch status periodically.</a:t>
            </a:r>
            <a:br/>
            <a:r>
              <a:t>Results ready in up to ~24h.</a:t>
            </a:r>
            <a:br/>
            <a:r>
              <a:t>Partial results available 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5212080"/>
            <a:ext cx="22860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Handle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669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Some items may fail. Resubmit</a:t>
            </a:r>
            <a:br/>
            <a:r>
              <a:t>only failed items by custom_id.</a:t>
            </a:r>
            <a:br/>
            <a:r>
              <a:t>Don't re-run the whole batch!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6064431" cy="13716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31520" y="537320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rPr dirty="0"/>
              <a:t>Real-Life Analogy: Laundromat vs Hand Washing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93921"/>
            <a:ext cx="597789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sz="1000" dirty="0"/>
              <a:t>Real-time API = Washing each shirt by hand. Fast per item, but exhausting at scale.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Batch API = Loading the washing machine with 50 shirts. Takes longer, but way cheaper and easier!</a:t>
            </a:r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sz="1000" dirty="0"/>
              <a:t>You wouldn't hand-wash 10,000 shirts. Same logic: use Batch API for large-scale processing.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1ABC9C"/>
                </a:solidFill>
              </a:defRPr>
            </a:pPr>
            <a:r>
              <a:t>S6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S6: Multi-Instance &amp; Multi-Pass</a:t>
            </a:r>
            <a:br/>
            <a:r>
              <a:t>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Why self-review is biased, and how independent instances + multi-pass improve quality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Why Self-Review is Biased -- The Anchoring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When Claude reviews its OWN output, it's biased -- it remembers what it wrote and why.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This is called 'anchoring bias'. The model is anchored to its original reasoning and tends to confirm it.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Solution: Use a SEPARATE, independent Claude instance that has never seen the original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Self-Review vs Independent Instance Review: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303520" cy="22860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SELF-REVIEW (Biased)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Same Claude instance writes AND reviews.</a:t>
            </a:r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Problems: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Remembers original reasoning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Tends to confirm its own output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Misses errors it made initially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rPr dirty="0"/>
              <a:t>- Like grading your own exam!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5303520" cy="22860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INDEPENDENT INSTANCE (Unbiased)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Fresh Claude instance reviews output.</a:t>
            </a:r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Benefits: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No memory of original reasoning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Evaluates output on its own merit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Catches blind spots and errors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dirty="0"/>
              <a:t>- Like peer review by a colleague!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064240" cy="82296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Real-Life: An author ALWAYS has a separate editor review their book. You can't proofread your own work well --</a:t>
            </a:r>
            <a:br/>
            <a:r>
              <a:t>your brain auto-corrects because it KNOWS what you meant to write. Same problem with AI self-review!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Multi-Pass Architecture -- Per-Item + Cross-Item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Multi-pass = Multiple rounds of analysis, each building on the last. Two key patterns: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25603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Calibri"/>
              </a:defRPr>
            </a:pPr>
            <a:r>
              <a:t>Pass 1: Per-Item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Each item reviewed INDEPENDENTLY.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1">
                <a:solidFill>
                  <a:srgbClr val="3498DB"/>
                </a:solidFill>
                <a:latin typeface="Calibri"/>
              </a:defRPr>
            </a:pPr>
            <a:r>
              <a:t>How it works: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- Item 1 -&gt; Claude -&gt; Result 1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- Item 2 -&gt; Claude -&gt; Result 2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- Item 3 -&gt; Claude -&gt; Result 3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t>- (Can run in parallel!)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Good at: detailed per-item analysis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t>Missing: cross-item patterns!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2926080"/>
            <a:ext cx="457200" cy="27432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303520" cy="25603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Pass 2: Cross-Item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ALL results reviewed TOGETHER.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How it works: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- Collect all Pass 1 results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- Feed ALL to a new Claude call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- Find patterns across items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- Resolve contradictions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Good at: finding trends, inconsistencies</a:t>
            </a:r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and systemic issues!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11064240" cy="210312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Real-Life Analogy: How Doctors Diagnose Complex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515600" cy="1613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rPr dirty="0"/>
              <a:t>Pass 1 (Per-Item) = Each SPECIALIST examines the patient independently: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Cardiologist checks heart, neurologist checks brain, radiologist reads scans -- each in isolation.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dirty="0"/>
              <a:t>Pass 2 (Cross-Item) = The TEAM MEETING where all specialists share findings: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'The heart issue + the brain scan + the blood work together suggest X'. Patterns emerge from integration!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Single-pass = asking ONE doctor to do everything. Multi-pass = a specialist team. Quality goes up!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Parallelization vs Chaining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Multi-instance uses two workflow patterns from the Claude API: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27432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Calibri"/>
              </a:defRPr>
            </a:pPr>
            <a:r>
              <a:t>Parallelization (Fan-Out)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Multiple Claude instances run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ourier New"/>
              </a:defRPr>
            </a:pPr>
            <a:r>
              <a:t>AT THE SAME TIME on different items.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ourier New"/>
              </a:defRPr>
            </a:pPr>
            <a:endParaRPr/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ourier New"/>
              </a:defRPr>
            </a:pPr>
            <a:r>
              <a:t>        Input Data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t>       /    |    \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ourier New"/>
              </a:defRPr>
            </a:pPr>
            <a:r>
              <a:t>   Claude  Claude  Claude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t>       \    |    /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t>      Collect Results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ourier New"/>
              </a:defRPr>
            </a:pPr>
            <a:endParaRPr/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t>Use for: independent tasks,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ourier New"/>
              </a:defRPr>
            </a:pPr>
            <a:r>
              <a:t>per-item analysis, throughput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59"/>
            <a:ext cx="5303520" cy="2867297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Chaining (Sequential Passes)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319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/>
              <a:t>Output of one Claude call becomes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ourier New"/>
              </a:defRPr>
            </a:pPr>
            <a:r>
              <a:rPr dirty="0"/>
              <a:t>INPUT to the next Claude call.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ourier New"/>
              </a:defRPr>
            </a:pPr>
            <a:r>
              <a:rPr dirty="0"/>
              <a:t>  Claude Pass 1 (Draft)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         |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         v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dirty="0"/>
              <a:t>  Claude Pass 2 (Critique)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         |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dirty="0"/>
              <a:t>         v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ourier New"/>
              </a:defRPr>
            </a:pPr>
            <a:r>
              <a:rPr dirty="0"/>
              <a:t>  Claude Pass 3 (Refine)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ourier New"/>
              </a:defRPr>
            </a:pPr>
            <a:endParaRPr dirty="0"/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ourier New"/>
              </a:defRPr>
            </a:pPr>
            <a:r>
              <a:rPr dirty="0"/>
              <a:t>Use for: draft-critique-refine,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ourier New"/>
              </a:defRPr>
            </a:pPr>
            <a:r>
              <a:rPr dirty="0"/>
              <a:t>multi-pass review, quality gates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1064240" cy="192024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Combining Both: The Power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t>Step 1 (Parallel): Fan-out 100 items to 100 Claude instances. Each analyzes one item independently.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t>Step 2 (Chain): Feed ALL 100 results to a new Claude instance for cross-item synthesis and report.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This is the multi-pass architecture: Parallelization for Pass 1 (per-item), Chaining for Pass 2 (cross-item).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alibri"/>
              </a:defRPr>
            </a:pPr>
            <a:r>
              <a:t>Analogy: 100 detectives investigate 100 leads (parallel), then ONE lead detective writes the final case report (chain).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Exam Prep -- Key Questions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Can you answer these from your Module 4 study?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4008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What makes a prompt's classification criteria explicit (categorical rules + severity tiers),</a:t>
            </a:r>
            <a:br/>
            <a:r>
              <a:t>and how does that cut false positives?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64008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When do few-shot examples help, how many do you use, and how do you get the model</a:t>
            </a:r>
            <a:br/>
            <a:r>
              <a:t>to generalise beyond them?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39"/>
            <a:ext cx="64008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3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How do tool_use + a JSON schema force structured output, what does tool_choice: any do,</a:t>
            </a:r>
            <a:br/>
            <a:r>
              <a:t>and what can a schema NOT catch?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64008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How do schema (syntax) and semantic (logic) validation differ, and how does an</a:t>
            </a:r>
            <a:br/>
            <a:r>
              <a:t>error-feedback retry loop self-correct?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64008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When is the Message Batches API the right choice (and when not)? What is custom_id for?</a:t>
            </a:r>
            <a:br/>
            <a:r>
              <a:t>How do you handle failures?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97880"/>
            <a:ext cx="640080" cy="45720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897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Why use an independent instance instead of self-review? How does multi-pass (per-item</a:t>
            </a:r>
            <a:br/>
            <a:r>
              <a:t>then cross-item) improve quality?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4 -- Exam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4008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Explicit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17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Use categorical rules + severity tiers + concrete examples. Iterate to reduce false positives. Vague prompts = inconsistent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640080" cy="5029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Few-Shot Prompting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2-4 examples that cover AMBIGUOUS cases. Lock in format + tone. Claude generalizes the pattern to unseen inputs.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6400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tool_use + JSON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tool_choice: any forces structured output. enum fields restrict values. nullable for missing data. Schema catches syntax NOT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64008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Validation &amp; Retry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60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Schema = syntax check, Semantic = logic check. Feed errors BACK to Claude in retry loop. MAX_RETRIES ~3. Can't fix missing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64008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Batch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Message Batches API: ~50% cheaper, async ~24h. Use custom_id per request. NOT for interactive/multi-turn. Resubmit failures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69280"/>
            <a:ext cx="640080" cy="5029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69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Multi-Instance/Pass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989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Self-review is biased (anchoring). Use independent instance. Pass 1 = per-item (parallel), Pass 2 = cross-item (chain).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492240"/>
            <a:ext cx="11247120" cy="274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Remember: Explicit criteria = consistency | Few-shot = format lock | tool_use = guaranteed JSON | Retry = self-correct | Batch = scale | Multi-pass =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4624</Words>
  <Application>Microsoft Macintosh PowerPoint</Application>
  <PresentationFormat>Widescreen</PresentationFormat>
  <Paragraphs>597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Sakate</cp:lastModifiedBy>
  <cp:revision>16</cp:revision>
  <dcterms:created xsi:type="dcterms:W3CDTF">2013-01-27T09:14:16Z</dcterms:created>
  <dcterms:modified xsi:type="dcterms:W3CDTF">2026-07-24T23:20:30Z</dcterms:modified>
  <cp:category/>
</cp:coreProperties>
</file>