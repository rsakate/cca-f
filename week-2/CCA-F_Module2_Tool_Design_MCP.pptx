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4650"/>
  </p:normalViewPr>
  <p:slideViewPr>
    <p:cSldViewPr snapToGrid="0" snapToObjects="1">
      <p:cViewPr varScale="1">
        <p:scale>
          <a:sx n="156" d="100"/>
          <a:sy n="156" d="100"/>
        </p:scale>
        <p:origin x="18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CCA-F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498DB"/>
                </a:solidFill>
                <a:latin typeface="Calibri"/>
              </a:defRPr>
            </a:pPr>
            <a:r>
              <a:t>Tool Design &amp; MCP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3931920" cy="36576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F8C8D"/>
                </a:solidFill>
                <a:latin typeface="Calibri"/>
              </a:defRPr>
            </a:pPr>
            <a:r>
              <a:t>Claude Certified Architect --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Quick Reference Study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201168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S1: Tool Interface</a:t>
            </a:r>
            <a:br/>
            <a:r>
              <a:t>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5486400"/>
            <a:ext cx="2011680" cy="8229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S2: Structured</a:t>
            </a:r>
            <a:br/>
            <a:r>
              <a:t>Error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5486400"/>
            <a:ext cx="2011680" cy="8229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S3: tool_choice</a:t>
            </a:r>
            <a:br/>
            <a:r>
              <a:t>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5486400"/>
            <a:ext cx="201168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S4: MCP Server</a:t>
            </a:r>
            <a:br/>
            <a:r>
              <a:t>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0" y="5486400"/>
            <a:ext cx="201168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S5: Built-in</a:t>
            </a:r>
            <a:br/>
            <a:r>
              <a:t>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Module 2 -- Learning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82880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Self-Paced</a:t>
            </a:r>
            <a:br/>
            <a:r>
              <a:t>Learning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0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7520" y="1371600"/>
            <a:ext cx="182880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Labs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46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182880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Instructor</a:t>
            </a:r>
            <a:br/>
            <a:r>
              <a:t>Led Session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18288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Assessment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18320" y="1554480"/>
            <a:ext cx="4572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20" y="1371600"/>
            <a:ext cx="1828800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Completion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Self-Paced Courses (in order):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0896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Introduction to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Defining tools, MCP clients, implementing clients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49039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MCP: Advanced Topics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233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JSON message types, transports (STDIO, HTTP)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38912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Claude Code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MCP servers with Claude Code, adding context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02920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Claude Code 101 (revisit)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MCP section, how Claude Code works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669279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6692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Intro to Agent Skills (revisit)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9435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Skills vs other Claude Code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5 Key Sections: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3108960"/>
            <a:ext cx="54864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Tool Interface Design &amp; Selection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749039"/>
            <a:ext cx="54864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Structured Error Handling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389120"/>
            <a:ext cx="5486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Tool Distribution &amp; tool_choice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4389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5029200"/>
            <a:ext cx="54864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MCP Server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5029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60 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5669279"/>
            <a:ext cx="54864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669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Built-in Tools in Claude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56692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45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What is Model Context Protocol (MCP)?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18288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MCP = A Standard Way for AI Models to Use External Tools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r>
              <a:rPr dirty="0"/>
              <a:t>MCP is like a USB standard for AI. Just as USB lets any device connect to any computer,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r>
              <a:rPr dirty="0"/>
              <a:t>MCP lets any AI model connect to any tool/data source using a common protocol.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rPr dirty="0"/>
              <a:t>Without MCP: Every AI + Tool combo needs custom code.  With MCP: Build once, connect anywhere.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MCP Architecture: Three Players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926080" cy="10972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HOST</a:t>
            </a:r>
            <a:br/>
            <a:r>
              <a:t>(Claude Desktop,</a:t>
            </a:r>
            <a:br/>
            <a:r>
              <a:t>Claude Code, IDE)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The app you interact with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57600" y="4023360"/>
            <a:ext cx="73152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3657600"/>
            <a:ext cx="2926080" cy="10972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  <a:br/>
            <a:r>
              <a:t>(Built into Host,</a:t>
            </a:r>
            <a:br/>
            <a:r>
              <a:t>1 per server)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Manages the connection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06640" y="4023360"/>
            <a:ext cx="73152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3657600"/>
            <a:ext cx="320040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SERVER</a:t>
            </a:r>
            <a:br/>
            <a:r>
              <a:t>(Exposes Tools,</a:t>
            </a:r>
            <a:br/>
            <a:r>
              <a:t>Resources, Prompts)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8C8D"/>
                </a:solidFill>
                <a:latin typeface="Calibri"/>
              </a:defRPr>
            </a:pPr>
            <a:r>
              <a:t>Connects to databases, APIs,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86400"/>
            <a:ext cx="11064240" cy="109728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Real-Life Analogy: Restaurant Ordering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You (Host) tell the Waiter (Client) what you want. The Waiter goes to the Kitchen (Server).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t>The Kitchen has chefs (Tools), recipes (Prompts), and ingredients (Resources). You never go to the kitchen directly!</a:t>
            </a:r>
          </a:p>
        </p:txBody>
      </p:sp>
      <p:pic>
        <p:nvPicPr>
          <p:cNvPr id="19" name="Slide_03.mp3">
            <a:hlinkClick r:id="" action="ppaction://media"/>
            <a:extLst>
              <a:ext uri="{FF2B5EF4-FFF2-40B4-BE49-F238E27FC236}">
                <a16:creationId xmlns:a16="http://schemas.microsoft.com/office/drawing/2014/main" id="{40BC5B3D-CF17-D904-B923-E9C8E8F324F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94358" y="19304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12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E74C3C"/>
                </a:solidFill>
              </a:defRPr>
            </a:pPr>
            <a:r>
              <a:t>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S1: Tool Interface Design</a:t>
            </a:r>
            <a:br/>
            <a:r>
              <a:t>&amp; Selection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How Claude picks the right tool -- and how bad descriptions break everything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What Is a Tool in MCP?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A tool is a function that Claude can call to DO something in the outside 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68439" cy="425196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29200" cy="4229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{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sz="1100" dirty="0"/>
              <a:t>  "name": "</a:t>
            </a:r>
            <a:r>
              <a:rPr sz="1100" dirty="0" err="1"/>
              <a:t>search_orders</a:t>
            </a:r>
            <a:r>
              <a:rPr sz="1100" dirty="0"/>
              <a:t>",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100" dirty="0"/>
              <a:t>  "description": "Search customer orders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100" dirty="0"/>
              <a:t>    by order ID, date range, or status.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100" dirty="0"/>
              <a:t>    Returns order details including items,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100" dirty="0"/>
              <a:t>    total, and shipping info.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ourier New"/>
              </a:defRPr>
            </a:pPr>
            <a:r>
              <a:rPr sz="1100" dirty="0"/>
              <a:t>    Do NOT use for product catalog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ourier New"/>
              </a:defRPr>
            </a:pPr>
            <a:r>
              <a:rPr sz="1100" dirty="0"/>
              <a:t>    searches -- use </a:t>
            </a:r>
            <a:r>
              <a:rPr sz="1100" dirty="0" err="1"/>
              <a:t>search_products</a:t>
            </a:r>
            <a:r>
              <a:rPr sz="1100" dirty="0"/>
              <a:t>."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sz="1100" dirty="0"/>
              <a:t>  "</a:t>
            </a:r>
            <a:r>
              <a:rPr sz="1100" dirty="0" err="1"/>
              <a:t>inputSchema</a:t>
            </a:r>
            <a:r>
              <a:rPr sz="1100" dirty="0"/>
              <a:t>": {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"type": "object",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"properties": {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  "</a:t>
            </a:r>
            <a:r>
              <a:rPr sz="1100" dirty="0" err="1"/>
              <a:t>order_id</a:t>
            </a:r>
            <a:r>
              <a:rPr sz="1100" dirty="0"/>
              <a:t>": {"type": "string"},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  "status": {"type": "string",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    "</a:t>
            </a:r>
            <a:r>
              <a:rPr sz="1100" dirty="0" err="1"/>
              <a:t>enum</a:t>
            </a:r>
            <a:r>
              <a:rPr sz="1100" dirty="0"/>
              <a:t>": ["</a:t>
            </a:r>
            <a:r>
              <a:rPr sz="1100" dirty="0" err="1"/>
              <a:t>pending","shipped</a:t>
            </a:r>
            <a:r>
              <a:rPr sz="1100" dirty="0"/>
              <a:t>"]}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  },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ourier New"/>
              </a:defRPr>
            </a:pPr>
            <a:r>
              <a:rPr sz="1100" dirty="0"/>
              <a:t>    "required": ["</a:t>
            </a:r>
            <a:r>
              <a:rPr sz="1100" dirty="0" err="1"/>
              <a:t>order_id</a:t>
            </a:r>
            <a:r>
              <a:rPr sz="1100" dirty="0"/>
              <a:t>"]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}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Three Parts of a Tool Definition: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286000"/>
            <a:ext cx="201168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Unique identifier. Use verb_noun format:</a:t>
            </a:r>
            <a:br/>
            <a:r>
              <a:t>search_orders, create_invoice, get_user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657600"/>
            <a:ext cx="201168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HOW Claude decides to use this tool!</a:t>
            </a:r>
            <a:br/>
            <a:r>
              <a:t>Must include: what it does, when to use,</a:t>
            </a:r>
            <a:br/>
            <a:r>
              <a:t>and WHEN NOT TO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5029200"/>
            <a:ext cx="201168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inputSchema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5778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JSON Schema defining parameters.</a:t>
            </a:r>
            <a:br/>
            <a:r>
              <a:t>Includes types, enums, required fields.</a:t>
            </a:r>
            <a:br/>
            <a:r>
              <a:t>Validation happens automatically!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035040"/>
            <a:ext cx="11064240" cy="64008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KEY: Claude reads tool descriptions to decide which tool to call. A bad description = wrong tool picked!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How Claude Selects the Right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01168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User Message</a:t>
            </a:r>
            <a:br/>
            <a:r>
              <a:t>'Find my order'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1554480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08960" y="1188720"/>
            <a:ext cx="3200400" cy="10972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Claude Reads ALL</a:t>
            </a:r>
            <a:br/>
            <a:r>
              <a:t>Tool Descriptions</a:t>
            </a:r>
            <a:br/>
            <a:r>
              <a:t>&amp; Picks Best Match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09360" y="1554480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949440" y="1371600"/>
            <a:ext cx="228600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Calls</a:t>
            </a:r>
            <a:br/>
            <a:r>
              <a:t>search_orders()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35440" y="1554480"/>
            <a:ext cx="54864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75520" y="1371600"/>
            <a:ext cx="182880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Returns</a:t>
            </a:r>
            <a:br/>
            <a: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41673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rPr dirty="0"/>
              <a:t>Why Descriptions Matter -- Good vs. Bad: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59"/>
            <a:ext cx="5303520" cy="3003917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BAD -- Vague &amp; Overlapping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00848"/>
            <a:ext cx="484632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"</a:t>
            </a:r>
            <a:r>
              <a:rPr dirty="0" err="1"/>
              <a:t>search_data</a:t>
            </a:r>
            <a:r>
              <a:rPr dirty="0"/>
              <a:t>":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"Searches for data in the system"</a:t>
            </a:r>
            <a:endParaRPr lang="en-US" dirty="0"/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"</a:t>
            </a:r>
            <a:r>
              <a:rPr dirty="0" err="1"/>
              <a:t>find_info</a:t>
            </a:r>
            <a:r>
              <a:rPr dirty="0"/>
              <a:t>":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"Finds information for the user"</a:t>
            </a:r>
            <a:endParaRPr lang="en-US" dirty="0"/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Claude thinks: These sound the same??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rPr dirty="0"/>
              <a:t>Which one do I use for 'find order #123'?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rPr dirty="0"/>
              <a:t>Result: WRONG tool picked 40% of the time!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496086"/>
            <a:ext cx="5303520" cy="3356074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267571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rPr dirty="0"/>
              <a:t>GOOD -- Clear 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79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"</a:t>
            </a:r>
            <a:r>
              <a:rPr dirty="0" err="1"/>
              <a:t>search_orders</a:t>
            </a:r>
            <a:r>
              <a:rPr dirty="0"/>
              <a:t>":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"Search customer orders by order ID,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date range, or status. NOT for products."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"</a:t>
            </a:r>
            <a:r>
              <a:rPr dirty="0" err="1"/>
              <a:t>search_products</a:t>
            </a:r>
            <a:r>
              <a:rPr dirty="0"/>
              <a:t>":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"Search product catalog by name, SKU,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or category. NOT for customer orders."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Claude: Clear! Order query -&gt; </a:t>
            </a:r>
            <a:r>
              <a:rPr dirty="0" err="1"/>
              <a:t>search_orders</a:t>
            </a:r>
            <a:r>
              <a:rPr dirty="0"/>
              <a:t>.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rPr dirty="0"/>
              <a:t>Result: Correct tool picked 99%+ of the time!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6322962"/>
            <a:ext cx="11064240" cy="443597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396439"/>
            <a:ext cx="103129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rPr dirty="0"/>
              <a:t>Golden Rule: Always include "when NOT to use" in your tool descriptions. This eliminates confusion!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Real-Life Analogy: Hospital Reception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808264"/>
            <a:ext cx="11064240" cy="5775416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32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rPr dirty="0"/>
              <a:t>Imagine You're the Hospital Receptionist (= Claude)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36090"/>
            <a:ext cx="10058400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C3E50"/>
                </a:solidFill>
                <a:latin typeface="Calibri"/>
              </a:defRPr>
            </a:pPr>
            <a:r>
              <a:rPr dirty="0"/>
              <a:t>A patient walks in and says: 'I need help with my eye'</a:t>
            </a:r>
          </a:p>
          <a:p>
            <a:pPr>
              <a:spcAft>
                <a:spcPts val="600"/>
              </a:spcAft>
              <a:defRPr sz="1500" b="1">
                <a:solidFill>
                  <a:srgbClr val="2C3E50"/>
                </a:solidFill>
                <a:latin typeface="Calibri"/>
              </a:defRPr>
            </a:pPr>
            <a:r>
              <a:rPr dirty="0"/>
              <a:t>You have 3 departments (= 3 tools) to choose from: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 b="1">
                <a:solidFill>
                  <a:srgbClr val="E74C3C"/>
                </a:solidFill>
                <a:latin typeface="Calibri"/>
              </a:defRPr>
            </a:pPr>
            <a:r>
              <a:rPr dirty="0"/>
              <a:t>BAD department signs (= bad tool descriptions):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Department A: "Treats health issues"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Department B: "Helps with medical problems"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Department C: "Provides healthcare services"</a:t>
            </a:r>
          </a:p>
          <a:p>
            <a:pPr>
              <a:spcAft>
                <a:spcPts val="600"/>
              </a:spcAft>
              <a:defRPr sz="1500" b="0">
                <a:solidFill>
                  <a:srgbClr val="E74C3C"/>
                </a:solidFill>
                <a:latin typeface="Calibri"/>
              </a:defRPr>
            </a:pPr>
            <a:r>
              <a:rPr dirty="0"/>
              <a:t>  --&gt; You'd be CONFUSED. All 3 sound the same! Patient goes to wrong dept.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 b="1">
                <a:solidFill>
                  <a:srgbClr val="2ECC71"/>
                </a:solidFill>
                <a:latin typeface="Calibri"/>
              </a:defRPr>
            </a:pPr>
            <a:r>
              <a:rPr dirty="0"/>
              <a:t>GOOD department signs (= good tool descriptions):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Ophthalmology: "Eye exams, vision problems, eye surgery. NOT for headaches (go to Neurology)."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Orthopedics: "Bone fractures, joint pain, sports injuries. NOT for eye problems."</a:t>
            </a:r>
          </a:p>
          <a:p>
            <a:pPr>
              <a:spcAft>
                <a:spcPts val="600"/>
              </a:spcAft>
              <a:defRPr sz="1500" b="0">
                <a:solidFill>
                  <a:srgbClr val="7F8C8D"/>
                </a:solidFill>
                <a:latin typeface="Calibri"/>
              </a:defRPr>
            </a:pPr>
            <a:r>
              <a:rPr dirty="0"/>
              <a:t>  Neurology: "Headaches, nerve issues, brain scans. NOT for vision or bone problems."</a:t>
            </a:r>
          </a:p>
          <a:p>
            <a:pPr>
              <a:spcAft>
                <a:spcPts val="600"/>
              </a:spcAft>
              <a:defRPr sz="1500" b="0">
                <a:solidFill>
                  <a:srgbClr val="2ECC71"/>
                </a:solidFill>
                <a:latin typeface="Calibri"/>
              </a:defRPr>
            </a:pPr>
            <a:r>
              <a:rPr dirty="0"/>
              <a:t>  --&gt; INSTANT match! Eye problem -&gt; Ophthalmology. No confusion.</a:t>
            </a:r>
          </a:p>
          <a:p>
            <a:pPr>
              <a:spcAft>
                <a:spcPts val="600"/>
              </a:spcAft>
              <a:defRPr sz="1500" b="0">
                <a:solidFill>
                  <a:srgbClr val="2C3E50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500" b="1">
                <a:solidFill>
                  <a:srgbClr val="E67E22"/>
                </a:solidFill>
                <a:latin typeface="Calibri"/>
              </a:defRPr>
            </a:pPr>
            <a:r>
              <a:rPr dirty="0"/>
              <a:t>Just like a hospital receptionist reads department signs to route patients,</a:t>
            </a:r>
          </a:p>
          <a:p>
            <a:pPr>
              <a:spcAft>
                <a:spcPts val="600"/>
              </a:spcAft>
              <a:defRPr sz="1500" b="1">
                <a:solidFill>
                  <a:srgbClr val="E67E22"/>
                </a:solidFill>
                <a:latin typeface="Calibri"/>
              </a:defRPr>
            </a:pPr>
            <a:r>
              <a:rPr dirty="0"/>
              <a:t>Claude reads tool descriptions to route requests to the right tool.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MCP Primitives: Tools vs Resources vs 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38328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Functions that DO things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3383280" cy="1463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Search database</a:t>
            </a:r>
            <a:br/>
            <a:r>
              <a:t>Send email</a:t>
            </a:r>
            <a:br/>
            <a:r>
              <a:t>Create file</a:t>
            </a:r>
            <a:br/>
            <a:r>
              <a:t>Run calculation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3383280" cy="10972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98DB"/>
                </a:solidFill>
                <a:latin typeface="Calibri"/>
              </a:defRPr>
            </a:pPr>
            <a:r>
              <a:t>Like a POWER TOOL</a:t>
            </a:r>
            <a:br/>
            <a:r>
              <a:t>in a workshop</a:t>
            </a:r>
            <a:br/>
            <a:r>
              <a:t>(drill, saw, sander)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03520"/>
            <a:ext cx="3383280" cy="822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Model-controlled:</a:t>
            </a:r>
            <a:br/>
            <a:r>
              <a:t>Claude decides</a:t>
            </a:r>
            <a:br/>
            <a:r>
              <a:t>when to use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88720"/>
            <a:ext cx="338328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Data sources to 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377440"/>
            <a:ext cx="3383280" cy="1463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2468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File contents</a:t>
            </a:r>
            <a:br/>
            <a:r>
              <a:t>Database records</a:t>
            </a:r>
            <a:br/>
            <a:r>
              <a:t>API responses</a:t>
            </a:r>
            <a:br/>
            <a:r>
              <a:t>Log 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023360"/>
            <a:ext cx="3383280" cy="10972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4069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Like a BOOKSHELF</a:t>
            </a:r>
            <a:br/>
            <a:r>
              <a:t>in a library</a:t>
            </a:r>
            <a:br/>
            <a:r>
              <a:t>(reference material)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5303520"/>
            <a:ext cx="3383280" cy="822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5349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App-controlled:</a:t>
            </a:r>
            <a:br/>
            <a:r>
              <a:t>Host decides</a:t>
            </a:r>
            <a:br/>
            <a:r>
              <a:t>what to expose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188720"/>
            <a:ext cx="338328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PROMPTS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/>
              </a:defRPr>
            </a:pPr>
            <a:r>
              <a:t>Pre-built templates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377440"/>
            <a:ext cx="3383280" cy="1463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24688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/>
              </a:defRPr>
            </a:pPr>
            <a:r>
              <a:t>Code review template</a:t>
            </a:r>
            <a:br/>
            <a:r>
              <a:t>Bug report template</a:t>
            </a:r>
            <a:br/>
            <a:r>
              <a:t>Summary template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023360"/>
            <a:ext cx="3383280" cy="10972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069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Calibri"/>
              </a:defRPr>
            </a:pPr>
            <a:r>
              <a:t>Like a FORM</a:t>
            </a:r>
            <a:br/>
            <a:r>
              <a:t>at a doctor's office</a:t>
            </a:r>
            <a:br/>
            <a:r>
              <a:t>(fill-in-the-blank)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5303520"/>
            <a:ext cx="3383280" cy="822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53492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User-controlled:</a:t>
            </a:r>
            <a:br/>
            <a:r>
              <a:t>User picks which</a:t>
            </a:r>
            <a:br/>
            <a:r>
              <a:t>template to use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6309360"/>
            <a:ext cx="11064240" cy="45720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EXAM TIP: Tools are model-controlled, Resources are app-controlled, Prompts are user-controlled!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Checklist: Writing Reliable Tool Descriptions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Use verb_noun naming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search_orders, create_user, get_invoice -- NOT generic names like 'handle_request'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Explain 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'Searches customer orders by order ID, date range, or order status'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Explain WHEN to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'Use when the user asks about their order history or delivery status'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Explain WHEN NOT to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'Do NOT use for product searches -- use search_products instead'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Define clear input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Specify types, required fields, enums for constrained values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760720"/>
            <a:ext cx="457200" cy="45720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C3E50"/>
                </a:solidFill>
                <a:latin typeface="Calibri"/>
              </a:defRPr>
            </a:pPr>
            <a:r>
              <a:t>Keep descriptions concise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Calibri"/>
              </a:defRPr>
            </a:pPr>
            <a:r>
              <a:t>Under 1024 chars. Detailed enough to disambiguate, not a novel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3498DB"/>
                </a:solidFill>
              </a:defRPr>
            </a:pPr>
            <a:r>
              <a:t>S2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S2: Structured Error Handling</a:t>
            </a:r>
            <a:br/>
            <a:r>
              <a:t>in MCP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How tools report errors so Claude can recover gracefully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Why Structured Errors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3716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0"/>
              </a:spcAft>
              <a:defRPr sz="1700" b="1">
                <a:solidFill>
                  <a:srgbClr val="2C3E50"/>
                </a:solidFill>
                <a:latin typeface="Calibri"/>
              </a:defRPr>
            </a:pPr>
            <a:r>
              <a:t>When a tool fails, Claude needs to know TWO things:</a:t>
            </a:r>
          </a:p>
          <a:p>
            <a:pPr>
              <a:spcAft>
                <a:spcPts val="68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1. WHAT went wrong (error message + category)</a:t>
            </a:r>
          </a:p>
          <a:p>
            <a:pPr>
              <a:spcAft>
                <a:spcPts val="680"/>
              </a:spcAft>
              <a:defRPr sz="1700" b="0">
                <a:solidFill>
                  <a:srgbClr val="2C3E50"/>
                </a:solidFill>
                <a:latin typeface="Calibri"/>
              </a:defRPr>
            </a:pPr>
            <a:r>
              <a:t>2. SHOULD I retry or give up? (isError flag + error type)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MCP Tool Result Structure: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40"/>
            <a:ext cx="530352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484632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ourier New"/>
              </a:defRPr>
            </a:pPr>
            <a:r>
              <a:rPr sz="1100" dirty="0"/>
              <a:t>// SUCCESS result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{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"content": [{</a:t>
            </a:r>
          </a:p>
          <a:p>
            <a:pPr>
              <a:spcAft>
                <a:spcPts val="560"/>
              </a:spcAft>
              <a:defRPr sz="1400" b="0">
                <a:solidFill>
                  <a:srgbClr val="F0C674"/>
                </a:solidFill>
                <a:latin typeface="Courier New"/>
              </a:defRPr>
            </a:pPr>
            <a:r>
              <a:rPr sz="1100" dirty="0"/>
              <a:t>    "type": "text",</a:t>
            </a:r>
          </a:p>
          <a:p>
            <a:pPr>
              <a:spcAft>
                <a:spcPts val="560"/>
              </a:spcAft>
              <a:defRPr sz="1400" b="0">
                <a:solidFill>
                  <a:srgbClr val="F0C674"/>
                </a:solidFill>
                <a:latin typeface="Courier New"/>
              </a:defRPr>
            </a:pPr>
            <a:r>
              <a:rPr sz="1100" dirty="0"/>
              <a:t>    "text": "Order #123 found..."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}],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ourier New"/>
              </a:defRPr>
            </a:pPr>
            <a:r>
              <a:rPr sz="1100" dirty="0"/>
              <a:t>  "</a:t>
            </a:r>
            <a:r>
              <a:rPr sz="1100" dirty="0" err="1"/>
              <a:t>isError</a:t>
            </a:r>
            <a:r>
              <a:rPr sz="1100" dirty="0"/>
              <a:t>": false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91840"/>
            <a:ext cx="530352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80"/>
            <a:ext cx="484632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ourier New"/>
              </a:defRPr>
            </a:pPr>
            <a:r>
              <a:rPr sz="1100" dirty="0"/>
              <a:t>// ERROR result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{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"content": [{</a:t>
            </a:r>
          </a:p>
          <a:p>
            <a:pPr>
              <a:spcAft>
                <a:spcPts val="560"/>
              </a:spcAft>
              <a:defRPr sz="1400" b="0">
                <a:solidFill>
                  <a:srgbClr val="F0C674"/>
                </a:solidFill>
                <a:latin typeface="Courier New"/>
              </a:defRPr>
            </a:pPr>
            <a:r>
              <a:rPr sz="1100" dirty="0"/>
              <a:t>    "type": "text",</a:t>
            </a:r>
          </a:p>
          <a:p>
            <a:pPr>
              <a:spcAft>
                <a:spcPts val="560"/>
              </a:spcAft>
              <a:defRPr sz="1400" b="0">
                <a:solidFill>
                  <a:srgbClr val="F0C674"/>
                </a:solidFill>
                <a:latin typeface="Courier New"/>
              </a:defRPr>
            </a:pPr>
            <a:r>
              <a:rPr sz="1100" dirty="0"/>
              <a:t>    "text": "Connection timeout"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  }],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ourier New"/>
              </a:defRPr>
            </a:pPr>
            <a:r>
              <a:rPr sz="1100" dirty="0"/>
              <a:t>  "</a:t>
            </a:r>
            <a:r>
              <a:rPr sz="1100" dirty="0" err="1"/>
              <a:t>isError</a:t>
            </a:r>
            <a:r>
              <a:rPr sz="1100" dirty="0"/>
              <a:t>": true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rPr sz="1100" dirty="0"/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64240" cy="109728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t>isError: false -- Claude treats the content as successful data to use in its response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t>isError: true -- Claude knows something broke and can decide to retry, use a fallback, or inform the user</a:t>
            </a:r>
          </a:p>
          <a:p>
            <a:pPr>
              <a:spcAft>
                <a:spcPts val="56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t>Without isError, Claude might use an error message AS IF it were valid data!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Four Error Categories -- Know When to Retry!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65176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TRANSIENT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Temporary failure,</a:t>
            </a:r>
            <a:br/>
            <a:r>
              <a:t>try again!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468880"/>
            <a:ext cx="2651760" cy="1463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25603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API timeout</a:t>
            </a:r>
            <a:br/>
            <a:r>
              <a:t>Rate limited (429)</a:t>
            </a:r>
            <a:br/>
            <a:r>
              <a:t>Network blip</a:t>
            </a:r>
            <a:br/>
            <a:r>
              <a:t>Server overload (503)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114800"/>
            <a:ext cx="265176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YES -- Retry!</a:t>
            </a:r>
            <a:br/>
            <a:r>
              <a:t>(with backoff)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846320"/>
            <a:ext cx="265176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498DB"/>
                </a:solidFill>
                <a:latin typeface="Calibri"/>
              </a:defRPr>
            </a:pPr>
            <a:r>
              <a:t>Like a busy phone line --</a:t>
            </a:r>
            <a:br/>
            <a:r>
              <a:t>call again in a minute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188720"/>
            <a:ext cx="265176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Bad input from</a:t>
            </a:r>
            <a:br/>
            <a:r>
              <a:t>the caller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468880"/>
            <a:ext cx="2651760" cy="1463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25603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Invalid email format</a:t>
            </a:r>
            <a:br/>
            <a:r>
              <a:t>Missing required field</a:t>
            </a:r>
            <a:br/>
            <a:r>
              <a:t>Date in wrong format</a:t>
            </a:r>
            <a:br/>
            <a:r>
              <a:t>ID not a valid UUID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4114800"/>
            <a:ext cx="265176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 -- Fix input</a:t>
            </a:r>
            <a:br/>
            <a:r>
              <a:t>then retry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4846320"/>
            <a:ext cx="265176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7E22"/>
                </a:solidFill>
                <a:latin typeface="Calibri"/>
              </a:defRPr>
            </a:pPr>
            <a:r>
              <a:t>Like filling a form wrong --</a:t>
            </a:r>
            <a:br/>
            <a:r>
              <a:t>fix the errors first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188720"/>
            <a:ext cx="265176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Rules say NO,</a:t>
            </a:r>
            <a:br/>
            <a:r>
              <a:t>even if input is valid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468880"/>
            <a:ext cx="2651760" cy="1463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5603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Insufficient balance</a:t>
            </a:r>
            <a:br/>
            <a:r>
              <a:t>Order already cancelled</a:t>
            </a:r>
            <a:br/>
            <a:r>
              <a:t>User not authorized</a:t>
            </a:r>
            <a:br/>
            <a:r>
              <a:t>Account suspended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114800"/>
            <a:ext cx="265176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 -- Inform user</a:t>
            </a:r>
            <a:br/>
            <a:r>
              <a:t>(can't override)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46320"/>
            <a:ext cx="265176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74C3C"/>
                </a:solidFill>
                <a:latin typeface="Calibri"/>
              </a:defRPr>
            </a:pPr>
            <a:r>
              <a:t>Like being under 21 at</a:t>
            </a:r>
            <a:br/>
            <a:r>
              <a:t>a bar -- valid ID, wrong 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1188720"/>
            <a:ext cx="265176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18288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Access denied,</a:t>
            </a:r>
            <a:br/>
            <a:r>
              <a:t>not allowed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2468880"/>
            <a:ext cx="2651760" cy="146304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26880" y="25603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Invalid API key</a:t>
            </a:r>
            <a:br/>
            <a:r>
              <a:t>Token expired</a:t>
            </a:r>
            <a:br/>
            <a:r>
              <a:t>Insufficient scope</a:t>
            </a:r>
            <a:br/>
            <a:r>
              <a:t>IP not whitelisted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4114800"/>
            <a:ext cx="265176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 -- Need admin</a:t>
            </a:r>
            <a:br/>
            <a:r>
              <a:t>or new credentials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89720" y="4846320"/>
            <a:ext cx="265176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B59B6"/>
                </a:solidFill>
                <a:latin typeface="Calibri"/>
              </a:defRPr>
            </a:pPr>
            <a:r>
              <a:t>Like trying a locked door --</a:t>
            </a:r>
            <a:br/>
            <a:r>
              <a:t>you need the right key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852160"/>
            <a:ext cx="11064240" cy="82296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897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EXAM TIP: Only TRANSIENT errors should be retried. Validation = fix input, Business = inform user, Permission = escalate.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Error Handling Flow -- How Claude Should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097280"/>
            <a:ext cx="365760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Tool Returns Result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69280" y="1737360"/>
            <a:ext cx="320040" cy="45720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0" y="2194560"/>
            <a:ext cx="36576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Is </a:t>
            </a:r>
            <a:r>
              <a:rPr dirty="0" err="1"/>
              <a:t>isError</a:t>
            </a:r>
            <a:r>
              <a:rPr dirty="0"/>
              <a:t> = true?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828800" y="2606040"/>
            <a:ext cx="2286000" cy="59436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56032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27432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 result normally</a:t>
            </a:r>
          </a:p>
        </p:txBody>
      </p:sp>
      <p:cxnSp>
        <p:nvCxnSpPr>
          <p:cNvPr id="11" name="Connector 10"/>
          <p:cNvCxnSpPr>
            <a:cxnSpLocks/>
            <a:endCxn id="13" idx="0"/>
          </p:cNvCxnSpPr>
          <p:nvPr/>
        </p:nvCxnSpPr>
        <p:spPr>
          <a:xfrm>
            <a:off x="7772400" y="2606040"/>
            <a:ext cx="2057400" cy="484632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58200" y="25284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090672"/>
            <a:ext cx="32004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What type of error?</a:t>
            </a:r>
          </a:p>
        </p:txBody>
      </p:sp>
      <p:cxnSp>
        <p:nvCxnSpPr>
          <p:cNvPr id="14" name="Connector 13"/>
          <p:cNvCxnSpPr>
            <a:cxnSpLocks/>
            <a:endCxn id="15" idx="0"/>
          </p:cNvCxnSpPr>
          <p:nvPr/>
        </p:nvCxnSpPr>
        <p:spPr>
          <a:xfrm flipH="1">
            <a:off x="5029200" y="3730752"/>
            <a:ext cx="3429000" cy="503246"/>
          </a:xfrm>
          <a:prstGeom prst="line">
            <a:avLst/>
          </a:prstGeom>
          <a:ln w="2540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0" y="4233998"/>
            <a:ext cx="2743200" cy="8229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Transient?</a:t>
            </a:r>
            <a:br/>
            <a:r>
              <a:t>Retry with backoff</a:t>
            </a:r>
          </a:p>
        </p:txBody>
      </p:sp>
      <p:cxnSp>
        <p:nvCxnSpPr>
          <p:cNvPr id="16" name="Connector 15"/>
          <p:cNvCxnSpPr>
            <a:cxnSpLocks/>
            <a:stCxn id="13" idx="2"/>
          </p:cNvCxnSpPr>
          <p:nvPr/>
        </p:nvCxnSpPr>
        <p:spPr>
          <a:xfrm flipH="1">
            <a:off x="7772400" y="3730752"/>
            <a:ext cx="2057400" cy="658368"/>
          </a:xfrm>
          <a:prstGeom prst="line">
            <a:avLst/>
          </a:prstGeom>
          <a:ln w="254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75120" y="4233998"/>
            <a:ext cx="2286000" cy="8229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Validation?</a:t>
            </a:r>
            <a:br/>
            <a:r>
              <a:t>Fix input &amp; retry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>
            <a:off x="10213521" y="3730752"/>
            <a:ext cx="302079" cy="658368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0" y="4233998"/>
            <a:ext cx="274320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Business/Permission?</a:t>
            </a:r>
            <a:br/>
            <a:r>
              <a:t>Inform 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231348"/>
            <a:ext cx="11064240" cy="147153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0100" y="533127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Real-Life Analogy: Online Shopping Checkout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563335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3498DB"/>
                </a:solidFill>
                <a:latin typeface="Calibri"/>
              </a:defRPr>
            </a:pPr>
            <a:r>
              <a:rPr dirty="0"/>
              <a:t>Transient: 'Payment gateway busy' -&gt; Try again in 30 seconds (it'll probably work)</a:t>
            </a:r>
          </a:p>
          <a:p>
            <a:pPr>
              <a:spcAft>
                <a:spcPts val="520"/>
              </a:spcAft>
              <a:defRPr sz="1300" b="0">
                <a:solidFill>
                  <a:srgbClr val="E67E22"/>
                </a:solidFill>
                <a:latin typeface="Calibri"/>
              </a:defRPr>
            </a:pPr>
            <a:r>
              <a:rPr dirty="0"/>
              <a:t>Validation: 'Invalid card number' -&gt; You mistyped, fix it and retry</a:t>
            </a:r>
          </a:p>
          <a:p>
            <a:pPr>
              <a:spcAft>
                <a:spcPts val="520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rPr dirty="0"/>
              <a:t>Business: 'Insufficient funds' -&gt; No amount of retrying will help, need more money</a:t>
            </a:r>
          </a:p>
          <a:p>
            <a:pPr>
              <a:spcAft>
                <a:spcPts val="520"/>
              </a:spcAft>
              <a:defRPr sz="1300" b="0">
                <a:solidFill>
                  <a:srgbClr val="9B59B6"/>
                </a:solidFill>
                <a:latin typeface="Calibri"/>
              </a:defRPr>
            </a:pPr>
            <a:r>
              <a:rPr dirty="0"/>
              <a:t>Permission: 'Card blocked by bank' -&gt; Call your bank to unblock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MCP JSON Message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MCP uses JSON-RPC 2.0 for communication. Three message types: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38328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Client asks server to do something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3383280" cy="21031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{"jsonrpc": "2.0",</a:t>
            </a:r>
            <a:br/>
            <a:r>
              <a:t> "id": 1,</a:t>
            </a:r>
            <a:br/>
            <a:r>
              <a:t> "method": "tools/call",</a:t>
            </a:r>
            <a:br/>
            <a:r>
              <a:t> "params": {"name": "search"}}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20640"/>
            <a:ext cx="338328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98DB"/>
                </a:solidFill>
                <a:latin typeface="Calibri"/>
              </a:defRPr>
            </a:pPr>
            <a:r>
              <a:t>Like sending a letter</a:t>
            </a:r>
            <a:br/>
            <a:r>
              <a:t>with a return 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37360"/>
            <a:ext cx="338328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Server replies with result or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834640"/>
            <a:ext cx="3383280" cy="21031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926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{"jsonrpc": "2.0",</a:t>
            </a:r>
            <a:br/>
            <a:r>
              <a:t> "id": 1,</a:t>
            </a:r>
            <a:br/>
            <a:r>
              <a:t> "result": {"content": [...]}}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120640"/>
            <a:ext cx="338328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5166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Calibri"/>
              </a:defRPr>
            </a:pPr>
            <a:r>
              <a:t>Like getting a reply</a:t>
            </a:r>
            <a:br/>
            <a:r>
              <a:t>back in the 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737360"/>
            <a:ext cx="338328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NOTIFICATION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Calibri"/>
              </a:defRPr>
            </a:pPr>
            <a:r>
              <a:t>One-way message, no reply expected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834640"/>
            <a:ext cx="3383280" cy="21031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2926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ourier New"/>
              </a:defRPr>
            </a:pPr>
            <a:r>
              <a:t>{"jsonrpc": "2.0",</a:t>
            </a:r>
            <a:br/>
            <a:r>
              <a:t> "method": "notifications/</a:t>
            </a:r>
            <a:br/>
            <a:r>
              <a:t>  progress",</a:t>
            </a:r>
            <a:br/>
            <a:r>
              <a:t> "params": {"progress": 50}}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120640"/>
            <a:ext cx="338328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51663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Calibri"/>
              </a:defRPr>
            </a:pPr>
            <a:r>
              <a:t>Like a status update</a:t>
            </a:r>
            <a:br/>
            <a:r>
              <a:t>text -- no reply needed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126480"/>
            <a:ext cx="11064240" cy="54864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KEY: Requests have an 'id' (they expect a reply). Notifications have NO 'id' (fire-and-forget).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2ECC71"/>
                </a:solidFill>
              </a:defRPr>
            </a:pPr>
            <a:r>
              <a:t>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S3: Tool Distribution &amp;</a:t>
            </a:r>
            <a:br/>
            <a:r>
              <a:t>tool_choice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Controlling which tools agents can use and when they must use them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tool_choice -- Controlling How Claude Uses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1887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0"/>
              </a:spcAft>
              <a:defRPr sz="1600" b="1">
                <a:solidFill>
                  <a:srgbClr val="2C3E50"/>
                </a:solidFill>
                <a:latin typeface="Calibri"/>
              </a:defRPr>
            </a:pPr>
            <a:r>
              <a:t>tool_choice tells Claude: 'Here are your rules for using tools in this API call'</a:t>
            </a:r>
          </a:p>
          <a:p>
            <a:pPr>
              <a:spcAft>
                <a:spcPts val="640"/>
              </a:spcAft>
              <a:defRPr sz="1600" b="0">
                <a:solidFill>
                  <a:srgbClr val="2C3E50"/>
                </a:solidFill>
                <a:latin typeface="Calibri"/>
              </a:defRPr>
            </a:pPr>
            <a:r>
              <a:t>It controls WHETHER Claude must use a tool, and optionally WHICH specific tool</a:t>
            </a:r>
          </a:p>
          <a:p>
            <a:pPr>
              <a:spcAft>
                <a:spcPts val="640"/>
              </a:spcAft>
              <a:defRPr sz="1600" b="0">
                <a:solidFill>
                  <a:srgbClr val="7F8C8D"/>
                </a:solidFill>
                <a:latin typeface="Calibri"/>
              </a:defRPr>
            </a:pPr>
            <a:r>
              <a:t>Think of it as setting the 'gear' on a car -- each gear changes driving behavior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560320"/>
            <a:ext cx="265176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54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Calibri"/>
              </a:defRPr>
            </a:pPr>
            <a:r>
              <a:t>Claude decides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566160"/>
            <a:ext cx="265176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3611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Model picks whether to use a tool</a:t>
            </a:r>
            <a:br/>
            <a:r>
              <a:t>or just respond with text.</a:t>
            </a:r>
            <a:br/>
            <a:r>
              <a:t>Default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937760"/>
            <a:ext cx="265176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495604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98DB"/>
                </a:solidFill>
                <a:latin typeface="Calibri"/>
              </a:defRPr>
            </a:pPr>
            <a:r>
              <a:t>Manual car</a:t>
            </a:r>
            <a:br/>
            <a:r>
              <a:t>Driver decides</a:t>
            </a:r>
            <a:br/>
            <a:r>
              <a:t>when to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852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General chat, open-ended</a:t>
            </a:r>
            <a:br/>
            <a:r>
              <a:t>tasks, most use cases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560320"/>
            <a:ext cx="265176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154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Calibri"/>
              </a:defRPr>
            </a:pPr>
            <a:r>
              <a:t>Must use SOME tool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566160"/>
            <a:ext cx="265176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3611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Model MUST call at least one</a:t>
            </a:r>
            <a:br/>
            <a:r>
              <a:t>tool. Cannot respond with</a:t>
            </a:r>
            <a:br/>
            <a:r>
              <a:t>text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4937760"/>
            <a:ext cx="265176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83280" y="495604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Vending machine</a:t>
            </a:r>
            <a:br/>
            <a:r>
              <a:t>Must press a</a:t>
            </a:r>
            <a:br/>
            <a:r>
              <a:t>button to get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5852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When every response</a:t>
            </a:r>
            <a:br/>
            <a:r>
              <a:t>needs an action taken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60320"/>
            <a:ext cx="265176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54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Calibri"/>
              </a:defRPr>
            </a:pPr>
            <a:r>
              <a:t>Must use THIS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566160"/>
            <a:ext cx="265176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3611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Force a specific named tool.</a:t>
            </a:r>
            <a:br/>
            <a:r>
              <a:t>Claude must call exactly</a:t>
            </a:r>
            <a:br/>
            <a:r>
              <a:t>this one tool.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937760"/>
            <a:ext cx="265176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95604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GPS navigation</a:t>
            </a:r>
            <a:br/>
            <a:r>
              <a:t>Forced to take</a:t>
            </a:r>
            <a:br/>
            <a:r>
              <a:t>one specific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852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Classification, labeling,</a:t>
            </a:r>
            <a:br/>
            <a:r>
              <a:t>forced workflow steps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2560320"/>
            <a:ext cx="265176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154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Calibri"/>
              </a:defRPr>
            </a:pPr>
            <a:r>
              <a:t>No tools allowed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3566160"/>
            <a:ext cx="2651760" cy="11887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0" y="3611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Claude cannot call any tools.</a:t>
            </a:r>
            <a:br/>
            <a:r>
              <a:t>Text-only response.</a:t>
            </a:r>
            <a:br/>
            <a:r>
              <a:t>Tools are invisible.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4937760"/>
            <a:ext cx="265176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495604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Locked toolbox</a:t>
            </a:r>
            <a:br/>
            <a:r>
              <a:t>Can look but</a:t>
            </a:r>
            <a:br/>
            <a:r>
              <a:t>can't touch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5852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Planning, reasoning,</a:t>
            </a:r>
            <a:br/>
            <a:r>
              <a:t>summarization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tool_choice in API Calls -- Code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03520" cy="14630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auto (default -- omit or set)</a:t>
            </a:r>
          </a:p>
          <a:p>
            <a:pPr>
              <a:spcAft>
                <a:spcPts val="560"/>
              </a:spcAft>
              <a:defRPr sz="1400" b="0">
                <a:solidFill>
                  <a:srgbClr val="3498DB"/>
                </a:solidFill>
                <a:latin typeface="Courier New"/>
              </a:defRPr>
            </a:pPr>
            <a:r>
              <a:rPr sz="1100" dirty="0" err="1"/>
              <a:t>tool_choice</a:t>
            </a:r>
            <a:r>
              <a:rPr sz="1100" dirty="0"/>
              <a:t>={"type": "auto"}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endParaRPr sz="1100" dirty="0"/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Claude decides: call a tool OR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just respond with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303520" cy="14630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any -- must use SOME tool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ourier New"/>
              </a:defRPr>
            </a:pPr>
            <a:r>
              <a:rPr sz="1100" dirty="0" err="1"/>
              <a:t>tool_choice</a:t>
            </a:r>
            <a:r>
              <a:rPr sz="1100" dirty="0"/>
              <a:t>={"type": "any"}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endParaRPr sz="1100" dirty="0"/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Claude MUST call at least one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tool. Can pick which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303520" cy="16459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84632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tool -- force specific tool</a:t>
            </a:r>
          </a:p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ourier New"/>
              </a:defRPr>
            </a:pPr>
            <a:r>
              <a:rPr sz="1100" dirty="0" err="1"/>
              <a:t>tool_choice</a:t>
            </a:r>
            <a:r>
              <a:rPr sz="1100" dirty="0"/>
              <a:t>={</a:t>
            </a:r>
          </a:p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ourier New"/>
              </a:defRPr>
            </a:pPr>
            <a:r>
              <a:rPr sz="1100" dirty="0"/>
              <a:t>  "type": "tool",</a:t>
            </a:r>
          </a:p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ourier New"/>
              </a:defRPr>
            </a:pPr>
            <a:r>
              <a:rPr sz="1100" dirty="0"/>
              <a:t>  "name": "</a:t>
            </a:r>
            <a:r>
              <a:rPr sz="1100" dirty="0" err="1"/>
              <a:t>classify_ticket</a:t>
            </a:r>
            <a:r>
              <a:rPr sz="1100" dirty="0"/>
              <a:t>"</a:t>
            </a:r>
          </a:p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ourier New"/>
              </a:defRPr>
            </a:pPr>
            <a:r>
              <a:rPr sz="1100" dirty="0"/>
              <a:t>}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Claude MUST call </a:t>
            </a:r>
            <a:r>
              <a:rPr sz="1100" dirty="0" err="1"/>
              <a:t>classify_ticket</a:t>
            </a:r>
            <a:endParaRPr sz="1100" dirty="0"/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5303520" cy="16459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926080"/>
            <a:ext cx="484632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none -- no tools allowed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ourier New"/>
              </a:defRPr>
            </a:pPr>
            <a:r>
              <a:rPr sz="1100" dirty="0" err="1"/>
              <a:t>tool_choice</a:t>
            </a:r>
            <a:r>
              <a:rPr sz="1100" dirty="0"/>
              <a:t>={"type": "none"}</a:t>
            </a:r>
          </a:p>
          <a:p>
            <a:pPr>
              <a:spcAft>
                <a:spcPts val="560"/>
              </a:spcAft>
              <a:defRPr sz="1400" b="0">
                <a:solidFill>
                  <a:srgbClr val="FFFFFF"/>
                </a:solidFill>
                <a:latin typeface="Courier New"/>
              </a:defRPr>
            </a:pPr>
            <a:endParaRPr sz="1100" dirty="0"/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Claude responds text-only.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Tools exist but are blocked.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ourier New"/>
              </a:defRPr>
            </a:pPr>
            <a:r>
              <a:rPr sz="1100" dirty="0"/>
              <a:t># Great for 'think first' step.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11064240" cy="192024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98DB"/>
                </a:solidFill>
                <a:latin typeface="Calibri"/>
              </a:defRPr>
            </a:pPr>
            <a:r>
              <a:t>Real-World Scenario: Customer Support Bot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alibri"/>
              </a:defRPr>
            </a:pPr>
            <a:r>
              <a:t>Step 1 (tool_choice: tool='classify_ticket'):  Force classification first -- MUST label the ticket</a:t>
            </a:r>
          </a:p>
          <a:p>
            <a:pPr>
              <a:spcAft>
                <a:spcPts val="560"/>
              </a:spcAft>
              <a:defRPr sz="1400" b="0">
                <a:solidFill>
                  <a:srgbClr val="3498DB"/>
                </a:solidFill>
                <a:latin typeface="Calibri"/>
              </a:defRPr>
            </a:pPr>
            <a:r>
              <a:t>Step 2 (tool_choice: auto):  Claude decides -- maybe search KB, maybe ask clarifying question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t>Step 3 (tool_choice: any):  Must take action -- create ticket, send email, or escalate</a:t>
            </a:r>
          </a:p>
          <a:p>
            <a:pPr>
              <a:spcAft>
                <a:spcPts val="560"/>
              </a:spcAft>
              <a:defRPr sz="1400" b="0">
                <a:solidFill>
                  <a:srgbClr val="E74C3C"/>
                </a:solidFill>
                <a:latin typeface="Calibri"/>
              </a:defRPr>
            </a:pPr>
            <a:r>
              <a:t>Step 4 (tool_choice: none):  Summarize what was done -- text-only response, no more actions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Scoped Tool Distribution -- Right Tools for Right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Don't give every agent every tool. Give each agent ONLY what it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37744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BAD: One Agent, All Tools</a:t>
            </a:r>
          </a:p>
        </p:txBody>
      </p:sp>
      <p:sp>
        <p:nvSpPr>
          <p:cNvPr id="8" name="Oval 7"/>
          <p:cNvSpPr/>
          <p:nvPr/>
        </p:nvSpPr>
        <p:spPr>
          <a:xfrm>
            <a:off x="2377439" y="2286000"/>
            <a:ext cx="1097280" cy="10972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</a:defRPr>
            </a:pPr>
            <a:r>
              <a:rPr dirty="0"/>
              <a:t>Support</a:t>
            </a:r>
            <a:br>
              <a:rPr dirty="0"/>
            </a:br>
            <a:r>
              <a:rPr dirty="0"/>
              <a:t>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0777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rPr dirty="0"/>
              <a:t>- </a:t>
            </a:r>
            <a:r>
              <a:rPr dirty="0" err="1"/>
              <a:t>read_db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377440" y="3474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- delete_db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40777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rPr dirty="0"/>
              <a:t>- </a:t>
            </a:r>
            <a:r>
              <a:rPr dirty="0" err="1"/>
              <a:t>send_email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85800" y="392721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rPr dirty="0"/>
              <a:t>- </a:t>
            </a:r>
            <a:r>
              <a:rPr dirty="0" err="1"/>
              <a:t>charge_card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377440" y="3967843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- read_logs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572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- admin_panel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5303520" cy="237744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GOOD: Scoped Per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468880"/>
            <a:ext cx="118872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read_db + send_email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063240"/>
            <a:ext cx="118872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charge_card + read_db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657600"/>
            <a:ext cx="118872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admin_panel + delete_db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11064240" cy="210312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Real-Life Analogy: Office Key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05156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rPr sz="1200" dirty="0"/>
              <a:t>Every employee doesn't get a master key. Instead:</a:t>
            </a:r>
          </a:p>
          <a:p>
            <a:pPr>
              <a:spcAft>
                <a:spcPts val="560"/>
              </a:spcAft>
              <a:defRPr sz="1400" b="0">
                <a:solidFill>
                  <a:srgbClr val="3498DB"/>
                </a:solidFill>
                <a:latin typeface="Calibri"/>
              </a:defRPr>
            </a:pPr>
            <a:r>
              <a:rPr sz="1200" dirty="0"/>
              <a:t>Receptionist: Front desk + meeting rooms only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rPr sz="1200" dirty="0"/>
              <a:t>Developer: Office + server room (no finance area)</a:t>
            </a:r>
          </a:p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alibri"/>
              </a:defRPr>
            </a:pPr>
            <a:r>
              <a:rPr sz="1200" dirty="0"/>
              <a:t>Finance: Office + finance area (no server room)</a:t>
            </a:r>
          </a:p>
          <a:p>
            <a:pPr>
              <a:spcAft>
                <a:spcPts val="560"/>
              </a:spcAft>
              <a:defRPr sz="1400" b="0">
                <a:solidFill>
                  <a:srgbClr val="9B59B6"/>
                </a:solidFill>
                <a:latin typeface="Calibri"/>
              </a:defRPr>
            </a:pPr>
            <a:r>
              <a:rPr sz="1200" dirty="0"/>
              <a:t>CTO: All areas (full access only when truly needed)</a:t>
            </a:r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sz="1200" dirty="0"/>
              <a:t>Principle of Least Privilege: each agent gets minimum tools needed to do its job.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E67E22"/>
                </a:solidFill>
              </a:defRPr>
            </a:pPr>
            <a:r>
              <a:t>S4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S4: MCP Server Integration</a:t>
            </a:r>
            <a:br/>
            <a:r>
              <a:t>with Claude Code &amp;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Configuring, connecting, and managing MCP servers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How Client &amp; Server Communicate -- Transports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MCP supports two transport mechanisms for client-server communication: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347472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98DB"/>
                </a:solidFill>
                <a:latin typeface="Calibri"/>
              </a:defRPr>
            </a:pPr>
            <a:r>
              <a:t>STDIO 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846320" cy="282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How it works: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Client launches server as a child process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Communication via stdin/</a:t>
            </a:r>
            <a:r>
              <a:rPr sz="1100" dirty="0" err="1"/>
              <a:t>stdout</a:t>
            </a:r>
            <a:r>
              <a:rPr sz="1100" dirty="0"/>
              <a:t> pipes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Server runs locally on same machine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 sz="1100" dirty="0"/>
          </a:p>
          <a:p>
            <a:pPr>
              <a:spcAft>
                <a:spcPts val="520"/>
              </a:spcAft>
              <a:defRPr sz="1300" b="1">
                <a:solidFill>
                  <a:srgbClr val="3498DB"/>
                </a:solidFill>
                <a:latin typeface="Calibri"/>
              </a:defRPr>
            </a:pPr>
            <a:r>
              <a:rPr sz="1100" dirty="0"/>
              <a:t>Best for: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Local tools (file system, git, database)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CLI-based tools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Development &amp; testing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 sz="1100" dirty="0"/>
          </a:p>
          <a:p>
            <a:pPr>
              <a:spcAft>
                <a:spcPts val="520"/>
              </a:spcAft>
              <a:defRPr sz="1300" b="1">
                <a:solidFill>
                  <a:srgbClr val="7F8C8D"/>
                </a:solidFill>
                <a:latin typeface="Calibri"/>
              </a:defRPr>
            </a:pPr>
            <a:r>
              <a:rPr sz="1100" dirty="0"/>
              <a:t>Like a walkie-talkie between two</a:t>
            </a:r>
          </a:p>
          <a:p>
            <a:pPr>
              <a:spcAft>
                <a:spcPts val="520"/>
              </a:spcAft>
              <a:defRPr sz="1300" b="1">
                <a:solidFill>
                  <a:srgbClr val="7F8C8D"/>
                </a:solidFill>
                <a:latin typeface="Calibri"/>
              </a:defRPr>
            </a:pPr>
            <a:r>
              <a:rPr sz="1100" dirty="0"/>
              <a:t>people in the same building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337762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Streamable HTTP Transport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846320" cy="282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1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How it works: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Server runs as HTTP endpoint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Client sends POST requests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Server can stream responses (SSE)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 sz="1100" dirty="0"/>
          </a:p>
          <a:p>
            <a:pPr>
              <a:spcAft>
                <a:spcPts val="520"/>
              </a:spcAft>
              <a:defRPr sz="1300" b="1">
                <a:solidFill>
                  <a:srgbClr val="E67E22"/>
                </a:solidFill>
                <a:latin typeface="Calibri"/>
              </a:defRPr>
            </a:pPr>
            <a:r>
              <a:rPr sz="1100" dirty="0"/>
              <a:t>Best for: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Remote/cloud-hosted servers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Shared team servers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Production deployments</a:t>
            </a:r>
          </a:p>
          <a:p>
            <a:pPr>
              <a:spcAft>
                <a:spcPts val="520"/>
              </a:spcAft>
              <a:defRPr sz="1300" b="0">
                <a:solidFill>
                  <a:srgbClr val="2C3E50"/>
                </a:solidFill>
                <a:latin typeface="Calibri"/>
              </a:defRPr>
            </a:pPr>
            <a:endParaRPr sz="1100" dirty="0"/>
          </a:p>
          <a:p>
            <a:pPr>
              <a:spcAft>
                <a:spcPts val="520"/>
              </a:spcAft>
              <a:defRPr sz="1300" b="1">
                <a:solidFill>
                  <a:srgbClr val="7F8C8D"/>
                </a:solidFill>
                <a:latin typeface="Calibri"/>
              </a:defRPr>
            </a:pPr>
            <a:r>
              <a:rPr sz="1100" dirty="0"/>
              <a:t>Like a phone call to someone</a:t>
            </a:r>
          </a:p>
          <a:p>
            <a:pPr>
              <a:spcAft>
                <a:spcPts val="520"/>
              </a:spcAft>
              <a:defRPr sz="1300" b="1">
                <a:solidFill>
                  <a:srgbClr val="7F8C8D"/>
                </a:solidFill>
                <a:latin typeface="Calibri"/>
              </a:defRPr>
            </a:pPr>
            <a:r>
              <a:rPr sz="1100" dirty="0"/>
              <a:t>in another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699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rPr dirty="0"/>
              <a:t>Visual Comparison: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938703"/>
            <a:ext cx="164592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Client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377440" y="6030143"/>
            <a:ext cx="731520" cy="274320"/>
          </a:xfrm>
          <a:prstGeom prst="rightArrow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108960" y="5889716"/>
            <a:ext cx="1645920" cy="5486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248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Same machine (stdin/stdout)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024" y="5816237"/>
            <a:ext cx="164592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196944" y="5907677"/>
            <a:ext cx="731520" cy="27432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28464" y="5641523"/>
            <a:ext cx="731520" cy="7772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NET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92640" y="5889716"/>
            <a:ext cx="731520" cy="274320"/>
          </a:xfrm>
          <a:prstGeom prst="rightArrow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424160" y="5738677"/>
            <a:ext cx="1371600" cy="54864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9624" y="651183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rPr dirty="0"/>
              <a:t>Different machines (HTTP/SSE)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Where MCP Server Configs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Three places to configure MCP servers -- each with different scope: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383280" cy="7315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PROJECT</a:t>
            </a:r>
            <a:br/>
            <a:r>
              <a:t>.mcp.json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In your project root</a:t>
            </a:r>
            <a:br/>
            <a:r>
              <a:t>(checked into git)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383280" cy="16459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Shared with all team members</a:t>
            </a:r>
            <a:br/>
            <a:r>
              <a:t>who clone the repo</a:t>
            </a:r>
            <a:br/>
            <a:br/>
            <a:r>
              <a:t>Best for: project-specific servers</a:t>
            </a:r>
            <a:br/>
            <a:r>
              <a:t>(e.g., your project's DB server)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937760"/>
            <a:ext cx="338328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98DB"/>
                </a:solidFill>
                <a:latin typeface="Calibri"/>
              </a:defRPr>
            </a:pPr>
            <a:r>
              <a:t>Like a shared office WiFi</a:t>
            </a:r>
            <a:br/>
            <a:r>
              <a:t>password posted on the wall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737360"/>
            <a:ext cx="338328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SHARED PROJECT</a:t>
            </a:r>
            <a:br/>
            <a:r>
              <a:t>.mcp.json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In .claude/ directory</a:t>
            </a:r>
            <a:br/>
            <a:r>
              <a:t>(may be gitignored)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108960"/>
            <a:ext cx="3383280" cy="16459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Project-level but can contain</a:t>
            </a:r>
            <a:br/>
            <a:r>
              <a:t>personal overrides</a:t>
            </a:r>
            <a:br/>
            <a:br/>
            <a:r>
              <a:t>Best for: local dev variations</a:t>
            </a:r>
            <a:br/>
            <a:r>
              <a:t>(e.g., different DB port)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937760"/>
            <a:ext cx="338328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Calibri"/>
              </a:defRPr>
            </a:pPr>
            <a:r>
              <a:t>Like your personal desk</a:t>
            </a:r>
            <a:br/>
            <a:r>
              <a:t>setup in a shared office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737360"/>
            <a:ext cx="338328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PERSONAL</a:t>
            </a:r>
            <a:br/>
            <a:r>
              <a:t>~/.claude.json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  <a:latin typeface="Calibri"/>
              </a:defRPr>
            </a:pPr>
            <a:r>
              <a:t>In your home directory</a:t>
            </a:r>
            <a:br/>
            <a:r>
              <a:t>(never in git)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108960"/>
            <a:ext cx="3383280" cy="1645920"/>
          </a:xfrm>
          <a:prstGeom prst="roundRect">
            <a:avLst/>
          </a:prstGeom>
          <a:solidFill>
            <a:srgbClr val="ECF0F1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2004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Available across ALL projects</a:t>
            </a:r>
            <a:br/>
            <a:r>
              <a:t>on this machine</a:t>
            </a:r>
            <a:br/>
            <a:br/>
            <a:r>
              <a:t>Best for: personal tools</a:t>
            </a:r>
            <a:br/>
            <a:r>
              <a:t>(e.g., your notes server)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937760"/>
            <a:ext cx="3383280" cy="82296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7E22"/>
                </a:solidFill>
                <a:latin typeface="Calibri"/>
              </a:defRPr>
            </a:pPr>
            <a:r>
              <a:t>Like your personal phone --</a:t>
            </a:r>
            <a:br/>
            <a:r>
              <a:t>available everywhere you go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943600"/>
            <a:ext cx="11064240" cy="73152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SECURITY: Never hardcode API keys! Store credentials in environment variables. Use 'env' block in .mcp.json config.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Configuring MCP Servers in .mcp.json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640080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59436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 b="0">
                <a:solidFill>
                  <a:srgbClr val="7F8C8D"/>
                </a:solidFill>
                <a:latin typeface="Courier New"/>
              </a:defRPr>
            </a:pPr>
            <a:r>
              <a:rPr sz="1000" dirty="0"/>
              <a:t>// .</a:t>
            </a:r>
            <a:r>
              <a:rPr sz="1000" dirty="0" err="1"/>
              <a:t>mcp.json</a:t>
            </a:r>
            <a:r>
              <a:rPr sz="1000" dirty="0"/>
              <a:t> (project root)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{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"</a:t>
            </a:r>
            <a:r>
              <a:rPr sz="1000" dirty="0" err="1"/>
              <a:t>mcpServers</a:t>
            </a:r>
            <a:r>
              <a:rPr sz="1000" dirty="0"/>
              <a:t>": {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  "database": {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"command": "</a:t>
            </a:r>
            <a:r>
              <a:rPr sz="1000" dirty="0" err="1"/>
              <a:t>npx</a:t>
            </a:r>
            <a:r>
              <a:rPr sz="1000" dirty="0"/>
              <a:t>",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"</a:t>
            </a:r>
            <a:r>
              <a:rPr sz="1000" dirty="0" err="1"/>
              <a:t>args</a:t>
            </a:r>
            <a:r>
              <a:rPr sz="1000" dirty="0"/>
              <a:t>": [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  "@</a:t>
            </a:r>
            <a:r>
              <a:rPr sz="1000" dirty="0" err="1"/>
              <a:t>modelcontextprotocol</a:t>
            </a:r>
            <a:r>
              <a:rPr sz="1000" dirty="0"/>
              <a:t>/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   server-</a:t>
            </a:r>
            <a:r>
              <a:rPr sz="1000" dirty="0" err="1"/>
              <a:t>postgres</a:t>
            </a:r>
            <a:r>
              <a:rPr sz="1000" dirty="0"/>
              <a:t>"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],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     "env": {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       "DB_URL": "</a:t>
            </a:r>
            <a:r>
              <a:rPr sz="1000" dirty="0" err="1"/>
              <a:t>env:DATABASE_URL</a:t>
            </a:r>
            <a:r>
              <a:rPr sz="1000" dirty="0"/>
              <a:t>"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     }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},</a:t>
            </a:r>
          </a:p>
          <a:p>
            <a:pPr>
              <a:spcAft>
                <a:spcPts val="520"/>
              </a:spcAft>
              <a:defRPr sz="1300" b="0">
                <a:solidFill>
                  <a:srgbClr val="F0C674"/>
                </a:solidFill>
                <a:latin typeface="Courier New"/>
              </a:defRPr>
            </a:pPr>
            <a:r>
              <a:rPr sz="1000" dirty="0"/>
              <a:t>    "</a:t>
            </a:r>
            <a:r>
              <a:rPr sz="1000" dirty="0" err="1"/>
              <a:t>github</a:t>
            </a:r>
            <a:r>
              <a:rPr sz="1000" dirty="0"/>
              <a:t>": {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"command": "</a:t>
            </a:r>
            <a:r>
              <a:rPr sz="1000" dirty="0" err="1"/>
              <a:t>npx</a:t>
            </a:r>
            <a:r>
              <a:rPr sz="1000" dirty="0"/>
              <a:t>",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"</a:t>
            </a:r>
            <a:r>
              <a:rPr sz="1000" dirty="0" err="1"/>
              <a:t>args</a:t>
            </a:r>
            <a:r>
              <a:rPr sz="1000" dirty="0"/>
              <a:t>": [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  "@</a:t>
            </a:r>
            <a:r>
              <a:rPr sz="1000" dirty="0" err="1"/>
              <a:t>modelcontextprotocol</a:t>
            </a:r>
            <a:r>
              <a:rPr sz="1000" dirty="0"/>
              <a:t>/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   server-</a:t>
            </a:r>
            <a:r>
              <a:rPr sz="1000" dirty="0" err="1"/>
              <a:t>github</a:t>
            </a:r>
            <a:r>
              <a:rPr sz="1000" dirty="0"/>
              <a:t>"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  ],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     "env": {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       "GITHUB_TOKEN": "</a:t>
            </a:r>
            <a:r>
              <a:rPr sz="1000" dirty="0" err="1"/>
              <a:t>env:GH_TOKEN</a:t>
            </a:r>
            <a:r>
              <a:rPr sz="1000" dirty="0"/>
              <a:t>"</a:t>
            </a:r>
          </a:p>
          <a:p>
            <a:pPr>
              <a:spcAft>
                <a:spcPts val="520"/>
              </a:spcAft>
              <a:defRPr sz="1300" b="0">
                <a:solidFill>
                  <a:srgbClr val="2ECC71"/>
                </a:solidFill>
                <a:latin typeface="Courier New"/>
              </a:defRPr>
            </a:pPr>
            <a:r>
              <a:rPr sz="1000" dirty="0"/>
              <a:t>      }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  }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  }</a:t>
            </a:r>
          </a:p>
          <a:p>
            <a:pPr>
              <a:spcAft>
                <a:spcPts val="520"/>
              </a:spcAft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rPr sz="10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Config Breakdown: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737360"/>
            <a:ext cx="1828800" cy="3657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Server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945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"database", "github" -- your label</a:t>
            </a:r>
            <a:br/>
            <a:r>
              <a:t>for each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877096"/>
            <a:ext cx="182880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334296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The executable to run</a:t>
            </a:r>
            <a:br>
              <a:rPr dirty="0"/>
            </a:br>
            <a:r>
              <a:rPr dirty="0"/>
              <a:t>(</a:t>
            </a:r>
            <a:r>
              <a:rPr dirty="0" err="1"/>
              <a:t>npx</a:t>
            </a:r>
            <a:r>
              <a:rPr dirty="0"/>
              <a:t>, python, node, etc.)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057652"/>
            <a:ext cx="182880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args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514852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t>Arguments passed to the command</a:t>
            </a:r>
            <a:br/>
            <a:r>
              <a:t>(typically the package name)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5189222"/>
            <a:ext cx="18288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646422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  <a:r>
              <a:rPr dirty="0"/>
              <a:t>Environment variables for credentials</a:t>
            </a:r>
            <a:br>
              <a:rPr dirty="0"/>
            </a:br>
            <a:r>
              <a:rPr dirty="0"/>
              <a:t>'</a:t>
            </a:r>
            <a:r>
              <a:rPr dirty="0" err="1"/>
              <a:t>env:VAR_NAME</a:t>
            </a:r>
            <a:r>
              <a:rPr dirty="0"/>
              <a:t>' reads from your</a:t>
            </a:r>
            <a:br>
              <a:rPr dirty="0"/>
            </a:br>
            <a:r>
              <a:rPr dirty="0"/>
              <a:t>shell environment -- NEVER hardcode!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309360"/>
            <a:ext cx="11064240" cy="4572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You can connect MULTIPLE servers simultaneously! Claude sees tools from all of them.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Real-Life Analogy: Smart Home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5486400"/>
          </a:xfrm>
          <a:prstGeom prst="roundRect">
            <a:avLst/>
          </a:prstGeom>
          <a:solidFill>
            <a:srgbClr val="EAF2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20981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498DB"/>
                </a:solidFill>
                <a:latin typeface="Calibri"/>
              </a:defRPr>
            </a:pPr>
            <a:r>
              <a:rPr dirty="0"/>
              <a:t>MCP = Your Smart Home System</a:t>
            </a:r>
          </a:p>
        </p:txBody>
      </p:sp>
      <p:sp>
        <p:nvSpPr>
          <p:cNvPr id="7" name="Oval 6"/>
          <p:cNvSpPr/>
          <p:nvPr/>
        </p:nvSpPr>
        <p:spPr>
          <a:xfrm>
            <a:off x="4754880" y="2286000"/>
            <a:ext cx="1828800" cy="1828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300" b="1">
                <a:solidFill>
                  <a:srgbClr val="FFFFFF"/>
                </a:solidFill>
              </a:defRPr>
            </a:pPr>
            <a:r>
              <a:t>CLAUDE</a:t>
            </a:r>
            <a:br/>
            <a:r>
              <a:t>CODE</a:t>
            </a:r>
            <a:br/>
            <a:r>
              <a:t>(Smart Hub)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011680"/>
            <a:ext cx="1280160" cy="128016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</a:defRPr>
            </a:pPr>
            <a:r>
              <a:t>Database</a:t>
            </a:r>
            <a:br/>
            <a:r>
              <a:t>Server</a:t>
            </a:r>
          </a:p>
        </p:txBody>
      </p:sp>
      <p:cxnSp>
        <p:nvCxnSpPr>
          <p:cNvPr id="9" name="Connector 8"/>
          <p:cNvCxnSpPr>
            <a:cxnSpLocks/>
            <a:stCxn id="8" idx="6"/>
          </p:cNvCxnSpPr>
          <p:nvPr/>
        </p:nvCxnSpPr>
        <p:spPr>
          <a:xfrm>
            <a:off x="2194560" y="2651760"/>
            <a:ext cx="2560320" cy="359262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3832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ECC71"/>
                </a:solidFill>
                <a:latin typeface="Calibri"/>
              </a:defRPr>
            </a:pPr>
            <a:r>
              <a:t>Like your</a:t>
            </a:r>
            <a:br/>
            <a:r>
              <a:t>Smart Fridge</a:t>
            </a:r>
            <a:br/>
            <a:r>
              <a:t>(stores data)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572000"/>
            <a:ext cx="1280160" cy="12801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</a:defRPr>
            </a:pPr>
            <a:r>
              <a:t>GitHub</a:t>
            </a:r>
            <a:br/>
            <a:r>
              <a:t>Server</a:t>
            </a:r>
          </a:p>
        </p:txBody>
      </p:sp>
      <p:cxnSp>
        <p:nvCxnSpPr>
          <p:cNvPr id="12" name="Connector 11"/>
          <p:cNvCxnSpPr>
            <a:cxnSpLocks/>
            <a:endCxn id="7" idx="3"/>
          </p:cNvCxnSpPr>
          <p:nvPr/>
        </p:nvCxnSpPr>
        <p:spPr>
          <a:xfrm flipV="1">
            <a:off x="2194560" y="3846978"/>
            <a:ext cx="2828142" cy="1100579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5943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67E22"/>
                </a:solidFill>
                <a:latin typeface="Calibri"/>
              </a:defRPr>
            </a:pPr>
            <a:r>
              <a:t>Like your</a:t>
            </a:r>
            <a:br/>
            <a:r>
              <a:t>Smart Lock</a:t>
            </a:r>
            <a:br/>
            <a:r>
              <a:t>(access control)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2011680"/>
            <a:ext cx="1280160" cy="128016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</a:defRPr>
            </a:pPr>
            <a:r>
              <a:t>Search</a:t>
            </a:r>
            <a:br/>
            <a:r>
              <a:t>Server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 flipH="1">
            <a:off x="6583680" y="2651760"/>
            <a:ext cx="2103120" cy="359262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03920" y="33832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B59B6"/>
                </a:solidFill>
                <a:latin typeface="Calibri"/>
              </a:defRPr>
            </a:pPr>
            <a:r>
              <a:t>Like your</a:t>
            </a:r>
            <a:br/>
            <a:r>
              <a:t>Smart Speaker</a:t>
            </a:r>
            <a:br/>
            <a:r>
              <a:t>(finds info)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4572000"/>
            <a:ext cx="1280160" cy="128016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</a:defRPr>
            </a:pPr>
            <a:r>
              <a:t>File System</a:t>
            </a:r>
            <a:br/>
            <a:r>
              <a:t>Server</a:t>
            </a:r>
          </a:p>
        </p:txBody>
      </p:sp>
      <p:cxnSp>
        <p:nvCxnSpPr>
          <p:cNvPr id="18" name="Connector 17"/>
          <p:cNvCxnSpPr>
            <a:cxnSpLocks/>
            <a:stCxn id="17" idx="1"/>
          </p:cNvCxnSpPr>
          <p:nvPr/>
        </p:nvCxnSpPr>
        <p:spPr>
          <a:xfrm flipH="1" flipV="1">
            <a:off x="6515100" y="3566161"/>
            <a:ext cx="2359175" cy="1193314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3920" y="5943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BC9C"/>
                </a:solidFill>
                <a:latin typeface="Calibri"/>
              </a:defRPr>
            </a:pPr>
            <a:r>
              <a:t>Like your</a:t>
            </a:r>
            <a:br/>
            <a:r>
              <a:t>Smart Light</a:t>
            </a:r>
            <a:br/>
            <a:r>
              <a:t>(changes state)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3035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  <a:latin typeface="Calibri"/>
              </a:defRPr>
            </a:pPr>
            <a:r>
              <a:t>Just as a smart home hub connects to many devices</a:t>
            </a:r>
            <a:br/>
            <a:r>
              <a:t>via different protocols (WiFi, Zigbee, Bluetooth),</a:t>
            </a:r>
            <a:br/>
            <a:r>
              <a:t>Claude Code connects to many servers via MCP!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94960" y="13716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3600" b="1">
                <a:solidFill>
                  <a:srgbClr val="9B59B6"/>
                </a:solidFill>
              </a:defRPr>
            </a:pPr>
            <a:r>
              <a:t>S5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S5: Built-in Tools Usage</a:t>
            </a:r>
            <a:br/>
            <a:r>
              <a:t>in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DDDDD"/>
                </a:solidFill>
                <a:latin typeface="Calibri"/>
              </a:defRPr>
            </a:pPr>
            <a:r>
              <a:t>Grep, Glob, Read, Write, Edit -- and when to use each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Claude Code's Five Core Built-in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3716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97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Search code for patterns/keywords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t>grep 'function login' src/</a:t>
            </a:r>
            <a:br/>
            <a:r>
              <a:t>grep 'TODO' --include='*.py'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80314" y="1097280"/>
            <a:ext cx="301752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63194" y="1143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98DB"/>
                </a:solidFill>
                <a:latin typeface="Calibri"/>
              </a:defRPr>
            </a:pPr>
            <a:r>
              <a:t>Like Ctrl+F across</a:t>
            </a:r>
            <a:br/>
            <a:r>
              <a:t>your entire codebase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3716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Glob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Find files matching a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t>glob 'src/**/*.test.ts'</a:t>
            </a:r>
            <a:br/>
            <a:r>
              <a:t>glob 'config/*.json'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80314" y="2194560"/>
            <a:ext cx="301752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63194" y="2240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Like a file search</a:t>
            </a:r>
            <a:br/>
            <a:r>
              <a:t>by name/extension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39"/>
            <a:ext cx="13716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2918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Read file contents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6118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t>Read('src/auth/login.py')</a:t>
            </a:r>
            <a:br/>
            <a:r>
              <a:t>Read('package.json')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80314" y="3291839"/>
            <a:ext cx="301752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63194" y="333755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  <a:latin typeface="Calibri"/>
              </a:defRPr>
            </a:pPr>
            <a:r>
              <a:t>Like opening a file</a:t>
            </a:r>
            <a:br/>
            <a:r>
              <a:t>in your editor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13716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Create or overwrite a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t>Write('new_file.py', content)</a:t>
            </a:r>
            <a:br/>
            <a:r>
              <a:t>Overwrites if exists!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80314" y="4389120"/>
            <a:ext cx="301752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63194" y="44348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B59B6"/>
                </a:solidFill>
                <a:latin typeface="Calibri"/>
              </a:defRPr>
            </a:pPr>
            <a:r>
              <a:t>Like 'Save As' --</a:t>
            </a:r>
            <a:br/>
            <a:r>
              <a:t>replaces entire 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3716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Calibri"/>
              </a:defRPr>
            </a:pPr>
            <a:r>
              <a:t>Make targeted changes to a 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806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ourier New"/>
              </a:defRPr>
            </a:pPr>
            <a:r>
              <a:t>Edit('login.py',</a:t>
            </a:r>
            <a:br/>
            <a:r>
              <a:t>  old='pass', new='hash(pass)')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80314" y="5486400"/>
            <a:ext cx="301752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63194" y="5532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Like Find &amp; Replace</a:t>
            </a:r>
            <a:br/>
            <a:r>
              <a:t>in your editor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400800"/>
            <a:ext cx="11064240" cy="365760"/>
          </a:xfrm>
          <a:prstGeom prst="roundRect">
            <a:avLst/>
          </a:prstGeom>
          <a:solidFill>
            <a:srgbClr val="FA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Remember: Edit = surgical change (preferred). Write = replace entire file (destructive).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The Read -&gt; Modify -&gt; Write Fallback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When should you use Write instead of Edit?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13716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Preferred: Use Edit for targeted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201168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Edit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2488472"/>
            <a:ext cx="64008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57600" y="2286000"/>
            <a:ext cx="20116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Find exact old</a:t>
            </a:r>
            <a:br/>
            <a:r>
              <a:t>string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69280" y="2488472"/>
            <a:ext cx="64008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2286000"/>
            <a:ext cx="2011680" cy="6400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Replace with</a:t>
            </a:r>
            <a:br/>
            <a:r>
              <a:t>new string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12480" y="2488472"/>
            <a:ext cx="64008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0" y="2286000"/>
            <a:ext cx="201168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Done!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11064240" cy="18288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Fallback: Read -&gt; Modify -&gt; Write (when Edit fails or is ambiguous)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023360"/>
            <a:ext cx="228600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Get entire</a:t>
            </a:r>
            <a:br/>
            <a:r>
              <a:t>file content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657600" y="4201340"/>
            <a:ext cx="8229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72000" y="4023360"/>
            <a:ext cx="228600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Change content</a:t>
            </a:r>
            <a:br/>
            <a:r>
              <a:t>in memory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58000" y="4217668"/>
            <a:ext cx="8229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0" y="4023360"/>
            <a:ext cx="22860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Save entire</a:t>
            </a:r>
            <a:br/>
            <a:r>
              <a:t>modified 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When to use each: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Use Edit when: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You know the exact text to find and replace. Most common case (~90%).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26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Use Read+Write when: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Edit's old_string isn't unique, or you need to restructure the entire file.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92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Never use Write alone: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492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Without reading first, you might overwrite important content!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Incremental Exploration -- Don't Load Everything!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/>
              </a:defRPr>
            </a:pPr>
            <a:r>
              <a:t>Smart agents explore step-by-step instead of reading the entire codebase at 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2286000"/>
          </a:xfrm>
          <a:prstGeom prst="roundRect">
            <a:avLst/>
          </a:prstGeom>
          <a:solidFill>
            <a:srgbClr val="FAEBE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BAD: Load Everything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84632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Read ALL 200 files in </a:t>
            </a:r>
            <a:r>
              <a:rPr dirty="0" err="1"/>
              <a:t>src</a:t>
            </a:r>
            <a:r>
              <a:rPr dirty="0"/>
              <a:t>/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Process all 50,000 lines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r>
              <a:rPr dirty="0"/>
              <a:t>Hope you find what you need...</a:t>
            </a:r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dirty="0"/>
              <a:t>Result: Slow, expensive, context overflow!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Like reading an entire encyclopedia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to find one fact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303520" cy="2286000"/>
          </a:xfrm>
          <a:prstGeom prst="roundRect">
            <a:avLst/>
          </a:prstGeom>
          <a:solidFill>
            <a:srgbClr val="E8F8F5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GOOD: Explore Incrementally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84632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0">
                <a:solidFill>
                  <a:srgbClr val="3498DB"/>
                </a:solidFill>
                <a:latin typeface="Calibri"/>
              </a:defRPr>
            </a:pPr>
            <a:r>
              <a:rPr dirty="0"/>
              <a:t>1. Grep for the function name</a:t>
            </a:r>
          </a:p>
          <a:p>
            <a:pPr>
              <a:spcAft>
                <a:spcPts val="560"/>
              </a:spcAft>
              <a:defRPr sz="1400" b="0">
                <a:solidFill>
                  <a:srgbClr val="2ECC71"/>
                </a:solidFill>
                <a:latin typeface="Calibri"/>
              </a:defRPr>
            </a:pPr>
            <a:r>
              <a:rPr dirty="0"/>
              <a:t>2. Found in 3 files -&gt; Read those 3</a:t>
            </a:r>
          </a:p>
          <a:p>
            <a:pPr>
              <a:spcAft>
                <a:spcPts val="560"/>
              </a:spcAft>
              <a:defRPr sz="1400" b="0">
                <a:solidFill>
                  <a:srgbClr val="E67E22"/>
                </a:solidFill>
                <a:latin typeface="Calibri"/>
              </a:defRPr>
            </a:pPr>
            <a:r>
              <a:rPr dirty="0"/>
              <a:t>3. Understand the pattern -&gt; Edit</a:t>
            </a:r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dirty="0"/>
              <a:t>Result: Fast, cheap, precise!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Like using a book's index to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dirty="0"/>
              <a:t>jump to the right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Calibri"/>
              </a:defRPr>
            </a:pPr>
            <a:r>
              <a:t>The Incremental Exploration Workflow: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920240" cy="6400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Glob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Find files</a:t>
            </a:r>
            <a:br/>
            <a:r>
              <a:t>by pattern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377440" y="4983480"/>
            <a:ext cx="36576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88920" y="4846320"/>
            <a:ext cx="192024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Grep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Search for</a:t>
            </a:r>
            <a:br/>
            <a:r>
              <a:t>keyword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09160" y="4983480"/>
            <a:ext cx="36576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20640" y="4846320"/>
            <a:ext cx="1920240" cy="6400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Read only</a:t>
            </a:r>
            <a:br/>
            <a:r>
              <a:t>relevant files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40880" y="4983480"/>
            <a:ext cx="36576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52359" y="4846320"/>
            <a:ext cx="192024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Make targeted</a:t>
            </a:r>
            <a:br/>
            <a:r>
              <a:t>changes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72599" y="4983480"/>
            <a:ext cx="365760" cy="22860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784080" y="4846320"/>
            <a:ext cx="192024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Check the</a:t>
            </a:r>
            <a:br/>
            <a:r>
              <a:t>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126480"/>
            <a:ext cx="11064240" cy="6400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61447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Example: 'Fix the login bug' -&gt; Glob('**/login*') -&gt; Grep('authenticate') -&gt; Read(login.py) -&gt; Edit(fix the bug)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Real-Life Analogy: A Detective Investigating 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8397" y="844187"/>
            <a:ext cx="10383339" cy="5486400"/>
          </a:xfrm>
          <a:prstGeom prst="roundRect">
            <a:avLst/>
          </a:prstGeom>
          <a:solidFill>
            <a:srgbClr val="FDF2E9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Claude's Built-in Tools = A Detective's Toolkit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 b="1">
                <a:solidFill>
                  <a:srgbClr val="2C3E50"/>
                </a:solidFill>
                <a:latin typeface="Calibri"/>
              </a:defRPr>
            </a:pPr>
            <a:r>
              <a:rPr sz="1100" dirty="0"/>
              <a:t>A detective doesn't read every case file in the precinct. They investigate strategically: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sz="1100" dirty="0"/>
          </a:p>
          <a:p>
            <a:pPr>
              <a:spcAft>
                <a:spcPts val="560"/>
              </a:spcAft>
              <a:defRPr sz="1400" b="1">
                <a:solidFill>
                  <a:srgbClr val="3498DB"/>
                </a:solidFill>
                <a:latin typeface="Calibri"/>
              </a:defRPr>
            </a:pPr>
            <a:r>
              <a:rPr sz="1100" dirty="0"/>
              <a:t>Glob = Check the file cabinet index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sz="1100" dirty="0"/>
              <a:t>  'Show me all case files from 2024 involving fraud' -&gt; Finds 5 files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sz="1100" dirty="0"/>
          </a:p>
          <a:p>
            <a:pPr>
              <a:spcAft>
                <a:spcPts val="560"/>
              </a:spcAft>
              <a:defRPr sz="1400" b="1">
                <a:solidFill>
                  <a:srgbClr val="2ECC71"/>
                </a:solidFill>
                <a:latin typeface="Calibri"/>
              </a:defRPr>
            </a:pPr>
            <a:r>
              <a:rPr sz="1100" dirty="0"/>
              <a:t>Grep = Search for a specific keyword across files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sz="1100" dirty="0"/>
              <a:t>  'Which of these 5 files mentions the suspect John Smith?' -&gt; Found in 2 files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sz="1100" dirty="0"/>
          </a:p>
          <a:p>
            <a:pPr>
              <a:spcAft>
                <a:spcPts val="56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rPr sz="1100" dirty="0"/>
              <a:t>Read = Open and read the relevant file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sz="1100" dirty="0"/>
              <a:t>  'Open Case #2024-789 and read the witness statements' -&gt; Gets full content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sz="1100" dirty="0"/>
          </a:p>
          <a:p>
            <a:pPr>
              <a:spcAft>
                <a:spcPts val="560"/>
              </a:spcAft>
              <a:defRPr sz="1400" b="1">
                <a:solidFill>
                  <a:srgbClr val="9B59B6"/>
                </a:solidFill>
                <a:latin typeface="Calibri"/>
              </a:defRPr>
            </a:pPr>
            <a:r>
              <a:rPr sz="1100" dirty="0"/>
              <a:t>Edit = Add a note to the case file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sz="1100" dirty="0"/>
              <a:t>  'Update suspect status from UNKNOWN to IDENTIFIED' -&gt; Surgical change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sz="1100" dirty="0"/>
          </a:p>
          <a:p>
            <a:pPr>
              <a:spcAft>
                <a:spcPts val="560"/>
              </a:spcAft>
              <a:defRPr sz="1400" b="1">
                <a:solidFill>
                  <a:srgbClr val="E74C3C"/>
                </a:solidFill>
                <a:latin typeface="Calibri"/>
              </a:defRPr>
            </a:pPr>
            <a:r>
              <a:rPr sz="1100" dirty="0"/>
              <a:t>Write = Create a new report from scratch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sz="1100" dirty="0"/>
              <a:t>  'Write the final investigation report' -&gt; Brand new document</a:t>
            </a:r>
          </a:p>
          <a:p>
            <a:pPr>
              <a:spcAft>
                <a:spcPts val="560"/>
              </a:spcAft>
              <a:defRPr sz="1400" b="0">
                <a:solidFill>
                  <a:srgbClr val="2C3E50"/>
                </a:solidFill>
                <a:latin typeface="Calibri"/>
              </a:defRPr>
            </a:pPr>
            <a:endParaRPr sz="1100" dirty="0"/>
          </a:p>
          <a:p>
            <a:pPr>
              <a:spcAft>
                <a:spcPts val="560"/>
              </a:spcAft>
              <a:defRPr sz="1400" b="1">
                <a:solidFill>
                  <a:srgbClr val="1ABC9C"/>
                </a:solidFill>
                <a:latin typeface="Calibri"/>
              </a:defRPr>
            </a:pPr>
            <a:r>
              <a:rPr sz="1100" dirty="0"/>
              <a:t>Read -&gt; Modify -&gt; Write = Rewrite the entire report when small edits won't work</a:t>
            </a:r>
          </a:p>
          <a:p>
            <a:pPr>
              <a:spcAft>
                <a:spcPts val="560"/>
              </a:spcAft>
              <a:defRPr sz="1400" b="0">
                <a:solidFill>
                  <a:srgbClr val="7F8C8D"/>
                </a:solidFill>
                <a:latin typeface="Calibri"/>
              </a:defRPr>
            </a:pPr>
            <a:r>
              <a:rPr sz="1100" dirty="0"/>
              <a:t>  'Restructure the whole report into a new format' -&gt; Read old, rewrite completely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Calibri"/>
              </a:defRPr>
            </a:pPr>
            <a:r>
              <a:t>Exam Prep: Key Questions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/>
              </a:defRPr>
            </a:pPr>
            <a:r>
              <a:t>Make sure you can answer these from the instructor-led session prep: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4008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Why do vague/overlapping tool descriptions cause wrong tool selection? What makes a description reliable</a:t>
            </a:r>
            <a:br/>
            <a:r>
              <a:t>(including 'when NOT to use')?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64008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What does isError do in an MCP tool result? How do you categorize errors (transient vs validation vs</a:t>
            </a:r>
            <a:br/>
            <a:r>
              <a:t>business vs permission)?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64008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What are the tool_choice options and when do you use each -- auto, any, tool, none?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64008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Where do MCP server configs live (.mcp.json project/shared vs ~/.claude.json personal)? How are</a:t>
            </a:r>
            <a:br/>
            <a:r>
              <a:t>credentials stored?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77840"/>
            <a:ext cx="640080" cy="457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577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Calibri"/>
              </a:defRPr>
            </a:pPr>
            <a:r>
              <a:t>What are Claude Code's core built-in tools, and when do you use the Read -&gt; modify -&gt; Write fallback?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Module 2 -- Exam Cheat Sheet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4008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Tool Interface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Tool = name + description + inputSchema. Always add 'when NOT to use'. verb_noun naming.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640080" cy="5029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Error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isError: true = Claude knows it failed. 4 types: Transient (retry), Validation (fix input), Business (inform), Permission (escalate).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64008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83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tool_choice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49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auto (default), any (must use tool), tool (force specific), none (text only). Scope tools per agent -- least privilege!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80559"/>
            <a:ext cx="64008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4805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MCP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4631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.mcp.json (project), ~/.claude.json (personal). env: for credentials. STDIO = local, HTTP = remote. Multiple servers 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577840"/>
            <a:ext cx="64008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Built-in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Grep (search), Glob (find files), Read (open), Edit (targeted change), Write (full replace). Fallback: Read -&gt; modify -&gt; Write.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217920"/>
            <a:ext cx="11247120" cy="4572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Remember: Tools = model-controlled | Resources = app-controlled | Prompts = user-controlled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Calibri"/>
              </a:defRPr>
            </a:pPr>
            <a:r>
              <a:t>Good luck with your CCA-F certification!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4258</Words>
  <Application>Microsoft Macintosh PowerPoint</Application>
  <PresentationFormat>Widescreen</PresentationFormat>
  <Paragraphs>582</Paragraphs>
  <Slides>30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Sakate</cp:lastModifiedBy>
  <cp:revision>18</cp:revision>
  <dcterms:created xsi:type="dcterms:W3CDTF">2013-01-27T09:14:16Z</dcterms:created>
  <dcterms:modified xsi:type="dcterms:W3CDTF">2026-07-03T20:35:47Z</dcterms:modified>
  <cp:category/>
</cp:coreProperties>
</file>